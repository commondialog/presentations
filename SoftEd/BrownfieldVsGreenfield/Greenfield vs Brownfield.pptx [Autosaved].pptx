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6" r:id="rId5"/>
    <p:sldId id="267" r:id="rId6"/>
    <p:sldId id="263" r:id="rId7"/>
    <p:sldId id="268" r:id="rId8"/>
    <p:sldId id="269" r:id="rId9"/>
    <p:sldId id="270" r:id="rId10"/>
    <p:sldId id="264" r:id="rId11"/>
    <p:sldId id="271" r:id="rId12"/>
    <p:sldId id="283" r:id="rId13"/>
    <p:sldId id="281" r:id="rId14"/>
    <p:sldId id="272" r:id="rId15"/>
    <p:sldId id="284" r:id="rId16"/>
    <p:sldId id="273" r:id="rId17"/>
    <p:sldId id="285" r:id="rId18"/>
    <p:sldId id="274" r:id="rId19"/>
    <p:sldId id="282" r:id="rId20"/>
    <p:sldId id="275" r:id="rId21"/>
    <p:sldId id="276" r:id="rId22"/>
    <p:sldId id="277" r:id="rId23"/>
    <p:sldId id="265" r:id="rId24"/>
    <p:sldId id="259" r:id="rId25"/>
    <p:sldId id="279" r:id="rId26"/>
    <p:sldId id="260" r:id="rId27"/>
    <p:sldId id="26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8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84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F1C56-A075-E2C2-2B50-3016AAD2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18030-659B-66CD-FC4D-789E7C747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EFCF7-0428-EE44-3BB2-2047FC643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0750-C05A-0478-251C-2B707FD44F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54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C7AE-2EDF-1C8B-B4E4-384E1971A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D618F-CA24-0543-537C-E0BDCC200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79B2D-BD03-E839-F5ED-CF8DF642B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23B86-9E8E-B091-8B65-4B6CDE2CE4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98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E526-B9D9-85D2-16E1-9D69065EB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9DE45-7412-2639-6A3C-BFA6C92AC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85A0A-E0B6-1D73-50D9-D21A58AFA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55AE4-FEC9-DEEB-78F8-714E19DA3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69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59B8-A22A-C074-04AF-0EC54918E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EF411-4BA5-521A-F12E-2C194241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B7DEB-E62B-26E9-D620-D7D670D21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0B210-0C97-84B1-B839-D77DC1A7D5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38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2D8A6-C8D1-97CC-FDE9-ECA467972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FBB16-C930-0FC4-17DD-E7A9C3B41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1A78D-4BFF-5635-7924-0D6923486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B70E1-C0B2-7536-8707-D71B1506C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30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4B182-BA49-A779-4C1F-5BB22B5E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9CEE8-4D84-02F0-C82B-8087F8CD7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E2587-4B5C-2B42-AB1F-60C3121C8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86059-CFEC-DE74-EAF7-4AB4414CF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48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1A5B-D5F4-10C5-506B-2141B2F7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FA55B-BF50-963A-9D51-4ED655A0D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5DE48-F879-CE70-2004-58EB2EB9E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503D1-F74B-DE56-D38B-E87AC91E6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29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39852-8143-6B48-1BE7-C7188814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0ED77-F494-DE79-D89B-52AF71691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ACF98-86DB-B6CE-A1BB-F282562CC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E5CAF-4823-C260-D5E8-24481F752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2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D3DAB-DB9A-2C38-5AB2-B8623705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DD6AC-1255-C1D1-0EE9-AA5120AF7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A76C5-A99A-1A57-9C1E-D88301156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3DD04-28CF-609E-F10F-A352FBD15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7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960C3-B17D-5EFE-5206-BFC3FD11A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4B141-8D71-5C4D-4B07-B1E720AE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02A1B-B729-A0F6-46DC-C45A57D2C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161CC-2C9F-5C53-C61B-94CD75BF5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23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12F4-F889-84C0-65E6-ECEEC40ED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6DDBD-E76D-DDCC-DFA5-5FB6F6E27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2188E-988C-0A12-B6D8-1B198AE36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9F2CA-7B99-3AD4-1043-BEB0F7167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85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528A7-13A3-C77F-0A94-7604A69E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E9F68-F460-0A42-2EBB-84FCF5FE2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AA95E-5301-4295-E1CB-21D82C6E8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AFE17-6B3A-0712-3D21-4330DBD11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50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9F4C-3FB6-1E97-AEAC-6DEF6FE4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6502F-ACF1-591E-BFF1-0E256F554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A3790-C28C-1E33-41B1-38922F4C1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15EA2-0E22-C363-463D-1A9FFD56E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66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93743-A4AA-9472-45EE-0A511D08C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9E5A3-040C-4AC4-5F17-ADD5B376E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6EB6F-AC1F-A76C-0921-698AEF0A9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CEDDC-B07C-52D1-3267-8D6187E48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2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9A02-7709-F2AD-69B0-7425DBFF4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C2FAA-3960-6C10-C94A-380259C41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BEFAE-1ACA-08FF-3D90-03FAD9E0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20D78-1D6E-457A-9452-0EB9A5780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90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88F6-667E-2D90-09CE-49BF538F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BF632-580A-3CAE-2179-9547761FC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57E0D-4FD9-D971-EF62-D469D1CB4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2E379-82A7-DC52-49C0-6EA213411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79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BCA3-4E08-D299-A023-B2D3B6ED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DA045-150E-E78C-70CF-FD2C51AFE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2FB1E-A133-47E7-6014-94EDE38AF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23795-8EFA-DDC9-2C12-74FF536260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17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8E1D4-9D58-B9E1-88A4-8E1433D5C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E9C54-4A84-5811-4D70-10513483F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6F4AA-3EE5-C810-FEB3-DE74E60DF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D526A-FE58-0950-96E9-54C54E74D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47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906D6-DBA4-8317-BE7B-1C2B6A3C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4605D-6D5A-724D-657B-A9437C801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964E8-20BF-4FBA-C6DB-BB254BF01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8F8DE-3623-28FF-9A64-45792DBB80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503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D6DD-0702-2DA7-3F8B-76D21E4A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78810-39B7-7EE1-9C85-E35631E4F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96320-7C9D-1E13-3182-4B0E508C1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E24FC-5EDB-4F7B-1853-9A271AD25E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663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A096-AA08-57C0-290C-DABBCCBE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90C92-884F-5A50-BF40-F33C14B1F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FBE6E-50CD-C905-FC2E-8BE8C7C8B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82308-0D6D-6BD1-50D0-40BD0A75EC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774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DARK">
    <p:bg>
      <p:bgPr>
        <a:solidFill>
          <a:srgbClr val="1C0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Vibe-code with passion. Deploy with discipline.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5A51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LIGHT_ALT">
    <p:bg>
      <p:bgPr>
        <a:solidFill>
          <a:srgbClr val="F2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5A51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381D9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bg1"/>
                </a:solidFill>
              </a:rPr>
              <a:t>Brownfield vs. Greenfield AI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Tools, Different Playbooks 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09728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Perrin  •  September 16th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DA7541-9FE0-2956-9F5D-3CE462BF6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03" y="4385552"/>
            <a:ext cx="2329730" cy="5915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Brownfield?  Greenfield?  What are we talking about?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640080" cy="64008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Concerns for Each Style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640080" cy="64008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337560"/>
            <a:ext cx="73152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favorite part of the speech.  The part I talk about me!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5F7F2-712A-B2E8-7446-AB4FF7C2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D88B0CC-0E23-BC2D-93AC-B1091A435AA4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I?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1ABA84-C57E-2F2D-A6B4-CEE8169B4182}"/>
              </a:ext>
            </a:extLst>
          </p:cNvPr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getting too existential…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7C3E7F-55CA-C176-3C22-1B7903D23F82}"/>
              </a:ext>
            </a:extLst>
          </p:cNvPr>
          <p:cNvSpPr/>
          <p:nvPr/>
        </p:nvSpPr>
        <p:spPr>
          <a:xfrm>
            <a:off x="457199" y="2157633"/>
            <a:ext cx="752621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  <a:buSzPct val="100000"/>
            </a:pPr>
            <a:r>
              <a:rPr lang="en-US" sz="32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man of two worlds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6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</a:t>
            </a:r>
            <a:endParaRPr lang="en-US" sz="16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sr. director and wrangler of chaos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lead teams across the world and across our product portfolio including FedRAMP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day consists of a lot of AI (like a lot)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6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Night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yell at robots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strike="sngStrike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vibe-code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agentically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engineer (and wrangle chaos)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pontificate about the future</a:t>
            </a:r>
          </a:p>
          <a:p>
            <a:pPr>
              <a:spcAft>
                <a:spcPts val="1000"/>
              </a:spcAft>
              <a:buSzPct val="100000"/>
            </a:pPr>
            <a:endParaRPr lang="en-US" sz="1600" b="1" dirty="0"/>
          </a:p>
          <a:p>
            <a:pPr>
              <a:spcAft>
                <a:spcPts val="1000"/>
              </a:spcAft>
              <a:buSzPct val="100000"/>
            </a:pPr>
            <a:endParaRPr lang="en-US" sz="16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87DFFE7-1ECD-DC4E-B28D-BD1A59E609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98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213-03D0-313E-FD13-BF362E6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D77213-4C87-D602-B68A-9B555F09E151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!= Nights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DED3CF1-5F5C-5305-2139-C58FF6B1645E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3443D4-1BB0-C1AF-66E0-17AF504E370C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job: YEEEEEEEEE HAAAAAWWW!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3635D9-24B5-E746-58FA-F170AC580EDD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difference defined the central tension that created this presentation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C335370-C796-63F7-4BED-57D5F7F850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474F06B-BB6B-5395-4941-0A615CAED7EC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job: slower, methodical-er, 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regulationy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-er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There’s auditors and existing functionality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 to be fast is constrained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350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C065-4A24-6A39-8E32-14A41A66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05FF88-D23F-F593-52E7-EEA2ABFFE3BD}"/>
              </a:ext>
            </a:extLst>
          </p:cNvPr>
          <p:cNvSpPr/>
          <p:nvPr/>
        </p:nvSpPr>
        <p:spPr>
          <a:xfrm>
            <a:off x="54864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C59567-E6AB-56CC-5357-2D98EB0E7E41}"/>
              </a:ext>
            </a:extLst>
          </p:cNvPr>
          <p:cNvSpPr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vs. Greenfield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5F7448-557C-438A-1153-38D8D6A19572}"/>
              </a:ext>
            </a:extLst>
          </p:cNvPr>
          <p:cNvSpPr/>
          <p:nvPr/>
        </p:nvSpPr>
        <p:spPr>
          <a:xfrm>
            <a:off x="548640" y="3337560"/>
            <a:ext cx="73152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901210-573E-ED1D-697F-1D003AD5F561}"/>
              </a:ext>
            </a:extLst>
          </p:cNvPr>
          <p:cNvSpPr/>
          <p:nvPr/>
        </p:nvSpPr>
        <p:spPr>
          <a:xfrm>
            <a:off x="5486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have meaning.  What do we mean?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87352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4585-E9D5-31D1-5A81-C5498F0D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552987-160D-EC86-0DDB-B07127026BA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37B67C-9EDA-B346-66EC-F5F84DB856B9}"/>
              </a:ext>
            </a:extLst>
          </p:cNvPr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done where code and technology exists.  Oftentimes, this is corporate development. 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5274BF-D8C2-2798-DC88-229CC80D6F0D}"/>
              </a:ext>
            </a:extLst>
          </p:cNvPr>
          <p:cNvSpPr/>
          <p:nvPr/>
        </p:nvSpPr>
        <p:spPr>
          <a:xfrm>
            <a:off x="45720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enterprise software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software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deployed into fairly complex environments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of a lot of previous decisions (good and bad)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break existing functionality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Surrounded by process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ED69DC6-1008-BEED-18AA-002065ED706F}"/>
              </a:ext>
            </a:extLst>
          </p:cNvPr>
          <p:cNvSpPr/>
          <p:nvPr/>
        </p:nvSpPr>
        <p:spPr>
          <a:xfrm>
            <a:off x="5669280" y="1463040"/>
            <a:ext cx="301752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C4F84FA-01FD-D926-9A69-19E24373E957}"/>
              </a:ext>
            </a:extLst>
          </p:cNvPr>
          <p:cNvSpPr/>
          <p:nvPr/>
        </p:nvSpPr>
        <p:spPr>
          <a:xfrm>
            <a:off x="5669280" y="1463040"/>
            <a:ext cx="73152" cy="310896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2F4C66-F37A-3364-B577-7CF638A9B7F5}"/>
              </a:ext>
            </a:extLst>
          </p:cNvPr>
          <p:cNvSpPr/>
          <p:nvPr/>
        </p:nvSpPr>
        <p:spPr>
          <a:xfrm>
            <a:off x="58978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GREENFIELD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CDC834-3A9D-A309-0C8A-56BF57729617}"/>
              </a:ext>
            </a:extLst>
          </p:cNvPr>
          <p:cNvSpPr/>
          <p:nvPr/>
        </p:nvSpPr>
        <p:spPr>
          <a:xfrm>
            <a:off x="5897880" y="205740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little unfair to say greenfield never happens in corporate environments. </a:t>
            </a:r>
          </a:p>
          <a:p>
            <a:pPr marL="0" indent="0">
              <a:buNone/>
            </a:pPr>
            <a:endParaRPr lang="en-US" sz="14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greenfield shares characteristics of both types of dev, but for companies at size often looks like brownfield.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FA1FE49-E3F7-3CEA-BC32-2492BCAA09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1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B35BC-A10F-5136-65BD-50A19509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1134AC-972D-B074-7554-11092CBD0E23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171B81-8159-75EB-288D-E3A75A28D6EE}"/>
              </a:ext>
            </a:extLst>
          </p:cNvPr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experimental.  A new field to be planted with brand new thoughts and features.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317925-7F71-6AF6-41B5-179525B8A93C}"/>
              </a:ext>
            </a:extLst>
          </p:cNvPr>
          <p:cNvSpPr/>
          <p:nvPr/>
        </p:nvSpPr>
        <p:spPr>
          <a:xfrm>
            <a:off x="45720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vibe-coding (rightly or wrongly)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applications and products, not necessarily new features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without the same level of auditing 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Process/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schmocess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78CFD6-ACA2-A781-0BE2-2BC2F53A8046}"/>
              </a:ext>
            </a:extLst>
          </p:cNvPr>
          <p:cNvSpPr/>
          <p:nvPr/>
        </p:nvSpPr>
        <p:spPr>
          <a:xfrm>
            <a:off x="5669280" y="1463040"/>
            <a:ext cx="301752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F86366A-3799-B568-A339-2E7D4A8138AA}"/>
              </a:ext>
            </a:extLst>
          </p:cNvPr>
          <p:cNvSpPr/>
          <p:nvPr/>
        </p:nvSpPr>
        <p:spPr>
          <a:xfrm>
            <a:off x="5669280" y="1463040"/>
            <a:ext cx="73152" cy="310896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F000DB-9791-449F-63F8-84DAB0101493}"/>
              </a:ext>
            </a:extLst>
          </p:cNvPr>
          <p:cNvSpPr/>
          <p:nvPr/>
        </p:nvSpPr>
        <p:spPr>
          <a:xfrm>
            <a:off x="58978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GOALS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F139C97-E8AA-EA9B-6375-9BA5782124EF}"/>
              </a:ext>
            </a:extLst>
          </p:cNvPr>
          <p:cNvSpPr/>
          <p:nvPr/>
        </p:nvSpPr>
        <p:spPr>
          <a:xfrm>
            <a:off x="5897880" y="205740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Greenfield’s goal is to get it done.  Even in corporate environments.</a:t>
            </a:r>
          </a:p>
          <a:p>
            <a:pPr marL="0" indent="0">
              <a:buNone/>
            </a:pPr>
            <a:endParaRPr lang="en-US" sz="14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Brownfield’s goal is to get it done and support what already exists.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2695BAA-F87B-0CF6-285F-78CF406A65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89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213B2-DF59-3B9F-CD26-AFD30E36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B978A5-375A-A9F5-1C58-8E9363BDA315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better?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64A943-5CE0-2966-1111-29BACA519713}"/>
              </a:ext>
            </a:extLst>
          </p:cNvPr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Neither.  Both.  Neither?  BOTH!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DB2F45-D5FC-F426-82BF-E69559892313}"/>
              </a:ext>
            </a:extLst>
          </p:cNvPr>
          <p:cNvSpPr/>
          <p:nvPr/>
        </p:nvSpPr>
        <p:spPr>
          <a:xfrm>
            <a:off x="45720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your call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is usually more fun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is usually more disciplined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great and don’t let anyone tell you different</a:t>
            </a: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5918A13-B408-36ED-B264-B7A3594F6A6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65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1884-4457-78EA-A372-D1D7A651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9DFAD1-E71E-1B28-C6ED-AAB6CC90E9B7}"/>
              </a:ext>
            </a:extLst>
          </p:cNvPr>
          <p:cNvSpPr/>
          <p:nvPr/>
        </p:nvSpPr>
        <p:spPr>
          <a:xfrm>
            <a:off x="54864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67C2FD-37E2-4ABF-027E-7D2AFA835FA6}"/>
              </a:ext>
            </a:extLst>
          </p:cNvPr>
          <p:cNvSpPr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Considerations of Each Style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B359496-2657-47F0-B111-FBA7407CE425}"/>
              </a:ext>
            </a:extLst>
          </p:cNvPr>
          <p:cNvSpPr/>
          <p:nvPr/>
        </p:nvSpPr>
        <p:spPr>
          <a:xfrm>
            <a:off x="548640" y="3337560"/>
            <a:ext cx="73152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EB3CC7-EB61-8474-F604-D5BBE6F5FB36}"/>
              </a:ext>
            </a:extLst>
          </p:cNvPr>
          <p:cNvSpPr/>
          <p:nvPr/>
        </p:nvSpPr>
        <p:spPr>
          <a:xfrm>
            <a:off x="5486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style has its strengths and weaknesses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945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5127C-B7BC-8F0C-5CF9-6674A19F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1F0C48-792D-500A-A6D7-9A3E090576E1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Context-It’s Important in Both Cases, But Different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E19C9E2-9607-8465-EC71-1D56150C8916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E65541-2B54-D7B5-E06E-D1F61DEDF8BB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localized to the idea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standards, guardrails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A82068-3E7B-1141-F07D-F430C359C92C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at global context, but in new dev the globe is way smaller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9B5E181-DEFA-2E2E-BDF7-EFC3AD6A37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2B4B822-733E-CD3A-C554-A0BB0327C021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standards, guardrails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what happened before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Architecture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40770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D605B-B80B-8BB3-BD31-0FA5CDDA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9DC9BE-26CA-247D-7144-2CED0662AF7A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Debt-Brownfield existed before AI (Yes, this also applies to LLM prompts, but on a larger scale)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8CCE04D-1C1F-031B-D61C-7E13F7113529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D5586F-AF76-E42D-7476-9C3AD40E46E6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Debt??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AF09F2-25BC-FF61-6F3B-70101EBB01E7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systemic approach to managing context debt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6EF0C28-86A7-776A-74C6-FF62B0C805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4D926C7-13BF-6D81-F591-FA4BC0E4A048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code do?  All of the code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code do that? Also, WHY DOES THE CODE DO THAT?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it all in .md files.  This is what every dev fears: documentation.</a:t>
            </a:r>
            <a:b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90509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F3F0-1D57-8AA9-E8F4-E627ECDF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989402-7A29-06F0-8BBB-6DFEB7E212B3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we going to store Context?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B213021-3CF3-E9DD-4F57-021765437F0F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C4B988-95FC-5DE5-9F02-3A1F11013B16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Create those ARD files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5AF871-EFBD-4326-AACA-61F76DF83687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Well, those do look surprisingly similar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A75CE44-88EF-FBD4-69E7-36E860440D9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0611C0B-56C4-AD1A-B71C-6A6FA710D034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or ARD files .md files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2415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FD8F6-58B2-FF4A-B004-8E0E0DC5B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A8B403-695C-01A4-B75E-D92C7B0BD570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correctness, global incompatibility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A676FA-AC6B-054A-EE1B-A1EC7A8513AA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519892-CDFD-93DB-1AF1-38C300FDEA1E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correctness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decision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more controlled systems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F39796-5E5C-F44C-AB85-F3642CB99693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EF3DF55-F63E-FF5D-F468-CFD6E5A8BB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AF4A085-DB8D-ED5E-702F-2D2BF26763B9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correctness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million decisions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Downfield systems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4005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A7718-C2F7-A2A1-5618-2F6231E7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0559DD-01A8-6CF7-2A72-9ABCF83DE9E6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Global Incompatibility 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E17FE9-A9A8-3981-A312-9F3E44BC699D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0367A1D-1FE9-77C7-172A-38B9191AFD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FF578B2-EA67-0EB2-05F2-516BBFAA35FB}"/>
              </a:ext>
            </a:extLst>
          </p:cNvPr>
          <p:cNvSpPr/>
          <p:nvPr/>
        </p:nvSpPr>
        <p:spPr>
          <a:xfrm>
            <a:off x="570035" y="1469488"/>
            <a:ext cx="78705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boundaries (what comes in vs. what goes out)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you know the next system and the next system and the next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communicate interfaces and decisions explicitly in AI-readable ways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integration tests for the whole system (welcome back to the mainstage: TDD!)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code 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 </a:t>
            </a:r>
            <a:r>
              <a:rPr lang="en-US" sz="1600" i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the only step the AI controls</a:t>
            </a:r>
            <a:endParaRPr lang="en-US" sz="1600" i="1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consistency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changes in the contract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07958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506D-FC9C-B1D2-F3B3-9251B991B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3631F4-B416-25EB-1866-792435F3CF9A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Like Things to Work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4D90B5-8794-9EC2-0116-C7AD8358D973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89631F-B03B-7AF2-D80D-EC1792D8AF62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Wants them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chances for regressions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6E950E-75B5-EE58-A619-A9B61DA9DAB0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Brownfield feels slow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6E2E5A1-0E97-4B5A-24A3-6C305D5FA44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268F103-7491-A25A-F364-FAF857269ECC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 Has them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are bad, 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m’kay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70831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448C3-386B-2874-9101-2BD6594B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D8CEE1-5920-BE3F-0F00-66C25A7DB932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in Brownfield vs Greenfield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E791D9-BC71-9789-D71E-2CA22C5775D6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CC3BA5-952D-EF61-C4AE-C6920C53FCB6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did it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inclination is to treat this like a code review, not like something with our name it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7FA9E40-3410-053E-E823-87E3E1CBF077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level of engagement with code cannot change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3D150E6-A69B-2858-A284-CACDB8FF91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F8B42AF-7958-2382-9AFE-08CCB8E06B40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as we wrote the code (RIGHT?)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knew what the code did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should know the edge cases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b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54255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8B8BF-58B3-2CCC-8794-B052347E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DC6B53-FD53-2D07-53AF-DABCBA40B089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Repeatability: Same situation, same prompts, same results.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B4E55A-49D5-3FCC-B661-4F53CF6193A5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9949F4-DDAC-913F-612D-8788CEF06D73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1?  Does repeatability even matter?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A70E0F-52EF-6641-6C20-427B8F44FBBF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51305D3-7452-D5E1-82BE-255EA10871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DB0C945-2A90-9179-CB01-1ED25A1EB985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across the whole team is vital.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the humans have to have the context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44592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F2546-0B92-FB2B-BB73-0FFF12F9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B00F53-2834-E604-1E08-64577ED09AD3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agents fly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E17AA8-5591-EB33-9D01-ABF92BF0589D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D22806-20A6-6EA1-B9E6-320CF559B6FE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A81DF51-2FBD-3214-05DB-F071DE1829DD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E5DD1EF-9C30-8165-5BBB-F2FAEC68C0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602FDEA-FB15-E469-02C1-A523F98248EB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or PRD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17032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71D6-57F5-0721-EDE2-BAB5703FD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6E3B81-A672-7C1A-63C0-B525999F5254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in Prompting (Remember Context)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34CBDD-E84A-2EAD-4513-8036E350D725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B6D59A-0603-4D2A-71E9-1E37D5F804B3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YEEEEEEEEE HAAAAAWWW!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</a:p>
          <a:p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requirements found in 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thisfile.prd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Use claude.md to establish guardrails. If you have any questions, ask and record ard1.md.</a:t>
            </a:r>
          </a:p>
          <a:p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49D803-3D9B-1CBF-E7CD-6F056147ACB5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4C2FA86-43E0-7FA5-53BB-4057831BAF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6248A69-F3CD-33FD-964D-12D029868412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requirements found in 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thisfile.prd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Use claude.md and the project-specific file myproject.md to establish guardrails and evaluate previous decisions as documented in memory1.md, ard.md, etc.  If you have any questions, ask and record ard2.md.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21200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7CB1-6F9D-3639-0DCF-F96BC1C0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2C1812-2739-ABCA-CADB-C0E0795D790F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C9C4CF-25C6-EDA7-EB08-A2AE3E376B84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C610AA-2816-62A7-7339-1D9CB70D89F5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need to scale at first.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done.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need to scale.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B59D3D-A2D1-21B7-DFE6-91896F02D20F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AI-enabled development starts to feel like the olden days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5E3F244-8547-6107-EE5E-91BBC0F912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1B8C459-97F0-D9CE-00FA-E0FFEB85F4FB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scale to pre-AI levels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deployed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need to optimize for speed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30830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AAF3C-E9E0-1F71-4BD1-AC795EC2C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BB4F90-2735-FDA5-3847-89DD4898499B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Concerns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090CB24-3EEA-155A-6B17-DFE158D75761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457F8A-A5F5-EAB9-10AE-CC6998EA0649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especially during the build.</a:t>
            </a:r>
          </a:p>
          <a:p>
            <a:pPr marL="0" indent="0">
              <a:buNone/>
            </a:pPr>
            <a:b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grow into it.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943DB1-A4E5-4C25-A49E-2888BE138F92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almost always has them because the software lives in an eco system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2BF9111-BF79-16A0-ECF6-7FB7C72490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896C2DC-C5CF-F0FC-E6AB-14E214358D05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depend on company’s internal processes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depend on the type of work and data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89300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000DA-1019-6DBC-8D72-888A9DFD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05C626-837B-420E-4B81-E9667A79CA76}"/>
              </a:ext>
            </a:extLst>
          </p:cNvPr>
          <p:cNvSpPr/>
          <p:nvPr/>
        </p:nvSpPr>
        <p:spPr>
          <a:xfrm>
            <a:off x="54864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14EE0F-AAA1-3BCC-52D2-4471969CD6DB}"/>
              </a:ext>
            </a:extLst>
          </p:cNvPr>
          <p:cNvSpPr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Thoughts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4806CD-7BF2-9EC7-5A6F-121A16E802EA}"/>
              </a:ext>
            </a:extLst>
          </p:cNvPr>
          <p:cNvSpPr/>
          <p:nvPr/>
        </p:nvSpPr>
        <p:spPr>
          <a:xfrm>
            <a:off x="548640" y="3337560"/>
            <a:ext cx="73152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6031BF-B2C4-1FB7-A7CA-BA62750EC4FC}"/>
              </a:ext>
            </a:extLst>
          </p:cNvPr>
          <p:cNvSpPr/>
          <p:nvPr/>
        </p:nvSpPr>
        <p:spPr>
          <a:xfrm>
            <a:off x="5486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80594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need each other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Speed.  Discipline.  We need them both.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taught us speed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taught us that discipline still matters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needs discipline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needs to figure out speed for all parties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301752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0" y="1463040"/>
            <a:ext cx="73152" cy="310896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DIFFERENT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97880" y="205740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the hype around AI is focused on greenfield.  The speed.  The one-shot coding.  The billion-dollar unicorns.</a:t>
            </a:r>
          </a:p>
          <a:p>
            <a:pPr marL="0" indent="0">
              <a:buNone/>
            </a:pPr>
            <a:endParaRPr lang="en-US" sz="14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the burden is felt by brownfield.  They jobs being cut belong to the brownfield.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1FA51-F89C-0B84-0D6E-867C11DF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8FD648-1035-589C-A661-CE3535E66ADD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browns up eventually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0699C4-FC6C-D85F-F717-7712C6CAEFD2}"/>
              </a:ext>
            </a:extLst>
          </p:cNvPr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the nature of software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96A3E9-AE51-A4B2-5801-EFE39AF55A1D}"/>
              </a:ext>
            </a:extLst>
          </p:cNvPr>
          <p:cNvSpPr/>
          <p:nvPr/>
        </p:nvSpPr>
        <p:spPr>
          <a:xfrm>
            <a:off x="457200" y="16916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needs new features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integrated with more systems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decisions get made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discipline for an AI future now</a:t>
            </a: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FC5BFB0-413D-25D6-685E-B25587B6E9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49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brownfield look like in the future?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06040" cy="73152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381D9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changes were made get recorded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280160"/>
            <a:ext cx="2606040" cy="73152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rgbClr val="381D9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code lives within the organization is coded in an AI-consumable way.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0604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280160"/>
            <a:ext cx="2606040" cy="73152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554480"/>
            <a:ext cx="548640" cy="548640"/>
          </a:xfrm>
          <a:prstGeom prst="ellipse">
            <a:avLst/>
          </a:prstGeom>
          <a:solidFill>
            <a:srgbClr val="381D9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AI-Centric Discipline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going to do the coding.  Let’s work with that.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09728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Perrin</a:t>
            </a:r>
            <a:endParaRPr lang="en-US" sz="1400" dirty="0"/>
          </a:p>
          <a:p>
            <a:r>
              <a:rPr lang="en-US" sz="1400" dirty="0">
                <a:solidFill>
                  <a:schemeClr val="bg1"/>
                </a:solidFill>
              </a:rPr>
              <a:t>https://github.com/CommonDialog/AgentConRaleigh2026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E1EC4-F40F-EE40-2944-17C6FC9CA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163" y="1069948"/>
            <a:ext cx="3299077" cy="3248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5761</TotalTime>
  <Words>1232</Words>
  <Application>Microsoft Office PowerPoint</Application>
  <PresentationFormat>On-screen Show (16:9)</PresentationFormat>
  <Paragraphs>285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Storm Software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Storm Software Group Template</dc:title>
  <dc:subject>PptxGenJS Presentation</dc:subject>
  <dc:creator>Storm Software Group</dc:creator>
  <cp:lastModifiedBy>Chris Perrin</cp:lastModifiedBy>
  <cp:revision>13</cp:revision>
  <dcterms:created xsi:type="dcterms:W3CDTF">2026-05-03T02:33:39Z</dcterms:created>
  <dcterms:modified xsi:type="dcterms:W3CDTF">2026-09-16T02:29:59Z</dcterms:modified>
</cp:coreProperties>
</file>