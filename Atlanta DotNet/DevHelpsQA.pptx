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2" r:id="rId3"/>
    <p:sldId id="258" r:id="rId4"/>
    <p:sldId id="257" r:id="rId5"/>
    <p:sldId id="286" r:id="rId6"/>
    <p:sldId id="291" r:id="rId7"/>
    <p:sldId id="293" r:id="rId8"/>
    <p:sldId id="265" r:id="rId9"/>
    <p:sldId id="294" r:id="rId10"/>
    <p:sldId id="287" r:id="rId11"/>
    <p:sldId id="289" r:id="rId12"/>
    <p:sldId id="290" r:id="rId13"/>
    <p:sldId id="267" r:id="rId14"/>
    <p:sldId id="270" r:id="rId15"/>
    <p:sldId id="266" r:id="rId16"/>
    <p:sldId id="273" r:id="rId17"/>
    <p:sldId id="279" r:id="rId18"/>
    <p:sldId id="282" r:id="rId19"/>
    <p:sldId id="281" r:id="rId20"/>
    <p:sldId id="285" r:id="rId21"/>
    <p:sldId id="268" r:id="rId22"/>
    <p:sldId id="271" r:id="rId23"/>
    <p:sldId id="284" r:id="rId24"/>
    <p:sldId id="280" r:id="rId25"/>
    <p:sldId id="276" r:id="rId26"/>
    <p:sldId id="26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375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A606-D340-EC47-20F7-51418A71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E5603-3D92-E77A-7A65-8D2410282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A7E6B-87A7-9F94-3A2D-CB71FCA8E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477F4-7883-4F61-4245-B7E59404DD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94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58F39-CCB3-8D8B-377E-318E64B1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C17D3-49C3-D012-5D9C-095CAD670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E832D-5ACD-3CB7-C211-7E8A8B7E6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3DD35-315F-3841-1385-00155ECDD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0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2DAE2-E618-594D-9072-7C57265E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3C2B6-9992-AA72-666B-04B6C95FC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0E1C0-32F3-F4DD-595C-90FDA904E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CAED6-F608-D41A-84A1-6CCA963046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6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E145-6717-187E-CD37-DA94FE0D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C9503-F510-ECB0-7664-BF12D0138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2EBBE-88CF-9D8D-86E2-671108C41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43E08-CD96-CD4C-238C-850AADA37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2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16D2-3FB3-1ED1-66BF-468018A04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5BDD9-552D-5076-1FB8-7FAA9CB6B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557C9-D9BA-BA83-4FD1-34A307408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12EEF-188A-17C5-752B-5B3C250C26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19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959D8-0604-C240-DF65-4EA6F659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B9B65-6781-3F31-DDE5-7039A0BA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DB33E-136D-8995-2533-8D9773B6F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EC45D-C6A3-6A84-CB7C-FEF682269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82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319A6-B154-0600-01D5-2BE84EAB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D2CB6-36A8-C535-28E3-D88BC2474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534F34-8E3D-7690-EDF8-49843E07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0A15A-37BF-C39A-8A75-4C2136263F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25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083B-B8AE-D8CE-4C97-96B93DE5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5C004-4049-9731-FB9F-26867E7F7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F109B-81F7-0220-E505-A56E431EE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9E8D-C3B3-120E-E65E-2980A2CDF6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905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547DD-13A5-9CA7-66A4-C4A1F38C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AB1B8-680A-A9C9-B079-5F2112D03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513D0-2577-61A3-1DB1-EA097E44F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53CA8-FB54-B755-0767-CA081925E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03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3879-3AFA-D05B-0E60-47452AEA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8ED92-008E-0D06-6C6B-874A9C7DB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072AC-A388-D37D-0787-3B1B58A2C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F56D2-0427-0634-C4B0-3ADD0B82C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68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CFE6-D87A-569F-5BB4-A79684D04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57169-D977-E5BB-6E40-05A6CA120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FD6A1-80A4-2DDA-BBED-B14D59AF1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17EEC-18EE-67F2-3A7C-183186089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98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8510-90BA-803A-B222-EED1547A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5F400-0CCA-3467-2D99-D895A1DDE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BB84D-9674-7ADF-FBC1-3CE1BC6D3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3449D-6ADF-4BA4-A698-5CAF715AE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046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B0248-1C08-9DF2-BFB8-D5A5429C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3F881-EA23-F517-D22B-224ABD55D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BBD78-7A0E-4C6D-9985-6D7E7F4D7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263B7-1CE6-3A9E-9BF2-EA20D5594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86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9CB57-1016-6BCB-EDE8-517BA08C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480F2-692F-05A9-D7FA-1B90AE513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DC38D-EADC-FDF3-F302-282C86D9D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F9EFF-B130-9BA1-E20F-C22A74AFA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21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9ACBC-26FF-62C6-A291-73AD1AE7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FC4F6-D815-8D66-20CB-F402ECD60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FB6AA-A196-48B6-6BC9-89141EC56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90B5F-28D2-F95A-E4B2-E7C02B252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68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868B0-E842-E7BE-F041-D913DEC57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195D9-093D-CB8F-8796-4170D34D9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3CEDB-8B30-66BE-1E2C-A97B9E02F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4A662-05E1-DF31-074D-657D73A28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67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49F09-92CF-8F17-36BD-D1396CA1E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91124-295B-B2A4-05D8-BB84B9C40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AA11E-241C-83B5-11F5-ACAF966B1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2CB3D-BE94-8613-ACB0-AFE9A644B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358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F0CD-C25F-1160-AA58-013ADA95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89935-C995-094F-D72E-AFFF211A1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4D030-7593-D5EA-30E8-59E36AAC5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68574-1F73-8C9D-9132-B681FE4C2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711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75B8F-FC21-88FF-2970-3BE34634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8ED44-3401-98AA-88CA-F82246CBE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A8964-1492-0746-F31A-2C8998703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8EA4D-4D5D-C9D3-B64A-323C22BE6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84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05DF6-1DC2-F48A-2D2D-77134231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34AD9-BFB8-C065-9048-A45D3C41F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D9BA6-A898-4339-BCF0-353413CF4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29300-10A5-A001-DFFE-FD444F86E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866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D3A9-846F-B7F4-73EE-BA95093C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D7199-A728-AD7A-EA46-2304C9666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7A728-0577-FC64-3037-B4AEE341F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9C3E1-8785-B367-748A-F72B92316A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17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FFD56-67BB-7842-0E38-DD601A28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F239F-A272-5974-5AA6-3C867E46C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170FF-E648-B3A6-8607-A097DEBF4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E4C69-1900-6B27-E824-2EF6CF2245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787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56960" y="0"/>
            <a:ext cx="6035040" cy="6858000"/>
          </a:xfrm>
          <a:prstGeom prst="rect">
            <a:avLst/>
          </a:prstGeom>
          <a:solidFill>
            <a:srgbClr val="1E2A45">
              <a:alpha val="7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0116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Helped Devs, Now It Needs to Help QA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0" y="3611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optimistic Presentation about Agentic Engineering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host, the lovely and talented</a:t>
            </a:r>
          </a:p>
        </p:txBody>
      </p:sp>
      <p:sp>
        <p:nvSpPr>
          <p:cNvPr id="5" name="Text 3"/>
          <p:cNvSpPr/>
          <p:nvPr/>
        </p:nvSpPr>
        <p:spPr>
          <a:xfrm>
            <a:off x="6400800" y="44805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Perrin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KCDC · Kansas City, Missouri · September 11, 2026 ]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7EC6D-9EC6-CDDA-3E87-AB269903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47C76C-3F15-4C7A-D03C-C15EB8785821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C31709-C030-3756-5D2E-801AB0406592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this guy?</a:t>
            </a:r>
          </a:p>
          <a:p>
            <a:pPr marL="228600" indent="-228600">
              <a:spcAft>
                <a:spcPts val="1400"/>
              </a:spcAft>
              <a:buSzPct val="100000"/>
              <a:buFontTx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changed software development *gasp!*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 - What that has meant for the last “era”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can go 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soonest</a:t>
            </a: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What helping QA means for now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- What it should mean very shortly</a:t>
            </a: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1400"/>
              </a:spcAft>
              <a:buSzPct val="100000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believe in presentations.  I believe in conversations.  </a:t>
            </a:r>
          </a:p>
          <a:p>
            <a:pPr algn="l">
              <a:spcAft>
                <a:spcPts val="1400"/>
              </a:spcAft>
              <a:buSzPct val="100000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questions, don’t wait until the end.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FD4F41B-7570-653A-35EB-6CC10D8DD3BF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3A9E8-A14D-CD7A-3969-5394C807B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766" y="1616603"/>
            <a:ext cx="5274669" cy="294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am 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once called right by ChatGPT</a:t>
            </a: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time engineering leader. I have been leading longer than some of my team 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been alive.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3x’d our </a:t>
            </a:r>
            <a:r>
              <a:rPr lang="en-US" dirty="0" err="1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4x’d our product team.  QA went gray.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up through dev, have had QA report to me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dev, I never once told my QA manager he was a crab person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believe in “dynamic tension” between QA and dev</a:t>
            </a:r>
          </a:p>
          <a:p>
            <a:pPr marL="228600" indent="-228600">
              <a:spcAft>
                <a:spcPts val="14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Taylor Swift of AI conferences (don’t believe me? 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Travis @killatrav), my Speed Era is over. 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into my Quality Era.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1400"/>
              </a:spcAft>
              <a:buSzPct val="100000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1400"/>
              </a:spcAft>
              <a:buSzPct val="100000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D10D7-0B43-3858-A231-A45EA587A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550" y="3871144"/>
            <a:ext cx="5351450" cy="2986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3FF8342B-C031-BC68-E830-9D732CA44E3B}"/>
              </a:ext>
            </a:extLst>
          </p:cNvPr>
          <p:cNvSpPr/>
          <p:nvPr/>
        </p:nvSpPr>
        <p:spPr>
          <a:xfrm>
            <a:off x="-104702" y="0"/>
            <a:ext cx="12161520" cy="6858000"/>
          </a:xfrm>
          <a:prstGeom prst="rect">
            <a:avLst/>
          </a:prstGeom>
          <a:solidFill>
            <a:srgbClr val="1E2A45">
              <a:alpha val="42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640080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3FA9E0"/>
                </a:solidFill>
                <a:highlight>
                  <a:srgbClr val="FFFF00"/>
                </a:highligh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6600" dirty="0">
              <a:highlight>
                <a:srgbClr val="FFFF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79" y="3017520"/>
            <a:ext cx="105700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4000" b="1" dirty="0">
              <a:solidFill>
                <a:srgbClr val="FFFFFF"/>
              </a:solidFill>
              <a:latin typeface="Bookman Old Style" pitchFamily="34" charset="0"/>
              <a:ea typeface="Bookman Old Style" pitchFamily="34" charset="-122"/>
              <a:cs typeface="Bookman Old Style" pitchFamily="34" charset="-120"/>
            </a:endParaRPr>
          </a:p>
          <a:p>
            <a:pPr marL="0" indent="0" algn="ctr">
              <a:buNone/>
            </a:pPr>
            <a:endParaRPr lang="en-US" sz="4000" b="1" dirty="0">
              <a:solidFill>
                <a:srgbClr val="FFFFFF"/>
              </a:solidFill>
              <a:latin typeface="Bookman Old Style" pitchFamily="34" charset="0"/>
              <a:ea typeface="Bookman Old Style" pitchFamily="34" charset="-122"/>
              <a:cs typeface="Bookman Old Style" pitchFamily="34" charset="-120"/>
            </a:endParaRPr>
          </a:p>
          <a:p>
            <a:pPr marL="0" indent="0" algn="ctr">
              <a:buNone/>
            </a:pPr>
            <a:endParaRPr lang="en-US" sz="4000" b="1" dirty="0">
              <a:solidFill>
                <a:srgbClr val="FFFFFF"/>
              </a:solidFill>
              <a:latin typeface="Bookman Old Style" pitchFamily="34" charset="0"/>
              <a:ea typeface="Bookman Old Style" pitchFamily="34" charset="-122"/>
              <a:cs typeface="Bookman Old Style" pitchFamily="34" charset="-12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</a:t>
            </a:r>
            <a:r>
              <a:rPr lang="en-US" sz="4000" b="1" dirty="0" err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agentically</a:t>
            </a: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got to this point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</a:rPr>
              <a:t>In quality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D036-3105-E1D9-E402-437AE1B2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1FA85F-DEF4-B510-7B79-3A0BC4009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358" y="2176272"/>
            <a:ext cx="8388096" cy="468172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28A303C-3401-C7F2-C03B-2855EDBA3A90}"/>
              </a:ext>
            </a:extLst>
          </p:cNvPr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appears to have affected software development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B67574-4D33-89A4-1A8A-24D80096DA47}"/>
              </a:ext>
            </a:extLst>
          </p:cNvPr>
          <p:cNvSpPr/>
          <p:nvPr/>
        </p:nvSpPr>
        <p:spPr>
          <a:xfrm>
            <a:off x="457200" y="1337398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Shocking, I realize!</a:t>
            </a: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/>
              <a:t>A long time ago (2024), AI was dev-focused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early 2025, I asked my QA manager if he wanted to go to a conference and he couldn’t find one with a QA track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/>
              <a:t>This is no longer th</a:t>
            </a:r>
            <a:r>
              <a:rPr lang="en-US" dirty="0"/>
              <a:t>e case (I mean, you’re here, right?)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today is still speed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speed, speed.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 is that our </a:t>
            </a:r>
            <a:r>
              <a:rPr lang="en-US" dirty="0" err="1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have more time. 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the there’s more that needs to be tested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more bugs.</a:t>
            </a:r>
          </a:p>
          <a:p>
            <a:pPr algn="l">
              <a:spcAft>
                <a:spcPts val="1400"/>
              </a:spcAft>
              <a:buSzPct val="100000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A11031A-4949-966A-7970-49651D9359EE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402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D8D959-1A41-2286-A99A-AEF3D0AB0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828C38-C329-2068-0136-3A0732CCC336}"/>
              </a:ext>
            </a:extLst>
          </p:cNvPr>
          <p:cNvSpPr/>
          <p:nvPr/>
        </p:nvSpPr>
        <p:spPr>
          <a:xfrm>
            <a:off x="457199" y="411480"/>
            <a:ext cx="109064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</a:rPr>
              <a:t>AI has meant one thing: speed, speed, speed</a:t>
            </a:r>
            <a:endParaRPr lang="en-US" sz="3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1880BD6-548B-4F5D-30FF-C896AD29AB6E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6A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AF348CE-30A2-4E0B-54E3-3BEA15B05FC7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FE60CC-EC97-2396-D49B-973ED93B9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88136"/>
            <a:ext cx="9971148" cy="556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69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0CA1-3024-EF03-D5BE-1F002AEB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A499C0-A757-AC77-D539-44D9101FE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712" y="2114219"/>
            <a:ext cx="8388096" cy="4681728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06FD00A-9B2F-60D3-6722-F3301097DE7C}"/>
              </a:ext>
            </a:extLst>
          </p:cNvPr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scary numbers slide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332A7C-53E6-C2FD-D8E4-D4D435F6F0B1}"/>
              </a:ext>
            </a:extLst>
          </p:cNvPr>
          <p:cNvSpPr/>
          <p:nvPr/>
        </p:nvSpPr>
        <p:spPr>
          <a:xfrm>
            <a:off x="457200" y="1337398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increase in errors and 1.3-1.7x increase in critical bugs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of engineering leaders report </a:t>
            </a:r>
            <a:br>
              <a:rPr lang="en-US" sz="2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AI-related production issues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2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AI-generated code needs manual debugging in prod</a:t>
            </a:r>
          </a:p>
          <a:p>
            <a:pPr algn="l">
              <a:spcAft>
                <a:spcPts val="1400"/>
              </a:spcAft>
              <a:buSzPct val="100000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8B49255-3999-C60A-7512-9039C83E49B0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1292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15DFA-765A-4E9B-26B2-BA734099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5A05A6-388D-262A-34B6-7070B584EB88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Amdahl’s Law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BC0563-23F5-D53C-933D-DCE209B6EBEB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1400"/>
              </a:spcAft>
              <a:buSzPct val="100000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A775BF-D854-41BA-CFD1-B1FA0E0B66A6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1B98C8-5705-885D-6D7C-94D97F634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949" y="1683714"/>
            <a:ext cx="5587301" cy="2971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BBC67A-1BBC-786C-9237-59A7B3A1B05B}"/>
              </a:ext>
            </a:extLst>
          </p:cNvPr>
          <p:cNvSpPr txBox="1"/>
          <p:nvPr/>
        </p:nvSpPr>
        <p:spPr>
          <a:xfrm>
            <a:off x="6855050" y="5798142"/>
            <a:ext cx="3639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Courtesy of Grokking Concurrency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AB6539-E93A-08BF-1335-2145F82E5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497000" y="2225901"/>
            <a:ext cx="8388096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59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2FA99-779D-BA27-BDB9-5F3FCB7B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0B9F0D-7CD8-849E-A511-731A4CEF15E8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Perrin’s Law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D399BB-DC58-D9F3-E32E-8BD851FA55BF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1400"/>
              </a:spcAft>
              <a:buSzPct val="100000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2491D8-C965-E421-203B-359DB2DA990D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CE590-7401-F255-ABAA-6DD1C7FF0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55941" y="1463040"/>
            <a:ext cx="8388096" cy="46817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EEFA98-2111-2564-407A-82E93AF39404}"/>
              </a:ext>
            </a:extLst>
          </p:cNvPr>
          <p:cNvSpPr txBox="1"/>
          <p:nvPr/>
        </p:nvSpPr>
        <p:spPr>
          <a:xfrm>
            <a:off x="4120587" y="1388187"/>
            <a:ext cx="684063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In technology, first we make it fast. Then we make it good.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-- Chris Perrin @helpfulaiguy</a:t>
            </a:r>
          </a:p>
        </p:txBody>
      </p:sp>
    </p:spTree>
    <p:extLst>
      <p:ext uri="{BB962C8B-B14F-4D97-AF65-F5344CB8AC3E}">
        <p14:creationId xmlns:p14="http://schemas.microsoft.com/office/powerpoint/2010/main" val="240595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5957-0695-67AB-74B7-B3C6DD54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4A4EA8-ED35-9C37-2D69-40812ABC0FBA}"/>
              </a:ext>
            </a:extLst>
          </p:cNvPr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can build a mountain of code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7DC33C-134C-4B10-AFF9-02A70DC3F5E4}"/>
              </a:ext>
            </a:extLst>
          </p:cNvPr>
          <p:cNvSpPr/>
          <p:nvPr/>
        </p:nvSpPr>
        <p:spPr>
          <a:xfrm>
            <a:off x="457200" y="1337398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can do it, so can you.</a:t>
            </a: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/>
              <a:t>So can my team.</a:t>
            </a:r>
          </a:p>
          <a:p>
            <a:pPr marL="228600" indent="-228600">
              <a:spcAft>
                <a:spcPts val="1400"/>
              </a:spcAft>
              <a:buSzPct val="100000"/>
              <a:buFontTx/>
              <a:buChar char="•"/>
            </a:pPr>
            <a:r>
              <a:rPr lang="en-US" dirty="0"/>
              <a:t>We don’t have a lot of control over how the code is built.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/>
              <a:t>The code is pretty good and it makes a lot of metrics </a:t>
            </a:r>
            <a:r>
              <a:rPr lang="en-US" i="1" dirty="0"/>
              <a:t>light up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GREEN</a:t>
            </a:r>
            <a:r>
              <a:rPr lang="en-US" dirty="0"/>
              <a:t>.</a:t>
            </a:r>
          </a:p>
          <a:p>
            <a:pPr algn="l">
              <a:spcAft>
                <a:spcPts val="1400"/>
              </a:spcAft>
              <a:buSzPct val="100000"/>
            </a:pP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is that the right metric?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take quality into account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not a bad metric, but it’s not a pipeline and 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code is not deployed code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environment let you deploy at agent speed?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4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continues to optimize for speed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1400"/>
              </a:spcAft>
              <a:buSzPct val="100000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B2E9AF2-CE65-1F05-7133-36589C38E115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46B400-A321-ECD7-5958-4910AFA19C01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A5426-2103-EF60-D73C-C750B3397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045" y="3637754"/>
            <a:ext cx="5145675" cy="287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69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34360-E204-C729-4E7A-EA3D5DA4A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A6D425-3143-2880-CB71-7703495A3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422" y="1554480"/>
            <a:ext cx="4734938" cy="264275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3606121-3F48-B017-5992-3FC5FACED63A}"/>
              </a:ext>
            </a:extLst>
          </p:cNvPr>
          <p:cNvSpPr/>
          <p:nvPr/>
        </p:nvSpPr>
        <p:spPr>
          <a:xfrm>
            <a:off x="457199" y="411480"/>
            <a:ext cx="109064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</a:rPr>
              <a:t>What does quality look like in the age of AI?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E9B65F-C617-62E0-B9F9-E2B7252B2AC4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right question. Especially if you’re on X and you like argue.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I’ve never seen so many </a:t>
            </a:r>
            <a:r>
              <a:rPr lang="en-US" sz="1800" b="1" i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 about 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believe AI should do the code and the quality, you’re right, but…</a:t>
            </a:r>
            <a:endParaRPr lang="en-US" sz="1800" dirty="0"/>
          </a:p>
          <a:p>
            <a:pPr marL="685800" lvl="1" indent="-228600">
              <a:spcAft>
                <a:spcPts val="1400"/>
              </a:spcAft>
              <a:buSzPct val="100000"/>
              <a:buChar char="•"/>
            </a:pPr>
            <a:r>
              <a:rPr lang="en-US" dirty="0" err="1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Sssshhhh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I’m a lot closer to that than I appear</a:t>
            </a:r>
          </a:p>
          <a:p>
            <a:pPr marL="685800" lvl="1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day job that “kindly” said no</a:t>
            </a:r>
          </a:p>
          <a:p>
            <a:pPr marL="685800" lvl="1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do have a place in the loop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have no excuse not to do what we always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been doing</a:t>
            </a:r>
          </a:p>
          <a:p>
            <a:pPr algn="l">
              <a:spcAft>
                <a:spcPts val="1400"/>
              </a:spcAft>
              <a:buSzPct val="100000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EA72461-AAB9-85D8-103A-0DEB51403884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Kansas City, MO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A6DD57-EDD4-02EA-CE9F-3BD301A3D5DC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8628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51D5B-A542-E328-0EC9-67CDF522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7482C7-8EB0-63D2-6545-D23F2F50FC45}"/>
              </a:ext>
            </a:extLst>
          </p:cNvPr>
          <p:cNvSpPr/>
          <p:nvPr/>
        </p:nvSpPr>
        <p:spPr>
          <a:xfrm>
            <a:off x="457199" y="411480"/>
            <a:ext cx="109064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</a:rPr>
              <a:t>Every agentic journey is different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5DF583-DDC9-E201-2F07-CDB2A638B757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now, if AI is incorporated into your SDLC, then I expect at least some of these to be true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too, are writing a mountain of code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writing some or all of your unit tests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writing some or all of your E2E tests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writing some or all of your documentation (docu-what?)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starting to build its own context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sprint/kanban flows are roughly the same and user stories 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roughly the same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not, that’s fine, too</a:t>
            </a:r>
          </a:p>
          <a:p>
            <a:pPr algn="l">
              <a:spcAft>
                <a:spcPts val="1400"/>
              </a:spcAft>
              <a:buSzPct val="100000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01FECDF-1E41-151F-1AB2-1FE5760C3519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Kansas City, MO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D51BA41-7FFB-EC49-0D5B-8C94F4934BBE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80225F-4CC1-2CEF-44F5-460ED8841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837" y="1984108"/>
            <a:ext cx="5436802" cy="230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84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DA5D5-3930-D9AB-11DC-2DE65125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0196EE50-11CC-5AA2-29F6-D7503FEBC308}"/>
              </a:ext>
            </a:extLst>
          </p:cNvPr>
          <p:cNvSpPr/>
          <p:nvPr/>
        </p:nvSpPr>
        <p:spPr>
          <a:xfrm>
            <a:off x="15240" y="15705"/>
            <a:ext cx="12161520" cy="6858000"/>
          </a:xfrm>
          <a:prstGeom prst="rect">
            <a:avLst/>
          </a:prstGeom>
          <a:solidFill>
            <a:srgbClr val="1E2A45">
              <a:alpha val="42000"/>
            </a:srgbClr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2781F5F-1979-E879-0DF3-FC07BF1290D7}"/>
              </a:ext>
            </a:extLst>
          </p:cNvPr>
          <p:cNvSpPr/>
          <p:nvPr/>
        </p:nvSpPr>
        <p:spPr>
          <a:xfrm>
            <a:off x="738757" y="3608363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3FA9E0"/>
                </a:solidFill>
                <a:highlight>
                  <a:srgbClr val="FFFF00"/>
                </a:highlight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6600" dirty="0">
              <a:highlight>
                <a:srgbClr val="FFFF00"/>
              </a:highlight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476082-DEAC-F693-36DB-5408443C6567}"/>
              </a:ext>
            </a:extLst>
          </p:cNvPr>
          <p:cNvSpPr/>
          <p:nvPr/>
        </p:nvSpPr>
        <p:spPr>
          <a:xfrm>
            <a:off x="738757" y="5181819"/>
            <a:ext cx="96090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accent4"/>
                </a:solidFill>
                <a:latin typeface="Bookman Old Style" pitchFamily="34" charset="0"/>
              </a:rPr>
              <a:t>Optimizing for QA Now</a:t>
            </a:r>
            <a:endParaRPr lang="en-US" sz="6000" dirty="0">
              <a:solidFill>
                <a:schemeClr val="accent4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ECF2E7-2AC8-9314-B2F6-3D0D684E8249}"/>
              </a:ext>
            </a:extLst>
          </p:cNvPr>
          <p:cNvSpPr/>
          <p:nvPr/>
        </p:nvSpPr>
        <p:spPr>
          <a:xfrm>
            <a:off x="6858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52331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972D16-7E50-CE7E-DD19-041A1774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69E8E0-4B8A-BE6C-5746-C027F42DD85C}"/>
              </a:ext>
            </a:extLst>
          </p:cNvPr>
          <p:cNvSpPr/>
          <p:nvPr/>
        </p:nvSpPr>
        <p:spPr>
          <a:xfrm>
            <a:off x="457199" y="411480"/>
            <a:ext cx="105507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your SDLC? How many pieces are ready for AI?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2324E2-3388-C53C-23FD-A341F2B7F7A2}"/>
              </a:ext>
            </a:extLst>
          </p:cNvPr>
          <p:cNvSpPr/>
          <p:nvPr/>
        </p:nvSpPr>
        <p:spPr>
          <a:xfrm>
            <a:off x="548640" y="1634079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Ownership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SREs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258BE68-3161-8328-89D9-D8F1BBDFA449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8EEF4D4-AE8B-681E-8BCF-BA1D9BE83518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E20A85-EF75-E096-A87A-F555EC9A5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343" y="1728346"/>
            <a:ext cx="8608159" cy="365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2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9C6BA-0D93-C0E2-98F3-7F8E5581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900AB27-E297-384F-AF50-C81795C63CB5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 – A New Mindset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5FA7F3-A24E-7E01-BFFE-4040A6E82603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do with our time?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need to adopt a QA mindset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need to be reviewing while AI is churning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need to expand reviews beyond just what changed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skill that </a:t>
            </a:r>
            <a:r>
              <a:rPr lang="en-US" sz="1800" dirty="0" err="1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needs to grow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no longer be part of the ritual, it needs to be gate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code still has to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happen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careful attention to how 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know we’re faster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spcAft>
                <a:spcPts val="1400"/>
              </a:spcAft>
              <a:buSzPct val="100000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*Hi, it’s me.  I’m </a:t>
            </a:r>
            <a:r>
              <a:rPr lang="en-US" dirty="0" err="1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7EF925D-1016-16B4-FD5F-5C68F94932FB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7D25655-AFBA-10D5-6B83-6F650EC30715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6949AC-E257-3AA8-99C4-ACF4C2232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64" y="3078246"/>
            <a:ext cx="5347736" cy="298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890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27CC2-5E2E-65AD-DB2B-79414B42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20562B-B150-18DF-1D35-A3C109E88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954" y="1516718"/>
            <a:ext cx="8388096" cy="4681728"/>
          </a:xfrm>
          <a:prstGeom prst="rect">
            <a:avLst/>
          </a:prstGeom>
          <a:solidFill>
            <a:schemeClr val="bg1"/>
          </a:solidFill>
          <a:scene3d>
            <a:camera prst="orthographicFront">
              <a:rot lat="0" lon="8400000" rev="0"/>
            </a:camera>
            <a:lightRig rig="threePt" dir="t"/>
          </a:scene3d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FC72FAF-DBFD-97A1-DAD6-41F38DB0C851}"/>
              </a:ext>
            </a:extLst>
          </p:cNvPr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</a:rPr>
              <a:t>Dev – What we do with that time: “All Time AI 0-10”</a:t>
            </a:r>
            <a:br>
              <a:rPr lang="en-US" sz="3000" b="1" dirty="0">
                <a:solidFill>
                  <a:srgbClr val="1E2A45"/>
                </a:solidFill>
                <a:latin typeface="Bookman Old Style" pitchFamily="34" charset="0"/>
              </a:rPr>
            </a:b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03F5D2-D285-5631-36AE-5A630901D17F}"/>
              </a:ext>
            </a:extLst>
          </p:cNvPr>
          <p:cNvSpPr/>
          <p:nvPr/>
        </p:nvSpPr>
        <p:spPr>
          <a:xfrm>
            <a:off x="606513" y="83233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decision context in .md files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good spec</a:t>
            </a:r>
            <a:endParaRPr lang="en-US" sz="1800" dirty="0"/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use AI to check the spec and remove ambiguities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code (not too much)</a:t>
            </a:r>
            <a:endParaRPr lang="en-US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generate unit tests</a:t>
            </a:r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review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passes for security, accessibility, </a:t>
            </a:r>
            <a:b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correctness</a:t>
            </a:r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unit tests</a:t>
            </a:r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end-to-en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testing with Playwright MCP</a:t>
            </a:r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dirty="0"/>
              <a:t>Run integration tests</a:t>
            </a:r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/>
              <a:t>Build Documentation</a:t>
            </a:r>
          </a:p>
          <a:p>
            <a:pPr marL="342900" indent="-342900" algn="l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800" dirty="0"/>
              <a:t>Continuous Improvement</a:t>
            </a:r>
          </a:p>
          <a:p>
            <a:pPr algn="l">
              <a:spcAft>
                <a:spcPts val="1400"/>
              </a:spcAft>
              <a:buSzPct val="100000"/>
            </a:pPr>
            <a:r>
              <a:rPr lang="en-US" sz="1800" dirty="0"/>
              <a:t>SOON </a:t>
            </a:r>
            <a:r>
              <a:rPr lang="en-US" dirty="0"/>
              <a:t>– skills (maybe?) and dashboards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0AFB575-8E50-81EF-BB56-73F4567F5C5F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563F1AB-FD38-7B0E-D16B-54A72B3E4A52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17351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A4008-9720-DF41-6F2B-BE7AD711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23BA1A-4571-1044-8D13-19BD07058C42}"/>
              </a:ext>
            </a:extLst>
          </p:cNvPr>
          <p:cNvSpPr/>
          <p:nvPr/>
        </p:nvSpPr>
        <p:spPr>
          <a:xfrm>
            <a:off x="457199" y="411480"/>
            <a:ext cx="1036901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 – Quality is ongoing: Test Maintenance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09E6C3-9781-5A9D-ED10-F7FD3BE2087F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 there’s an error, add a test.  Use a skill to enforce this!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rid of tests that don’t make sense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subset as a check in gate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tests like real code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the time!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59223FE-93F4-231C-2B68-D3A78CD6994D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8A6E84A-BD6B-B985-A4F6-20160F45E6F6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CBC6A-EA84-4FB4-7D47-6667CA040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675" y="2467686"/>
            <a:ext cx="7742292" cy="432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2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63469-1F9B-551E-5ACA-B6D17075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4C5D49E-05F3-0DED-DFC8-EBD94A956966}"/>
              </a:ext>
            </a:extLst>
          </p:cNvPr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QA – With 3x the code, you must Enforce Standards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8FEB52-EC2F-8331-9FAC-EE0B0885FA95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quality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review 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what is right, QA review to find what’s wrong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not own the test suite (that’s up to your org) but you influence it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team what to look for (you’re saving their jobs, too.)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rules for testing AI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test results to look for code drift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A669015-38BA-9E27-AE55-E44F01E828E7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0DF6097-2007-80D8-A0C1-39361FB0CA23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9F259D-6C92-5417-4FC2-5A8F528F7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989847"/>
            <a:ext cx="4252216" cy="237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02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5147E-E49D-A1EB-FB43-276CB7C5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E13015-8A6A-986A-96C3-ADD5BF8286F8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QA – Fight Your Battles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E3C62B-CF8D-3A92-5278-CB15F4BD4B21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a lot of code coming your way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all code may not be possible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start skeptical but work to gain trust in AI and your dev team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of go of what’s important, but figure out what’s important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BB93760-3D57-E315-C2EF-D74039A42937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FBA7C-A27A-6E79-2226-80A38DFA3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409" y="3325981"/>
            <a:ext cx="5836711" cy="325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47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9E5AC-9678-A454-6F72-B3F1F35B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8398C6-8145-F58A-5227-19AC8AACF707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QA – Contribute to the Madness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66AFDE-E70D-E302-2C79-D23045F16115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code if you can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 tools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unit tests, E2E tests, manual tests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automated tests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educat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history of what has gone wrong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more in the loop and communicate issues with dev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31F1BC5-9AB9-C1BA-94DE-9130489BD044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AB6406B-FDD6-E3C7-7049-9FFE35E6EBC2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13FFBB-1DB0-0420-085A-D3B5A7AA4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047" y="3535385"/>
            <a:ext cx="5836711" cy="325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90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6EBF5-7F53-07BF-7237-3BE8C2AF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2E481C-3DB4-F5A7-B5C5-09354ABB34ED}"/>
              </a:ext>
            </a:extLst>
          </p:cNvPr>
          <p:cNvSpPr/>
          <p:nvPr/>
        </p:nvSpPr>
        <p:spPr>
          <a:xfrm>
            <a:off x="3514848" y="-91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3FA9E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49D5CD-B55F-1C11-5FA8-DBC1B475224C}"/>
              </a:ext>
            </a:extLst>
          </p:cNvPr>
          <p:cNvSpPr/>
          <p:nvPr/>
        </p:nvSpPr>
        <p:spPr>
          <a:xfrm>
            <a:off x="4922629" y="393539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Optimizing The Future</a:t>
            </a:r>
            <a:endParaRPr lang="en-US" sz="6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434317-0D14-27F6-AA68-292457A61EA5}"/>
              </a:ext>
            </a:extLst>
          </p:cNvPr>
          <p:cNvSpPr/>
          <p:nvPr/>
        </p:nvSpPr>
        <p:spPr>
          <a:xfrm>
            <a:off x="6858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1C00B96-18E2-E858-3652-A93C1A76BE52}"/>
              </a:ext>
            </a:extLst>
          </p:cNvPr>
          <p:cNvSpPr/>
          <p:nvPr/>
        </p:nvSpPr>
        <p:spPr>
          <a:xfrm>
            <a:off x="5343648" y="5175813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Very Near Future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09160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C6734-E888-26F7-3A7D-DFAEDCFE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BC7629-5972-7DE7-C26E-56700E941984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Rest of the Story…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F4CC96-D2C7-C3AD-8D9D-E096ED787085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/>
              <a:t>If you had to walk out and miss this part, you’d be good.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/>
              <a:t>But those steps optimize for how we’ve always done things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/>
              <a:t>Changes from AI aren’t stopping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030004A-4C4C-7EB0-A9A0-166D958089C6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8D7C94F-527D-B75F-30A6-76C64FADBCE1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D01815-0B15-7817-5D21-F4B9B7CE0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137" y="2807697"/>
            <a:ext cx="7011048" cy="39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128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0A07F-1008-33BC-020A-FD260A12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F31230-01F4-4344-C9D9-BDFA9E5C9842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 – RETHINK EVERYTHING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4F7649-4DCC-36D1-2B0F-4827C3361776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need User Stories?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your User Stories too small?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each step in the pipeline mean if the AI is speeding it up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narrative values speed. How can we be smart and fast?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724AC62-C9FF-92B2-58D5-7487223ABFAC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782619F-3478-2FFC-F08F-0EE918222D96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CCBD43-4346-8BC8-A5B7-E61A237E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356" y="3521580"/>
            <a:ext cx="5732008" cy="31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50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4928A-28D6-14BA-0F86-A7F41142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639FCC-A83E-C364-F02B-FC303C4FDAEF}"/>
              </a:ext>
            </a:extLst>
          </p:cNvPr>
          <p:cNvSpPr/>
          <p:nvPr/>
        </p:nvSpPr>
        <p:spPr>
          <a:xfrm>
            <a:off x="457199" y="411480"/>
            <a:ext cx="1041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QA – Ask not what you can do for the robot…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FDF8C7-3F1F-3402-8A5C-B7C3EBC6B71C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changing your job, too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QA-related AI topics are becoming more plentiful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ways to use AI to enhance your judgement (code review, asking technical questions, confirming suspicions, etc.)</a:t>
            </a:r>
            <a:endParaRPr lang="en-US" sz="1800" dirty="0"/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QA automation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to be the human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testing changes everything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(especially manual test cases)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CF11E6D-81AC-541F-458E-0A2E5EAC18A0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299BB7A-253D-F478-6570-85F6C796020D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CE23D-ABED-77A7-4297-DFC7E3096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488" y="3224140"/>
            <a:ext cx="6136857" cy="342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13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D9D2F-4775-350E-86E4-9B3F7594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812807-4432-D653-806D-8A28FE8FCBDA}"/>
              </a:ext>
            </a:extLst>
          </p:cNvPr>
          <p:cNvSpPr/>
          <p:nvPr/>
        </p:nvSpPr>
        <p:spPr>
          <a:xfrm>
            <a:off x="457200" y="411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 – Keep find ways to add quality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792BF6-1B30-F029-4941-461120430D04}"/>
              </a:ext>
            </a:extLst>
          </p:cNvPr>
          <p:cNvSpPr/>
          <p:nvPr/>
        </p:nvSpPr>
        <p:spPr>
          <a:xfrm>
            <a:off x="548640" y="146304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document pre</a:t>
            </a: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and post-build states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rapid prototyping</a:t>
            </a: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skills, skills </a:t>
            </a:r>
            <a:endParaRPr lang="en-US" sz="1800" dirty="0">
              <a:solidFill>
                <a:srgbClr val="2024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 algn="l">
              <a:spcAft>
                <a:spcPts val="14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A4C2B98-93F6-7FDA-BCA6-EB7258F12E46}"/>
              </a:ext>
            </a:extLst>
          </p:cNvPr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Up Agentic QA  ·  Lincoln, Nebraska</a:t>
            </a:r>
            <a:endParaRPr lang="en-US"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F6B9B5E-D258-0196-EC4E-226974583581}"/>
              </a:ext>
            </a:extLst>
          </p:cNvPr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765281-8B23-B68F-90EC-BA948DD96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356" y="3521580"/>
            <a:ext cx="5732008" cy="31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48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A45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 got fast, it’s QA’s turn now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Perrin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@helpfulaiguy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957624-6FBF-AD24-C389-AFF88D397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105" y="3429000"/>
            <a:ext cx="3299077" cy="3248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19983</TotalTime>
  <Words>1481</Words>
  <Application>Microsoft Office PowerPoint</Application>
  <PresentationFormat>Widescreen</PresentationFormat>
  <Paragraphs>228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Speeding Up Agentic QA</dc:title>
  <dc:subject>PptxGenJS Presentation</dc:subject>
  <dc:creator>Chris Perrin</dc:creator>
  <cp:lastModifiedBy>Chris Perrin</cp:lastModifiedBy>
  <cp:revision>18</cp:revision>
  <dcterms:created xsi:type="dcterms:W3CDTF">2026-06-21T18:08:38Z</dcterms:created>
  <dcterms:modified xsi:type="dcterms:W3CDTF">2026-10-26T02:47:32Z</dcterms:modified>
</cp:coreProperties>
</file>