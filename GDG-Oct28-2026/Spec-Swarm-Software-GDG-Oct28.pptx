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Spec -&gt; Swarm -&gt; Software! Tonight we are walking through a real end-to-end engineering journey: how we wrote a tight specification for AICRM, ran it through a 4-agent coding swarm, and then wired up Google Cloud Vertex AI and Cloud Run to review code, generate unit tests, diagnose problems, and deploy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single-prompt coding fails once an application has real auth, file persistence, and external APIs. Show how separating Specification, Multi-Agent Swarm execution, and Vertex AI release gating solves each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4 sections of our 51-line SPEC.md file. Emphasize that a 50-line markdown file with exact field names and HTTP routes beats a 10-page product document full of fluff.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AICRM works in practice and foreshadow a fun twist later in the talk: when we evolved the app from pure Gemini Search Grounding to a faster 3-step Places + Scraper + Gemini pipeline, we forgot to update SPEC.md—and Vertex AI Code Review caught us red-handed!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dev-swarm (c:\Dev\.agents\skills\dev-swarm\SKILL.md) is structured. Instead of one agent doing everything, we separate Product Owner, Architect, Builder, and QA—and support Interactive, Most Auto, and Full Auto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often the audience’s favorite slide: anyone who has built multi-agent systems knows they love to burn tokens re-reading the codebase or arguing over style nitpicks. These 6 guardrails keep the swarm fast, deterministic, and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how clean the @google/genai SDK is: switching from an AI Studio key to Google Cloud Vertex AI is literally 3 lines of config (vertexai: true, project,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comedy/reality section of the talk! Walk the GDG audience through all 4 errors we actually hit setting this up: the 402 prepayment error, waiting on the gcloud installer, the classic gcloud auth login vs application-default login trap, and discovering that gemini-3-flash-preview lives on the global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4 stages of scripts/vertex-pipeline.ts. Show how Vertex AI acts as both our Principal Security Reviewer (Stage 1), Staff QA Automation Engineer (Stage 2), and Site Reliability Engineer (Stage 3) before Cloud Run ships Stage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this is not a canned screenshot—this is the actual output from Vertex AI reviewing our codebase. It caught a real concurrent write issue in storage.ts and noticed that our code switched to Google Places API while SPEC.md still mentioned Search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the first deploy took ~3 minutes because Google Cloud had to provision Artifact Registry and build from scratch, and how we optimized both the Vertex AI calls and Dockerfile for fast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live demo! Show the audience AICRM running, run npm run vertex:deploy so they see Vertex AI block the deploy on the critical finding, then fix it live and deploy to Cloud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5CF6"/>
          </a:solidFill>
          <a:ln w="12700">
            <a:solidFill>
              <a:srgbClr val="8B5CF6"/>
            </a:solidFill>
            <a:prstDash val="solid"/>
          </a:ln>
        </p:spPr>
      </p:sp>
      <p:sp>
        <p:nvSpPr>
          <p:cNvPr id="3" name="Shape 1"/>
          <p:cNvSpPr/>
          <p:nvPr/>
        </p:nvSpPr>
        <p:spPr>
          <a:xfrm>
            <a:off x="731520" y="822960"/>
            <a:ext cx="3931920" cy="384048"/>
          </a:xfrm>
          <a:prstGeom prst="roundRect">
            <a:avLst>
              <a:gd name="adj" fmla="val 50000"/>
            </a:avLst>
          </a:prstGeom>
          <a:solidFill>
            <a:srgbClr val="1C1036"/>
          </a:solidFill>
          <a:ln w="15240">
            <a:solidFill>
              <a:srgbClr val="8B5CF6"/>
            </a:solidFill>
            <a:prstDash val="solid"/>
          </a:ln>
        </p:spPr>
      </p:sp>
      <p:sp>
        <p:nvSpPr>
          <p:cNvPr id="4" name="Text 2"/>
          <p:cNvSpPr/>
          <p:nvPr/>
        </p:nvSpPr>
        <p:spPr>
          <a:xfrm>
            <a:off x="731520" y="822960"/>
            <a:ext cx="3931920" cy="384048"/>
          </a:xfrm>
          <a:prstGeom prst="rect">
            <a:avLst/>
          </a:prstGeom>
          <a:noFill/>
          <a:ln/>
        </p:spPr>
        <p:txBody>
          <a:bodyPr wrap="square" rtlCol="0" anchor="ctr"/>
          <a:lstStyle/>
          <a:p>
            <a:pPr algn="ctr" indent="0" marL="0">
              <a:buNone/>
            </a:pPr>
            <a:r>
              <a:rPr lang="en-US" sz="950" b="1" dirty="0">
                <a:solidFill>
                  <a:srgbClr val="C084FC"/>
                </a:solidFill>
                <a:latin typeface="Segoe UI" pitchFamily="34" charset="0"/>
                <a:ea typeface="Segoe UI" pitchFamily="34" charset="-122"/>
                <a:cs typeface="Segoe UI" pitchFamily="34" charset="-120"/>
              </a:rPr>
              <a:t>GOOGLE DEVELOPER GROUP  •  WED, OCT 28, 2026</a:t>
            </a:r>
            <a:endParaRPr lang="en-US" sz="950" dirty="0"/>
          </a:p>
        </p:txBody>
      </p:sp>
      <p:sp>
        <p:nvSpPr>
          <p:cNvPr id="5" name="Text 3"/>
          <p:cNvSpPr/>
          <p:nvPr/>
        </p:nvSpPr>
        <p:spPr>
          <a:xfrm>
            <a:off x="731520" y="1508760"/>
            <a:ext cx="10789920" cy="1005840"/>
          </a:xfrm>
          <a:prstGeom prst="rect">
            <a:avLst/>
          </a:prstGeom>
          <a:noFill/>
          <a:ln/>
        </p:spPr>
        <p:txBody>
          <a:bodyPr wrap="square" rtlCol="0" anchor="ctr"/>
          <a:lstStyle/>
          <a:p>
            <a:pPr indent="0" marL="0">
              <a:buNone/>
            </a:pPr>
            <a:r>
              <a:rPr lang="en-US" sz="4400" b="1" dirty="0">
                <a:solidFill>
                  <a:srgbClr val="F8FAFC"/>
                </a:solidFill>
                <a:latin typeface="Segoe UI" pitchFamily="34" charset="0"/>
                <a:ea typeface="Segoe UI" pitchFamily="34" charset="-122"/>
                <a:cs typeface="Segoe UI" pitchFamily="34" charset="-120"/>
              </a:rPr>
              <a:t>Spec  →  Swarm  →  Software</a:t>
            </a:r>
            <a:endParaRPr lang="en-US" sz="4400" dirty="0"/>
          </a:p>
        </p:txBody>
      </p:sp>
      <p:sp>
        <p:nvSpPr>
          <p:cNvPr id="6" name="Text 4"/>
          <p:cNvSpPr/>
          <p:nvPr/>
        </p:nvSpPr>
        <p:spPr>
          <a:xfrm>
            <a:off x="731520" y="2560320"/>
            <a:ext cx="9875520" cy="822960"/>
          </a:xfrm>
          <a:prstGeom prst="rect">
            <a:avLst/>
          </a:prstGeom>
          <a:noFill/>
          <a:ln/>
        </p:spPr>
        <p:txBody>
          <a:bodyPr wrap="square" rtlCol="0" anchor="ctr"/>
          <a:lstStyle/>
          <a:p>
            <a:pPr indent="0" marL="0">
              <a:buNone/>
            </a:pPr>
            <a:r>
              <a:rPr lang="en-US" sz="1600" dirty="0">
                <a:solidFill>
                  <a:srgbClr val="E2E8F0"/>
                </a:solidFill>
                <a:latin typeface="Segoe UI" pitchFamily="34" charset="0"/>
                <a:ea typeface="Segoe UI" pitchFamily="34" charset="-122"/>
                <a:cs typeface="Segoe UI" pitchFamily="34" charset="-120"/>
              </a:rPr>
              <a:t>How we went from a Markdown Spec, built an app with a 4-Agent Coding Swarm,</a:t>
            </a:r>
            <a:endParaRPr lang="en-US" sz="1600" dirty="0"/>
          </a:p>
          <a:p>
            <a:pPr indent="0" marL="0">
              <a:buNone/>
            </a:pPr>
            <a:r>
              <a:rPr lang="en-US" sz="1600" dirty="0">
                <a:solidFill>
                  <a:srgbClr val="E2E8F0"/>
                </a:solidFill>
                <a:latin typeface="Segoe UI" pitchFamily="34" charset="0"/>
                <a:ea typeface="Segoe UI" pitchFamily="34" charset="-122"/>
                <a:cs typeface="Segoe UI" pitchFamily="34" charset="-120"/>
              </a:rPr>
              <a:t>and survived the trenches of Google Cloud Vertex AI &amp; Cloud Run deployment.</a:t>
            </a:r>
            <a:endParaRPr lang="en-US" sz="1600" dirty="0"/>
          </a:p>
        </p:txBody>
      </p:sp>
      <p:sp>
        <p:nvSpPr>
          <p:cNvPr id="7" name="Shape 5"/>
          <p:cNvSpPr/>
          <p:nvPr/>
        </p:nvSpPr>
        <p:spPr>
          <a:xfrm>
            <a:off x="731520" y="3886200"/>
            <a:ext cx="3429000" cy="2057400"/>
          </a:xfrm>
          <a:prstGeom prst="roundRect">
            <a:avLst>
              <a:gd name="adj" fmla="val 5333"/>
            </a:avLst>
          </a:prstGeom>
          <a:solidFill>
            <a:srgbClr val="130B24"/>
          </a:solidFill>
          <a:ln w="15240">
            <a:solidFill>
              <a:srgbClr val="8B5CF6"/>
            </a:solidFill>
            <a:prstDash val="solid"/>
          </a:ln>
        </p:spPr>
      </p:sp>
      <p:sp>
        <p:nvSpPr>
          <p:cNvPr id="8" name="Text 6"/>
          <p:cNvSpPr/>
          <p:nvPr/>
        </p:nvSpPr>
        <p:spPr>
          <a:xfrm>
            <a:off x="960120" y="4069080"/>
            <a:ext cx="2971800" cy="274320"/>
          </a:xfrm>
          <a:prstGeom prst="rect">
            <a:avLst/>
          </a:prstGeom>
          <a:noFill/>
          <a:ln/>
        </p:spPr>
        <p:txBody>
          <a:bodyPr wrap="square" rtlCol="0" anchor="ctr"/>
          <a:lstStyle/>
          <a:p>
            <a:pPr indent="0" marL="0">
              <a:buNone/>
            </a:pPr>
            <a:r>
              <a:rPr lang="en-US" sz="1000" b="1" spc="150" kern="0" dirty="0">
                <a:solidFill>
                  <a:srgbClr val="C084FC"/>
                </a:solidFill>
                <a:latin typeface="Segoe UI" pitchFamily="34" charset="0"/>
                <a:ea typeface="Segoe UI" pitchFamily="34" charset="-122"/>
                <a:cs typeface="Segoe UI" pitchFamily="34" charset="-120"/>
              </a:rPr>
              <a:t>01  THE SPEC</a:t>
            </a:r>
            <a:endParaRPr lang="en-US" sz="1000" dirty="0"/>
          </a:p>
        </p:txBody>
      </p:sp>
      <p:sp>
        <p:nvSpPr>
          <p:cNvPr id="9" name="Text 7"/>
          <p:cNvSpPr/>
          <p:nvPr/>
        </p:nvSpPr>
        <p:spPr>
          <a:xfrm>
            <a:off x="960120" y="4389120"/>
            <a:ext cx="2971800" cy="411480"/>
          </a:xfrm>
          <a:prstGeom prst="rect">
            <a:avLst/>
          </a:prstGeom>
          <a:noFill/>
          <a:ln/>
        </p:spPr>
        <p:txBody>
          <a:bodyPr wrap="square" rtlCol="0" anchor="ctr"/>
          <a:lstStyle/>
          <a:p>
            <a:pPr indent="0" marL="0">
              <a:buNone/>
            </a:pPr>
            <a:r>
              <a:rPr lang="en-US" sz="1550" b="1" dirty="0">
                <a:solidFill>
                  <a:srgbClr val="F8FAFC"/>
                </a:solidFill>
                <a:latin typeface="Segoe UI" pitchFamily="34" charset="0"/>
                <a:ea typeface="Segoe UI" pitchFamily="34" charset="-122"/>
                <a:cs typeface="Segoe UI" pitchFamily="34" charset="-120"/>
              </a:rPr>
              <a:t>SPEC.md Contract</a:t>
            </a:r>
            <a:endParaRPr lang="en-US" sz="1550" dirty="0"/>
          </a:p>
        </p:txBody>
      </p:sp>
      <p:sp>
        <p:nvSpPr>
          <p:cNvPr id="10" name="Text 8"/>
          <p:cNvSpPr/>
          <p:nvPr/>
        </p:nvSpPr>
        <p:spPr>
          <a:xfrm>
            <a:off x="960120" y="4846320"/>
            <a:ext cx="2971800" cy="868680"/>
          </a:xfrm>
          <a:prstGeom prst="rect">
            <a:avLst/>
          </a:prstGeom>
          <a:noFill/>
          <a:ln/>
        </p:spPr>
        <p:txBody>
          <a:bodyPr wrap="square" rtlCol="0" anchor="ctr"/>
          <a:lstStyle/>
          <a:p>
            <a:pPr indent="0" marL="0">
              <a:buNone/>
            </a:pPr>
            <a:r>
              <a:rPr lang="en-US" sz="1150" dirty="0">
                <a:solidFill>
                  <a:srgbClr val="94A3B8"/>
                </a:solidFill>
                <a:latin typeface="Segoe UI" pitchFamily="34" charset="0"/>
                <a:ea typeface="Segoe UI" pitchFamily="34" charset="-122"/>
                <a:cs typeface="Segoe UI" pitchFamily="34" charset="-120"/>
              </a:rPr>
              <a:t>Data models, 12 REST endpoints, atomic persistence &amp; strict acceptance criteria.</a:t>
            </a:r>
            <a:endParaRPr lang="en-US" sz="1150" dirty="0"/>
          </a:p>
        </p:txBody>
      </p:sp>
      <p:sp>
        <p:nvSpPr>
          <p:cNvPr id="11" name="Shape 9"/>
          <p:cNvSpPr/>
          <p:nvPr/>
        </p:nvSpPr>
        <p:spPr>
          <a:xfrm>
            <a:off x="4389120" y="3886200"/>
            <a:ext cx="3429000" cy="2057400"/>
          </a:xfrm>
          <a:prstGeom prst="roundRect">
            <a:avLst>
              <a:gd name="adj" fmla="val 5333"/>
            </a:avLst>
          </a:prstGeom>
          <a:solidFill>
            <a:srgbClr val="130B24"/>
          </a:solidFill>
          <a:ln w="15240">
            <a:solidFill>
              <a:srgbClr val="8B5CF6"/>
            </a:solidFill>
            <a:prstDash val="solid"/>
          </a:ln>
        </p:spPr>
      </p:sp>
      <p:sp>
        <p:nvSpPr>
          <p:cNvPr id="12" name="Text 10"/>
          <p:cNvSpPr/>
          <p:nvPr/>
        </p:nvSpPr>
        <p:spPr>
          <a:xfrm>
            <a:off x="4617720" y="4069080"/>
            <a:ext cx="2971800" cy="274320"/>
          </a:xfrm>
          <a:prstGeom prst="rect">
            <a:avLst/>
          </a:prstGeom>
          <a:noFill/>
          <a:ln/>
        </p:spPr>
        <p:txBody>
          <a:bodyPr wrap="square" rtlCol="0" anchor="ctr"/>
          <a:lstStyle/>
          <a:p>
            <a:pPr indent="0" marL="0">
              <a:buNone/>
            </a:pPr>
            <a:r>
              <a:rPr lang="en-US" sz="1000" b="1" spc="150" kern="0" dirty="0">
                <a:solidFill>
                  <a:srgbClr val="C084FC"/>
                </a:solidFill>
                <a:latin typeface="Segoe UI" pitchFamily="34" charset="0"/>
                <a:ea typeface="Segoe UI" pitchFamily="34" charset="-122"/>
                <a:cs typeface="Segoe UI" pitchFamily="34" charset="-120"/>
              </a:rPr>
              <a:t>02  THE SWARM</a:t>
            </a:r>
            <a:endParaRPr lang="en-US" sz="1000" dirty="0"/>
          </a:p>
        </p:txBody>
      </p:sp>
      <p:sp>
        <p:nvSpPr>
          <p:cNvPr id="13" name="Text 11"/>
          <p:cNvSpPr/>
          <p:nvPr/>
        </p:nvSpPr>
        <p:spPr>
          <a:xfrm>
            <a:off x="4617720" y="4389120"/>
            <a:ext cx="2971800" cy="411480"/>
          </a:xfrm>
          <a:prstGeom prst="rect">
            <a:avLst/>
          </a:prstGeom>
          <a:noFill/>
          <a:ln/>
        </p:spPr>
        <p:txBody>
          <a:bodyPr wrap="square" rtlCol="0" anchor="ctr"/>
          <a:lstStyle/>
          <a:p>
            <a:pPr indent="0" marL="0">
              <a:buNone/>
            </a:pPr>
            <a:r>
              <a:rPr lang="en-US" sz="1550" b="1" dirty="0">
                <a:solidFill>
                  <a:srgbClr val="F8FAFC"/>
                </a:solidFill>
                <a:latin typeface="Segoe UI" pitchFamily="34" charset="0"/>
                <a:ea typeface="Segoe UI" pitchFamily="34" charset="-122"/>
                <a:cs typeface="Segoe UI" pitchFamily="34" charset="-120"/>
              </a:rPr>
              <a:t>PO → Architect → Builder ↔ QA</a:t>
            </a:r>
            <a:endParaRPr lang="en-US" sz="1550" dirty="0"/>
          </a:p>
        </p:txBody>
      </p:sp>
      <p:sp>
        <p:nvSpPr>
          <p:cNvPr id="14" name="Text 12"/>
          <p:cNvSpPr/>
          <p:nvPr/>
        </p:nvSpPr>
        <p:spPr>
          <a:xfrm>
            <a:off x="4617720" y="4846320"/>
            <a:ext cx="2971800" cy="868680"/>
          </a:xfrm>
          <a:prstGeom prst="rect">
            <a:avLst/>
          </a:prstGeom>
          <a:noFill/>
          <a:ln/>
        </p:spPr>
        <p:txBody>
          <a:bodyPr wrap="square" rtlCol="0" anchor="ctr"/>
          <a:lstStyle/>
          <a:p>
            <a:pPr indent="0" marL="0">
              <a:buNone/>
            </a:pPr>
            <a:r>
              <a:rPr lang="en-US" sz="1150" dirty="0">
                <a:solidFill>
                  <a:srgbClr val="94A3B8"/>
                </a:solidFill>
                <a:latin typeface="Segoe UI" pitchFamily="34" charset="0"/>
                <a:ea typeface="Segoe UI" pitchFamily="34" charset="-122"/>
                <a:cs typeface="Segoe UI" pitchFamily="34" charset="-120"/>
              </a:rPr>
              <a:t>Autonomous 4-agent dev swarm with context budgets &amp; blocker-only QA gates.</a:t>
            </a:r>
            <a:endParaRPr lang="en-US" sz="1150" dirty="0"/>
          </a:p>
        </p:txBody>
      </p:sp>
      <p:sp>
        <p:nvSpPr>
          <p:cNvPr id="15" name="Shape 13"/>
          <p:cNvSpPr/>
          <p:nvPr/>
        </p:nvSpPr>
        <p:spPr>
          <a:xfrm>
            <a:off x="8046720" y="3886200"/>
            <a:ext cx="3429000" cy="2057400"/>
          </a:xfrm>
          <a:prstGeom prst="roundRect">
            <a:avLst>
              <a:gd name="adj" fmla="val 5333"/>
            </a:avLst>
          </a:prstGeom>
          <a:solidFill>
            <a:srgbClr val="130B24"/>
          </a:solidFill>
          <a:ln w="15240">
            <a:solidFill>
              <a:srgbClr val="8B5CF6"/>
            </a:solidFill>
            <a:prstDash val="solid"/>
          </a:ln>
        </p:spPr>
      </p:sp>
      <p:sp>
        <p:nvSpPr>
          <p:cNvPr id="16" name="Text 14"/>
          <p:cNvSpPr/>
          <p:nvPr/>
        </p:nvSpPr>
        <p:spPr>
          <a:xfrm>
            <a:off x="8275320" y="4069080"/>
            <a:ext cx="2971800" cy="274320"/>
          </a:xfrm>
          <a:prstGeom prst="rect">
            <a:avLst/>
          </a:prstGeom>
          <a:noFill/>
          <a:ln/>
        </p:spPr>
        <p:txBody>
          <a:bodyPr wrap="square" rtlCol="0" anchor="ctr"/>
          <a:lstStyle/>
          <a:p>
            <a:pPr indent="0" marL="0">
              <a:buNone/>
            </a:pPr>
            <a:r>
              <a:rPr lang="en-US" sz="1000" b="1" spc="150" kern="0" dirty="0">
                <a:solidFill>
                  <a:srgbClr val="C084FC"/>
                </a:solidFill>
                <a:latin typeface="Segoe UI" pitchFamily="34" charset="0"/>
                <a:ea typeface="Segoe UI" pitchFamily="34" charset="-122"/>
                <a:cs typeface="Segoe UI" pitchFamily="34" charset="-120"/>
              </a:rPr>
              <a:t>03  VERTEX AI</a:t>
            </a:r>
            <a:endParaRPr lang="en-US" sz="1000" dirty="0"/>
          </a:p>
        </p:txBody>
      </p:sp>
      <p:sp>
        <p:nvSpPr>
          <p:cNvPr id="17" name="Text 15"/>
          <p:cNvSpPr/>
          <p:nvPr/>
        </p:nvSpPr>
        <p:spPr>
          <a:xfrm>
            <a:off x="8275320" y="4389120"/>
            <a:ext cx="2971800" cy="411480"/>
          </a:xfrm>
          <a:prstGeom prst="rect">
            <a:avLst/>
          </a:prstGeom>
          <a:noFill/>
          <a:ln/>
        </p:spPr>
        <p:txBody>
          <a:bodyPr wrap="square" rtlCol="0" anchor="ctr"/>
          <a:lstStyle/>
          <a:p>
            <a:pPr indent="0" marL="0">
              <a:buNone/>
            </a:pPr>
            <a:r>
              <a:rPr lang="en-US" sz="1550" b="1" dirty="0">
                <a:solidFill>
                  <a:srgbClr val="F8FAFC"/>
                </a:solidFill>
                <a:latin typeface="Segoe UI" pitchFamily="34" charset="0"/>
                <a:ea typeface="Segoe UI" pitchFamily="34" charset="-122"/>
                <a:cs typeface="Segoe UI" pitchFamily="34" charset="-120"/>
              </a:rPr>
              <a:t>Review, Test Gen &amp; Cloud Run</a:t>
            </a:r>
            <a:endParaRPr lang="en-US" sz="1550" dirty="0"/>
          </a:p>
        </p:txBody>
      </p:sp>
      <p:sp>
        <p:nvSpPr>
          <p:cNvPr id="18" name="Text 16"/>
          <p:cNvSpPr/>
          <p:nvPr/>
        </p:nvSpPr>
        <p:spPr>
          <a:xfrm>
            <a:off x="8275320" y="4846320"/>
            <a:ext cx="2971800" cy="868680"/>
          </a:xfrm>
          <a:prstGeom prst="rect">
            <a:avLst/>
          </a:prstGeom>
          <a:noFill/>
          <a:ln/>
        </p:spPr>
        <p:txBody>
          <a:bodyPr wrap="square" rtlCol="0" anchor="ctr"/>
          <a:lstStyle/>
          <a:p>
            <a:pPr indent="0" marL="0">
              <a:buNone/>
            </a:pPr>
            <a:r>
              <a:rPr lang="en-US" sz="1150" dirty="0">
                <a:solidFill>
                  <a:srgbClr val="94A3B8"/>
                </a:solidFill>
                <a:latin typeface="Segoe UI" pitchFamily="34" charset="0"/>
                <a:ea typeface="Segoe UI" pitchFamily="34" charset="-122"/>
                <a:cs typeface="Segoe UI" pitchFamily="34" charset="-120"/>
              </a:rPr>
              <a:t>4-stage Vertex AI pipeline that audits code, writes tests, diagnoses bugs &amp; deploys.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2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THE PROBLEM &amp; THE PIPELINE</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Why Single-Prompt "Vibe Coding" Breaks on Real Software</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Moving from ad-hoc chat prompts to a repeatable Spec → Swarm → Vertex AI engineering pipeline.</a:t>
            </a:r>
            <a:endParaRPr lang="en-US" sz="1250" dirty="0"/>
          </a:p>
        </p:txBody>
      </p:sp>
      <p:sp>
        <p:nvSpPr>
          <p:cNvPr id="11" name="Shape 9"/>
          <p:cNvSpPr/>
          <p:nvPr/>
        </p:nvSpPr>
        <p:spPr>
          <a:xfrm>
            <a:off x="548640" y="1508760"/>
            <a:ext cx="5303520" cy="4572000"/>
          </a:xfrm>
          <a:prstGeom prst="roundRect">
            <a:avLst>
              <a:gd name="adj" fmla="val 2400"/>
            </a:avLst>
          </a:prstGeom>
          <a:solidFill>
            <a:srgbClr val="130B24"/>
          </a:solidFill>
          <a:ln w="15240">
            <a:solidFill>
              <a:srgbClr val="F43F5E"/>
            </a:solidFill>
            <a:prstDash val="solid"/>
          </a:ln>
        </p:spPr>
      </p:sp>
      <p:sp>
        <p:nvSpPr>
          <p:cNvPr id="12" name="Text 10"/>
          <p:cNvSpPr/>
          <p:nvPr/>
        </p:nvSpPr>
        <p:spPr>
          <a:xfrm>
            <a:off x="822960" y="1737360"/>
            <a:ext cx="4754880" cy="365760"/>
          </a:xfrm>
          <a:prstGeom prst="rect">
            <a:avLst/>
          </a:prstGeom>
          <a:noFill/>
          <a:ln/>
        </p:spPr>
        <p:txBody>
          <a:bodyPr wrap="square" rtlCol="0" anchor="ctr"/>
          <a:lstStyle/>
          <a:p>
            <a:pPr indent="0" marL="0">
              <a:buNone/>
            </a:pPr>
            <a:r>
              <a:rPr lang="en-US" sz="1600" b="1" dirty="0">
                <a:solidFill>
                  <a:srgbClr val="F43F5E"/>
                </a:solidFill>
                <a:latin typeface="Segoe UI" pitchFamily="34" charset="0"/>
                <a:ea typeface="Segoe UI" pitchFamily="34" charset="-122"/>
                <a:cs typeface="Segoe UI" pitchFamily="34" charset="-120"/>
              </a:rPr>
              <a:t>❌  Ad-Hoc Prompting ("Vibe Coding")</a:t>
            </a:r>
            <a:endParaRPr lang="en-US" sz="1600" dirty="0"/>
          </a:p>
        </p:txBody>
      </p:sp>
      <p:sp>
        <p:nvSpPr>
          <p:cNvPr id="13" name="Text 11"/>
          <p:cNvSpPr/>
          <p:nvPr/>
        </p:nvSpPr>
        <p:spPr>
          <a:xfrm>
            <a:off x="822960" y="2286000"/>
            <a:ext cx="4754880" cy="3474720"/>
          </a:xfrm>
          <a:prstGeom prst="rect">
            <a:avLst/>
          </a:prstGeom>
          <a:noFill/>
          <a:ln/>
        </p:spPr>
        <p:txBody>
          <a:bodyPr wrap="square" rtlCol="0" anchor="t"/>
          <a:lstStyle/>
          <a:p>
            <a:pPr indent="0" marL="0">
              <a:buNone/>
            </a:pPr>
            <a:r>
              <a:rPr lang="en-US" sz="1250" b="1" dirty="0">
                <a:solidFill>
                  <a:srgbClr val="F8FAFC"/>
                </a:solidFill>
                <a:latin typeface="Segoe UI" pitchFamily="34" charset="0"/>
                <a:ea typeface="Segoe UI" pitchFamily="34" charset="-122"/>
                <a:cs typeface="Segoe UI" pitchFamily="34" charset="-120"/>
              </a:rPr>
              <a:t>• Ambiguous Requirements: </a:t>
            </a:r>
            <a:pPr indent="0" marL="0">
              <a:buNone/>
            </a:pPr>
            <a:r>
              <a:rPr lang="en-US" sz="1250" dirty="0">
                <a:solidFill>
                  <a:srgbClr val="E2E8F0"/>
                </a:solidFill>
                <a:latin typeface="Segoe UI" pitchFamily="34" charset="0"/>
                <a:ea typeface="Segoe UI" pitchFamily="34" charset="-122"/>
                <a:cs typeface="Segoe UI" pitchFamily="34" charset="-120"/>
              </a:rPr>
              <a:t>The model guesses your data schema and API routes differently on every turn.
</a:t>
            </a:r>
            <a:pPr indent="0" marL="0">
              <a:buNone/>
            </a:pPr>
            <a:r>
              <a:rPr lang="en-US" sz="1250" b="1" dirty="0">
                <a:solidFill>
                  <a:srgbClr val="F8FAFC"/>
                </a:solidFill>
                <a:latin typeface="Segoe UI" pitchFamily="34" charset="0"/>
                <a:ea typeface="Segoe UI" pitchFamily="34" charset="-122"/>
                <a:cs typeface="Segoe UI" pitchFamily="34" charset="-120"/>
              </a:rPr>
              <a:t>• Context Window Bloat: </a:t>
            </a:r>
            <a:pPr indent="0" marL="0">
              <a:buNone/>
            </a:pPr>
            <a:r>
              <a:rPr lang="en-US" sz="1250" dirty="0">
                <a:solidFill>
                  <a:srgbClr val="E2E8F0"/>
                </a:solidFill>
                <a:latin typeface="Segoe UI" pitchFamily="34" charset="0"/>
                <a:ea typeface="Segoe UI" pitchFamily="34" charset="-122"/>
                <a:cs typeface="Segoe UI" pitchFamily="34" charset="-120"/>
              </a:rPr>
              <a:t>One giant chat session mixes product decisions, architecture, coding, and debugging.
</a:t>
            </a:r>
            <a:pPr indent="0" marL="0">
              <a:buNone/>
            </a:pPr>
            <a:r>
              <a:rPr lang="en-US" sz="1250" b="1" dirty="0">
                <a:solidFill>
                  <a:srgbClr val="F8FAFC"/>
                </a:solidFill>
                <a:latin typeface="Segoe UI" pitchFamily="34" charset="0"/>
                <a:ea typeface="Segoe UI" pitchFamily="34" charset="-122"/>
                <a:cs typeface="Segoe UI" pitchFamily="34" charset="-120"/>
              </a:rPr>
              <a:t>• Endless Nitpick Loops: </a:t>
            </a:r>
            <a:pPr indent="0" marL="0">
              <a:buNone/>
            </a:pPr>
            <a:r>
              <a:rPr lang="en-US" sz="1250" dirty="0">
                <a:solidFill>
                  <a:srgbClr val="E2E8F0"/>
                </a:solidFill>
                <a:latin typeface="Segoe UI" pitchFamily="34" charset="0"/>
                <a:ea typeface="Segoe UI" pitchFamily="34" charset="-122"/>
                <a:cs typeface="Segoe UI" pitchFamily="34" charset="-120"/>
              </a:rPr>
              <a:t>Agents rewrite working code to fix imaginary style issues while breaking core endpoints.
</a:t>
            </a:r>
            <a:pPr indent="0" marL="0">
              <a:buNone/>
            </a:pPr>
            <a:r>
              <a:rPr lang="en-US" sz="1250" b="1" dirty="0">
                <a:solidFill>
                  <a:srgbClr val="F8FAFC"/>
                </a:solidFill>
                <a:latin typeface="Segoe UI" pitchFamily="34" charset="0"/>
                <a:ea typeface="Segoe UI" pitchFamily="34" charset="-122"/>
                <a:cs typeface="Segoe UI" pitchFamily="34" charset="-120"/>
              </a:rPr>
              <a:t>• "It Works on My Machine": </a:t>
            </a:r>
            <a:pPr indent="0" marL="0">
              <a:buNone/>
            </a:pPr>
            <a:r>
              <a:rPr lang="en-US" sz="1250" dirty="0">
                <a:solidFill>
                  <a:srgbClr val="E2E8F0"/>
                </a:solidFill>
                <a:latin typeface="Segoe UI" pitchFamily="34" charset="0"/>
                <a:ea typeface="Segoe UI" pitchFamily="34" charset="-122"/>
                <a:cs typeface="Segoe UI" pitchFamily="34" charset="-120"/>
              </a:rPr>
              <a:t>Zero automated security review, edge-case test generation, or deployment gating.</a:t>
            </a:r>
            <a:endParaRPr lang="en-US" sz="1250" dirty="0"/>
          </a:p>
        </p:txBody>
      </p:sp>
      <p:sp>
        <p:nvSpPr>
          <p:cNvPr id="14" name="Shape 12"/>
          <p:cNvSpPr/>
          <p:nvPr/>
        </p:nvSpPr>
        <p:spPr>
          <a:xfrm>
            <a:off x="6217920" y="1508760"/>
            <a:ext cx="5394960" cy="4572000"/>
          </a:xfrm>
          <a:prstGeom prst="roundRect">
            <a:avLst>
              <a:gd name="adj" fmla="val 2400"/>
            </a:avLst>
          </a:prstGeom>
          <a:solidFill>
            <a:srgbClr val="1C1036"/>
          </a:solidFill>
          <a:ln w="19050">
            <a:solidFill>
              <a:srgbClr val="A855F7"/>
            </a:solidFill>
            <a:prstDash val="solid"/>
          </a:ln>
        </p:spPr>
      </p:sp>
      <p:sp>
        <p:nvSpPr>
          <p:cNvPr id="15" name="Text 13"/>
          <p:cNvSpPr/>
          <p:nvPr/>
        </p:nvSpPr>
        <p:spPr>
          <a:xfrm>
            <a:off x="6492240" y="1737360"/>
            <a:ext cx="4846320" cy="365760"/>
          </a:xfrm>
          <a:prstGeom prst="rect">
            <a:avLst/>
          </a:prstGeom>
          <a:noFill/>
          <a:ln/>
        </p:spPr>
        <p:txBody>
          <a:bodyPr wrap="square" rtlCol="0" anchor="ctr"/>
          <a:lstStyle/>
          <a:p>
            <a:pPr indent="0" marL="0">
              <a:buNone/>
            </a:pPr>
            <a:r>
              <a:rPr lang="en-US" sz="1600" b="1" dirty="0">
                <a:solidFill>
                  <a:srgbClr val="C084FC"/>
                </a:solidFill>
                <a:latin typeface="Segoe UI" pitchFamily="34" charset="0"/>
                <a:ea typeface="Segoe UI" pitchFamily="34" charset="-122"/>
                <a:cs typeface="Segoe UI" pitchFamily="34" charset="-120"/>
              </a:rPr>
              <a:t>✅  Spec → Swarm → Vertex AI Pipeline</a:t>
            </a:r>
            <a:endParaRPr lang="en-US" sz="1600" dirty="0"/>
          </a:p>
        </p:txBody>
      </p:sp>
      <p:sp>
        <p:nvSpPr>
          <p:cNvPr id="16" name="Text 14"/>
          <p:cNvSpPr/>
          <p:nvPr/>
        </p:nvSpPr>
        <p:spPr>
          <a:xfrm>
            <a:off x="6492240" y="2286000"/>
            <a:ext cx="4846320" cy="3474720"/>
          </a:xfrm>
          <a:prstGeom prst="rect">
            <a:avLst/>
          </a:prstGeom>
          <a:noFill/>
          <a:ln/>
        </p:spPr>
        <p:txBody>
          <a:bodyPr wrap="square" rtlCol="0" anchor="t"/>
          <a:lstStyle/>
          <a:p>
            <a:pPr indent="0" marL="0">
              <a:buNone/>
            </a:pPr>
            <a:r>
              <a:rPr lang="en-US" sz="1250" b="1" dirty="0">
                <a:solidFill>
                  <a:srgbClr val="F8FAFC"/>
                </a:solidFill>
                <a:latin typeface="Segoe UI" pitchFamily="34" charset="0"/>
                <a:ea typeface="Segoe UI" pitchFamily="34" charset="-122"/>
                <a:cs typeface="Segoe UI" pitchFamily="34" charset="-120"/>
              </a:rPr>
              <a:t>1. Markdown Spec as Source of Truth: </a:t>
            </a:r>
            <a:pPr indent="0" marL="0">
              <a:buNone/>
            </a:pPr>
            <a:r>
              <a:rPr lang="en-US" sz="1250" dirty="0">
                <a:solidFill>
                  <a:srgbClr val="E2E8F0"/>
                </a:solidFill>
                <a:latin typeface="Segoe UI" pitchFamily="34" charset="0"/>
                <a:ea typeface="Segoe UI" pitchFamily="34" charset="-122"/>
                <a:cs typeface="Segoe UI" pitchFamily="34" charset="-120"/>
              </a:rPr>
              <a:t>Explicit TypeScript interfaces, REST routes, and persistence rules in SPEC.md.
</a:t>
            </a:r>
            <a:pPr indent="0" marL="0">
              <a:buNone/>
            </a:pPr>
            <a:r>
              <a:rPr lang="en-US" sz="1250" b="1" dirty="0">
                <a:solidFill>
                  <a:srgbClr val="F8FAFC"/>
                </a:solidFill>
                <a:latin typeface="Segoe UI" pitchFamily="34" charset="0"/>
                <a:ea typeface="Segoe UI" pitchFamily="34" charset="-122"/>
                <a:cs typeface="Segoe UI" pitchFamily="34" charset="-120"/>
              </a:rPr>
              <a:t>2. Role-Specialized 4-Agent Swarm: </a:t>
            </a:r>
            <a:pPr indent="0" marL="0">
              <a:buNone/>
            </a:pPr>
            <a:r>
              <a:rPr lang="en-US" sz="1250" dirty="0">
                <a:solidFill>
                  <a:srgbClr val="E2E8F0"/>
                </a:solidFill>
                <a:latin typeface="Segoe UI" pitchFamily="34" charset="0"/>
                <a:ea typeface="Segoe UI" pitchFamily="34" charset="-122"/>
                <a:cs typeface="Segoe UI" pitchFamily="34" charset="-120"/>
              </a:rPr>
              <a:t>PO defines Work Packages → Architect maps exact file:line pointers → Builder codes → QA verifies.
</a:t>
            </a:r>
            <a:pPr indent="0" marL="0">
              <a:buNone/>
            </a:pPr>
            <a:r>
              <a:rPr lang="en-US" sz="1250" b="1" dirty="0">
                <a:solidFill>
                  <a:srgbClr val="F8FAFC"/>
                </a:solidFill>
                <a:latin typeface="Segoe UI" pitchFamily="34" charset="0"/>
                <a:ea typeface="Segoe UI" pitchFamily="34" charset="-122"/>
                <a:cs typeface="Segoe UI" pitchFamily="34" charset="-120"/>
              </a:rPr>
              <a:t>3. Vertex AI Pre-Deployment Gate: </a:t>
            </a:r>
            <a:pPr indent="0" marL="0">
              <a:buNone/>
            </a:pPr>
            <a:r>
              <a:rPr lang="en-US" sz="1250" dirty="0">
                <a:solidFill>
                  <a:srgbClr val="E2E8F0"/>
                </a:solidFill>
                <a:latin typeface="Segoe UI" pitchFamily="34" charset="0"/>
                <a:ea typeface="Segoe UI" pitchFamily="34" charset="-122"/>
                <a:cs typeface="Segoe UI" pitchFamily="34" charset="-120"/>
              </a:rPr>
              <a:t>Audits code against SPEC.md, auto-generates Vitest suites, and blocks bad deploys.
</a:t>
            </a:r>
            <a:pPr indent="0" marL="0">
              <a:buNone/>
            </a:pPr>
            <a:r>
              <a:rPr lang="en-US" sz="1250" b="1" dirty="0">
                <a:solidFill>
                  <a:srgbClr val="F8FAFC"/>
                </a:solidFill>
                <a:latin typeface="Segoe UI" pitchFamily="34" charset="0"/>
                <a:ea typeface="Segoe UI" pitchFamily="34" charset="-122"/>
                <a:cs typeface="Segoe UI" pitchFamily="34" charset="-120"/>
              </a:rPr>
              <a:t>4. Serverless Cloud Run Delivery: </a:t>
            </a:r>
            <a:pPr indent="0" marL="0">
              <a:buNone/>
            </a:pPr>
            <a:r>
              <a:rPr lang="en-US" sz="1250" dirty="0">
                <a:solidFill>
                  <a:srgbClr val="E2E8F0"/>
                </a:solidFill>
                <a:latin typeface="Segoe UI" pitchFamily="34" charset="0"/>
                <a:ea typeface="Segoe UI" pitchFamily="34" charset="-122"/>
                <a:cs typeface="Segoe UI" pitchFamily="34" charset="-120"/>
              </a:rPr>
              <a:t>One command packages and deploys the verified container live to Google Cloud Run.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3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ACT I • WRITING THE SPECIFICATION</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How to Write a Spec That Agents Actually Follow</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A great SPEC.md is short, unambiguous, and defines contracts rather than implementation prose.</a:t>
            </a:r>
            <a:endParaRPr lang="en-US" sz="1250" dirty="0"/>
          </a:p>
        </p:txBody>
      </p:sp>
      <p:sp>
        <p:nvSpPr>
          <p:cNvPr id="11" name="Shape 9"/>
          <p:cNvSpPr/>
          <p:nvPr/>
        </p:nvSpPr>
        <p:spPr>
          <a:xfrm>
            <a:off x="548640" y="1508760"/>
            <a:ext cx="5440680" cy="2103120"/>
          </a:xfrm>
          <a:prstGeom prst="roundRect">
            <a:avLst>
              <a:gd name="adj" fmla="val 4348"/>
            </a:avLst>
          </a:prstGeom>
          <a:solidFill>
            <a:srgbClr val="130B24"/>
          </a:solidFill>
          <a:ln w="15240">
            <a:solidFill>
              <a:srgbClr val="8B5CF6"/>
            </a:solidFill>
            <a:prstDash val="solid"/>
          </a:ln>
        </p:spPr>
      </p:sp>
      <p:sp>
        <p:nvSpPr>
          <p:cNvPr id="12" name="Shape 10"/>
          <p:cNvSpPr/>
          <p:nvPr/>
        </p:nvSpPr>
        <p:spPr>
          <a:xfrm>
            <a:off x="777240" y="1737360"/>
            <a:ext cx="594360" cy="411480"/>
          </a:xfrm>
          <a:prstGeom prst="roundRect">
            <a:avLst>
              <a:gd name="adj" fmla="val 17778"/>
            </a:avLst>
          </a:prstGeom>
          <a:solidFill>
            <a:srgbClr val="8B5CF6"/>
          </a:solidFill>
          <a:ln w="12700">
            <a:solidFill>
              <a:srgbClr val="8B5CF6"/>
            </a:solidFill>
            <a:prstDash val="solid"/>
          </a:ln>
        </p:spPr>
      </p:sp>
      <p:sp>
        <p:nvSpPr>
          <p:cNvPr id="13" name="Text 11"/>
          <p:cNvSpPr/>
          <p:nvPr/>
        </p:nvSpPr>
        <p:spPr>
          <a:xfrm>
            <a:off x="777240" y="1737360"/>
            <a:ext cx="594360" cy="411480"/>
          </a:xfrm>
          <a:prstGeom prst="rect">
            <a:avLst/>
          </a:prstGeom>
          <a:noFill/>
          <a:ln/>
        </p:spPr>
        <p:txBody>
          <a:bodyPr wrap="square" rtlCol="0" anchor="ctr"/>
          <a:lstStyle/>
          <a:p>
            <a:pPr algn="ctr" indent="0" marL="0">
              <a:buNone/>
            </a:pPr>
            <a:r>
              <a:rPr lang="en-US" sz="1300" b="1" dirty="0">
                <a:solidFill>
                  <a:srgbClr val="F8FAFC"/>
                </a:solidFill>
                <a:latin typeface="Segoe UI" pitchFamily="34" charset="0"/>
                <a:ea typeface="Segoe UI" pitchFamily="34" charset="-122"/>
                <a:cs typeface="Segoe UI" pitchFamily="34" charset="-120"/>
              </a:rPr>
              <a:t>01</a:t>
            </a:r>
            <a:endParaRPr lang="en-US" sz="1300" dirty="0"/>
          </a:p>
        </p:txBody>
      </p:sp>
      <p:sp>
        <p:nvSpPr>
          <p:cNvPr id="14" name="Text 12"/>
          <p:cNvSpPr/>
          <p:nvPr/>
        </p:nvSpPr>
        <p:spPr>
          <a:xfrm>
            <a:off x="1508760" y="1737360"/>
            <a:ext cx="4251960" cy="411480"/>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1-Paragraph Overview &amp; User Loop</a:t>
            </a:r>
            <a:endParaRPr lang="en-US" sz="1500" dirty="0"/>
          </a:p>
        </p:txBody>
      </p:sp>
      <p:sp>
        <p:nvSpPr>
          <p:cNvPr id="15" name="Text 13"/>
          <p:cNvSpPr/>
          <p:nvPr/>
        </p:nvSpPr>
        <p:spPr>
          <a:xfrm>
            <a:off x="777240" y="2286000"/>
            <a:ext cx="4983480" cy="1097280"/>
          </a:xfrm>
          <a:prstGeom prst="rect">
            <a:avLst/>
          </a:prstGeom>
          <a:noFill/>
          <a:ln/>
        </p:spPr>
        <p:txBody>
          <a:bodyPr wrap="square" rtlCol="0" anchor="t"/>
          <a:lstStyle/>
          <a:p>
            <a:pPr indent="0" marL="0">
              <a:buNone/>
            </a:pPr>
            <a:r>
              <a:rPr lang="en-US" sz="1200" dirty="0">
                <a:solidFill>
                  <a:srgbClr val="E2E8F0"/>
                </a:solidFill>
                <a:latin typeface="Segoe UI" pitchFamily="34" charset="0"/>
                <a:ea typeface="Segoe UI" pitchFamily="34" charset="-122"/>
                <a:cs typeface="Segoe UI" pitchFamily="34" charset="-120"/>
              </a:rPr>
              <a:t>Define who logs in, what action they trigger (e.g. "KC Plumbers within 25 miles"), and the exact outcome (20 structured leads saved to local storage).</a:t>
            </a:r>
            <a:endParaRPr lang="en-US" sz="1200" dirty="0"/>
          </a:p>
        </p:txBody>
      </p:sp>
      <p:sp>
        <p:nvSpPr>
          <p:cNvPr id="16" name="Shape 14"/>
          <p:cNvSpPr/>
          <p:nvPr/>
        </p:nvSpPr>
        <p:spPr>
          <a:xfrm>
            <a:off x="6172200" y="1508760"/>
            <a:ext cx="5440680" cy="2103120"/>
          </a:xfrm>
          <a:prstGeom prst="roundRect">
            <a:avLst>
              <a:gd name="adj" fmla="val 4348"/>
            </a:avLst>
          </a:prstGeom>
          <a:solidFill>
            <a:srgbClr val="130B24"/>
          </a:solidFill>
          <a:ln w="15240">
            <a:solidFill>
              <a:srgbClr val="8B5CF6"/>
            </a:solidFill>
            <a:prstDash val="solid"/>
          </a:ln>
        </p:spPr>
      </p:sp>
      <p:sp>
        <p:nvSpPr>
          <p:cNvPr id="17" name="Shape 15"/>
          <p:cNvSpPr/>
          <p:nvPr/>
        </p:nvSpPr>
        <p:spPr>
          <a:xfrm>
            <a:off x="6400800" y="1737360"/>
            <a:ext cx="594360" cy="411480"/>
          </a:xfrm>
          <a:prstGeom prst="roundRect">
            <a:avLst>
              <a:gd name="adj" fmla="val 17778"/>
            </a:avLst>
          </a:prstGeom>
          <a:solidFill>
            <a:srgbClr val="8B5CF6"/>
          </a:solidFill>
          <a:ln w="12700">
            <a:solidFill>
              <a:srgbClr val="8B5CF6"/>
            </a:solidFill>
            <a:prstDash val="solid"/>
          </a:ln>
        </p:spPr>
      </p:sp>
      <p:sp>
        <p:nvSpPr>
          <p:cNvPr id="18" name="Text 16"/>
          <p:cNvSpPr/>
          <p:nvPr/>
        </p:nvSpPr>
        <p:spPr>
          <a:xfrm>
            <a:off x="6400800" y="1737360"/>
            <a:ext cx="594360" cy="411480"/>
          </a:xfrm>
          <a:prstGeom prst="rect">
            <a:avLst/>
          </a:prstGeom>
          <a:noFill/>
          <a:ln/>
        </p:spPr>
        <p:txBody>
          <a:bodyPr wrap="square" rtlCol="0" anchor="ctr"/>
          <a:lstStyle/>
          <a:p>
            <a:pPr algn="ctr" indent="0" marL="0">
              <a:buNone/>
            </a:pPr>
            <a:r>
              <a:rPr lang="en-US" sz="1300" b="1" dirty="0">
                <a:solidFill>
                  <a:srgbClr val="F8FAFC"/>
                </a:solidFill>
                <a:latin typeface="Segoe UI" pitchFamily="34" charset="0"/>
                <a:ea typeface="Segoe UI" pitchFamily="34" charset="-122"/>
                <a:cs typeface="Segoe UI" pitchFamily="34" charset="-120"/>
              </a:rPr>
              <a:t>02</a:t>
            </a:r>
            <a:endParaRPr lang="en-US" sz="1300" dirty="0"/>
          </a:p>
        </p:txBody>
      </p:sp>
      <p:sp>
        <p:nvSpPr>
          <p:cNvPr id="19" name="Text 17"/>
          <p:cNvSpPr/>
          <p:nvPr/>
        </p:nvSpPr>
        <p:spPr>
          <a:xfrm>
            <a:off x="7132320" y="1737360"/>
            <a:ext cx="4251960" cy="411480"/>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Explicit Stack &amp; Non-Functional Rules</a:t>
            </a:r>
            <a:endParaRPr lang="en-US" sz="1500" dirty="0"/>
          </a:p>
        </p:txBody>
      </p:sp>
      <p:sp>
        <p:nvSpPr>
          <p:cNvPr id="20" name="Text 18"/>
          <p:cNvSpPr/>
          <p:nvPr/>
        </p:nvSpPr>
        <p:spPr>
          <a:xfrm>
            <a:off x="6400800" y="2286000"/>
            <a:ext cx="4983480" cy="1097280"/>
          </a:xfrm>
          <a:prstGeom prst="rect">
            <a:avLst/>
          </a:prstGeom>
          <a:noFill/>
          <a:ln/>
        </p:spPr>
        <p:txBody>
          <a:bodyPr wrap="square" rtlCol="0" anchor="t"/>
          <a:lstStyle/>
          <a:p>
            <a:pPr indent="0" marL="0">
              <a:buNone/>
            </a:pPr>
            <a:r>
              <a:rPr lang="en-US" sz="1200" dirty="0">
                <a:solidFill>
                  <a:srgbClr val="E2E8F0"/>
                </a:solidFill>
                <a:latin typeface="Segoe UI" pitchFamily="34" charset="0"/>
                <a:ea typeface="Segoe UI" pitchFamily="34" charset="-122"/>
                <a:cs typeface="Segoe UI" pitchFamily="34" charset="-120"/>
              </a:rPr>
              <a:t>Lock down versions &amp; invariants upfront: React 19, Vite, Tailwind, Express + TypeScript, and atomic file writes (write to .tmp then rename).</a:t>
            </a:r>
            <a:endParaRPr lang="en-US" sz="1200" dirty="0"/>
          </a:p>
        </p:txBody>
      </p:sp>
      <p:sp>
        <p:nvSpPr>
          <p:cNvPr id="21" name="Shape 19"/>
          <p:cNvSpPr/>
          <p:nvPr/>
        </p:nvSpPr>
        <p:spPr>
          <a:xfrm>
            <a:off x="548640" y="3840480"/>
            <a:ext cx="5440680" cy="2103120"/>
          </a:xfrm>
          <a:prstGeom prst="roundRect">
            <a:avLst>
              <a:gd name="adj" fmla="val 4348"/>
            </a:avLst>
          </a:prstGeom>
          <a:solidFill>
            <a:srgbClr val="130B24"/>
          </a:solidFill>
          <a:ln w="15240">
            <a:solidFill>
              <a:srgbClr val="8B5CF6"/>
            </a:solidFill>
            <a:prstDash val="solid"/>
          </a:ln>
        </p:spPr>
      </p:sp>
      <p:sp>
        <p:nvSpPr>
          <p:cNvPr id="22" name="Shape 20"/>
          <p:cNvSpPr/>
          <p:nvPr/>
        </p:nvSpPr>
        <p:spPr>
          <a:xfrm>
            <a:off x="777240" y="4069080"/>
            <a:ext cx="594360" cy="411480"/>
          </a:xfrm>
          <a:prstGeom prst="roundRect">
            <a:avLst>
              <a:gd name="adj" fmla="val 17778"/>
            </a:avLst>
          </a:prstGeom>
          <a:solidFill>
            <a:srgbClr val="8B5CF6"/>
          </a:solidFill>
          <a:ln w="12700">
            <a:solidFill>
              <a:srgbClr val="8B5CF6"/>
            </a:solidFill>
            <a:prstDash val="solid"/>
          </a:ln>
        </p:spPr>
      </p:sp>
      <p:sp>
        <p:nvSpPr>
          <p:cNvPr id="23" name="Text 21"/>
          <p:cNvSpPr/>
          <p:nvPr/>
        </p:nvSpPr>
        <p:spPr>
          <a:xfrm>
            <a:off x="777240" y="4069080"/>
            <a:ext cx="594360" cy="411480"/>
          </a:xfrm>
          <a:prstGeom prst="rect">
            <a:avLst/>
          </a:prstGeom>
          <a:noFill/>
          <a:ln/>
        </p:spPr>
        <p:txBody>
          <a:bodyPr wrap="square" rtlCol="0" anchor="ctr"/>
          <a:lstStyle/>
          <a:p>
            <a:pPr algn="ctr" indent="0" marL="0">
              <a:buNone/>
            </a:pPr>
            <a:r>
              <a:rPr lang="en-US" sz="1300" b="1" dirty="0">
                <a:solidFill>
                  <a:srgbClr val="F8FAFC"/>
                </a:solidFill>
                <a:latin typeface="Segoe UI" pitchFamily="34" charset="0"/>
                <a:ea typeface="Segoe UI" pitchFamily="34" charset="-122"/>
                <a:cs typeface="Segoe UI" pitchFamily="34" charset="-120"/>
              </a:rPr>
              <a:t>03</a:t>
            </a:r>
            <a:endParaRPr lang="en-US" sz="1300" dirty="0"/>
          </a:p>
        </p:txBody>
      </p:sp>
      <p:sp>
        <p:nvSpPr>
          <p:cNvPr id="24" name="Text 22"/>
          <p:cNvSpPr/>
          <p:nvPr/>
        </p:nvSpPr>
        <p:spPr>
          <a:xfrm>
            <a:off x="1508760" y="4069080"/>
            <a:ext cx="4251960" cy="411480"/>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Strict Data Models (Field-by-Field)</a:t>
            </a:r>
            <a:endParaRPr lang="en-US" sz="1500" dirty="0"/>
          </a:p>
        </p:txBody>
      </p:sp>
      <p:sp>
        <p:nvSpPr>
          <p:cNvPr id="25" name="Text 23"/>
          <p:cNvSpPr/>
          <p:nvPr/>
        </p:nvSpPr>
        <p:spPr>
          <a:xfrm>
            <a:off x="777240" y="4617720"/>
            <a:ext cx="4983480" cy="1097280"/>
          </a:xfrm>
          <a:prstGeom prst="rect">
            <a:avLst/>
          </a:prstGeom>
          <a:noFill/>
          <a:ln/>
        </p:spPr>
        <p:txBody>
          <a:bodyPr wrap="square" rtlCol="0" anchor="t"/>
          <a:lstStyle/>
          <a:p>
            <a:pPr indent="0" marL="0">
              <a:buNone/>
            </a:pPr>
            <a:r>
              <a:rPr lang="en-US" sz="1200" dirty="0">
                <a:solidFill>
                  <a:srgbClr val="E2E8F0"/>
                </a:solidFill>
                <a:latin typeface="Segoe UI" pitchFamily="34" charset="0"/>
                <a:ea typeface="Segoe UI" pitchFamily="34" charset="-122"/>
                <a:cs typeface="Segoe UI" pitchFamily="34" charset="-120"/>
              </a:rPr>
              <a:t>List every property &amp; type on Contact and LeadList (UUID v4, status union "New" | "Contacted" | "Qualified" | "Disqualified", ISO timestamps).</a:t>
            </a:r>
            <a:endParaRPr lang="en-US" sz="1200" dirty="0"/>
          </a:p>
        </p:txBody>
      </p:sp>
      <p:sp>
        <p:nvSpPr>
          <p:cNvPr id="26" name="Shape 24"/>
          <p:cNvSpPr/>
          <p:nvPr/>
        </p:nvSpPr>
        <p:spPr>
          <a:xfrm>
            <a:off x="6172200" y="3840480"/>
            <a:ext cx="5440680" cy="2103120"/>
          </a:xfrm>
          <a:prstGeom prst="roundRect">
            <a:avLst>
              <a:gd name="adj" fmla="val 4348"/>
            </a:avLst>
          </a:prstGeom>
          <a:solidFill>
            <a:srgbClr val="130B24"/>
          </a:solidFill>
          <a:ln w="15240">
            <a:solidFill>
              <a:srgbClr val="8B5CF6"/>
            </a:solidFill>
            <a:prstDash val="solid"/>
          </a:ln>
        </p:spPr>
      </p:sp>
      <p:sp>
        <p:nvSpPr>
          <p:cNvPr id="27" name="Shape 25"/>
          <p:cNvSpPr/>
          <p:nvPr/>
        </p:nvSpPr>
        <p:spPr>
          <a:xfrm>
            <a:off x="6400800" y="4069080"/>
            <a:ext cx="594360" cy="411480"/>
          </a:xfrm>
          <a:prstGeom prst="roundRect">
            <a:avLst>
              <a:gd name="adj" fmla="val 17778"/>
            </a:avLst>
          </a:prstGeom>
          <a:solidFill>
            <a:srgbClr val="8B5CF6"/>
          </a:solidFill>
          <a:ln w="12700">
            <a:solidFill>
              <a:srgbClr val="8B5CF6"/>
            </a:solidFill>
            <a:prstDash val="solid"/>
          </a:ln>
        </p:spPr>
      </p:sp>
      <p:sp>
        <p:nvSpPr>
          <p:cNvPr id="28" name="Text 26"/>
          <p:cNvSpPr/>
          <p:nvPr/>
        </p:nvSpPr>
        <p:spPr>
          <a:xfrm>
            <a:off x="6400800" y="4069080"/>
            <a:ext cx="594360" cy="411480"/>
          </a:xfrm>
          <a:prstGeom prst="rect">
            <a:avLst/>
          </a:prstGeom>
          <a:noFill/>
          <a:ln/>
        </p:spPr>
        <p:txBody>
          <a:bodyPr wrap="square" rtlCol="0" anchor="ctr"/>
          <a:lstStyle/>
          <a:p>
            <a:pPr algn="ctr" indent="0" marL="0">
              <a:buNone/>
            </a:pPr>
            <a:r>
              <a:rPr lang="en-US" sz="1300" b="1" dirty="0">
                <a:solidFill>
                  <a:srgbClr val="F8FAFC"/>
                </a:solidFill>
                <a:latin typeface="Segoe UI" pitchFamily="34" charset="0"/>
                <a:ea typeface="Segoe UI" pitchFamily="34" charset="-122"/>
                <a:cs typeface="Segoe UI" pitchFamily="34" charset="-120"/>
              </a:rPr>
              <a:t>04</a:t>
            </a:r>
            <a:endParaRPr lang="en-US" sz="1300" dirty="0"/>
          </a:p>
        </p:txBody>
      </p:sp>
      <p:sp>
        <p:nvSpPr>
          <p:cNvPr id="29" name="Text 27"/>
          <p:cNvSpPr/>
          <p:nvPr/>
        </p:nvSpPr>
        <p:spPr>
          <a:xfrm>
            <a:off x="7132320" y="4069080"/>
            <a:ext cx="4251960" cy="411480"/>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Complete REST API Contract Table</a:t>
            </a:r>
            <a:endParaRPr lang="en-US" sz="1500" dirty="0"/>
          </a:p>
        </p:txBody>
      </p:sp>
      <p:sp>
        <p:nvSpPr>
          <p:cNvPr id="30" name="Text 28"/>
          <p:cNvSpPr/>
          <p:nvPr/>
        </p:nvSpPr>
        <p:spPr>
          <a:xfrm>
            <a:off x="6400800" y="4617720"/>
            <a:ext cx="4983480" cy="1097280"/>
          </a:xfrm>
          <a:prstGeom prst="rect">
            <a:avLst/>
          </a:prstGeom>
          <a:noFill/>
          <a:ln/>
        </p:spPr>
        <p:txBody>
          <a:bodyPr wrap="square" rtlCol="0" anchor="t"/>
          <a:lstStyle/>
          <a:p>
            <a:pPr indent="0" marL="0">
              <a:buNone/>
            </a:pPr>
            <a:r>
              <a:rPr lang="en-US" sz="1200" dirty="0">
                <a:solidFill>
                  <a:srgbClr val="E2E8F0"/>
                </a:solidFill>
                <a:latin typeface="Segoe UI" pitchFamily="34" charset="0"/>
                <a:ea typeface="Segoe UI" pitchFamily="34" charset="-122"/>
                <a:cs typeface="Segoe UI" pitchFamily="34" charset="-120"/>
              </a:rPr>
              <a:t>Specify every HTTP method &amp; route (/api/auth/login, /api/lists/search, /api/lists/:id/append, /api/lists/:id/export) so frontend &amp; backend never drift.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4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ACT I • THE APPLICATION WE BUILT</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Case Study: AICRM (AI Lead Generation &amp; Contact Manager)</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From initial SPEC.md to a 3-step Google Places + Web Scraper + Gemini Call-Script pipeline.</a:t>
            </a:r>
            <a:endParaRPr lang="en-US" sz="1250" dirty="0"/>
          </a:p>
        </p:txBody>
      </p:sp>
      <p:sp>
        <p:nvSpPr>
          <p:cNvPr id="11" name="Shape 9"/>
          <p:cNvSpPr/>
          <p:nvPr/>
        </p:nvSpPr>
        <p:spPr>
          <a:xfrm>
            <a:off x="548640" y="1508760"/>
            <a:ext cx="5669280" cy="4572000"/>
          </a:xfrm>
          <a:prstGeom prst="roundRect">
            <a:avLst>
              <a:gd name="adj" fmla="val 2000"/>
            </a:avLst>
          </a:prstGeom>
          <a:solidFill>
            <a:srgbClr val="06030D"/>
          </a:solidFill>
          <a:ln w="19050">
            <a:solidFill>
              <a:srgbClr val="4C1D95"/>
            </a:solidFill>
            <a:prstDash val="solid"/>
          </a:ln>
        </p:spPr>
      </p:sp>
      <p:sp>
        <p:nvSpPr>
          <p:cNvPr id="12" name="Text 10"/>
          <p:cNvSpPr/>
          <p:nvPr/>
        </p:nvSpPr>
        <p:spPr>
          <a:xfrm>
            <a:off x="777240" y="1645920"/>
            <a:ext cx="5212080" cy="320040"/>
          </a:xfrm>
          <a:prstGeom prst="rect">
            <a:avLst/>
          </a:prstGeom>
          <a:noFill/>
          <a:ln/>
        </p:spPr>
        <p:txBody>
          <a:bodyPr wrap="square" rtlCol="0" anchor="ctr"/>
          <a:lstStyle/>
          <a:p>
            <a:pPr indent="0" marL="0">
              <a:buNone/>
            </a:pPr>
            <a:r>
              <a:rPr lang="en-US" sz="1100" b="1" dirty="0">
                <a:solidFill>
                  <a:srgbClr val="C084FC"/>
                </a:solidFill>
                <a:latin typeface="Consolas" pitchFamily="34" charset="0"/>
                <a:ea typeface="Consolas" pitchFamily="34" charset="-122"/>
                <a:cs typeface="Consolas" pitchFamily="34" charset="-120"/>
              </a:rPr>
              <a:t>c:\Dev\AICRM\SPEC.md (Excerpt)</a:t>
            </a:r>
            <a:endParaRPr lang="en-US" sz="1100" dirty="0"/>
          </a:p>
        </p:txBody>
      </p:sp>
      <p:sp>
        <p:nvSpPr>
          <p:cNvPr id="13" name="Text 11"/>
          <p:cNvSpPr/>
          <p:nvPr/>
        </p:nvSpPr>
        <p:spPr>
          <a:xfrm>
            <a:off x="777240" y="2057400"/>
            <a:ext cx="5212080" cy="374904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Contact (Lead)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id: string (UUID v4)</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businessName, contactName, contactTitle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phone, email, website, address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description, sourceUrl, notes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status: 'New' | 'Contacted' | 'Qualified' | 'Disqualified'</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REST API Specification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POST /api/auth/login       (JWT Auth)</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POST /api/lists/search     (Find 20 Leads)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POST /api/lists/:id/append (Add 20 Non-Duplicates)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GET  /api/lists/:id/export (CSV Export)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PATCH /api/lists/:id/contacts/:contactId</a:t>
            </a:r>
            <a:endParaRPr lang="en-US" sz="1100" dirty="0"/>
          </a:p>
        </p:txBody>
      </p:sp>
      <p:sp>
        <p:nvSpPr>
          <p:cNvPr id="14" name="Shape 12"/>
          <p:cNvSpPr/>
          <p:nvPr/>
        </p:nvSpPr>
        <p:spPr>
          <a:xfrm>
            <a:off x="6446520" y="1508760"/>
            <a:ext cx="5166360" cy="1417320"/>
          </a:xfrm>
          <a:prstGeom prst="roundRect">
            <a:avLst>
              <a:gd name="adj" fmla="val 6452"/>
            </a:avLst>
          </a:prstGeom>
          <a:solidFill>
            <a:srgbClr val="130B24"/>
          </a:solidFill>
          <a:ln w="15240">
            <a:solidFill>
              <a:srgbClr val="8B5CF6"/>
            </a:solidFill>
            <a:prstDash val="solid"/>
          </a:ln>
        </p:spPr>
      </p:sp>
      <p:sp>
        <p:nvSpPr>
          <p:cNvPr id="15" name="Text 13"/>
          <p:cNvSpPr/>
          <p:nvPr/>
        </p:nvSpPr>
        <p:spPr>
          <a:xfrm>
            <a:off x="6675120" y="1645920"/>
            <a:ext cx="4663440" cy="256032"/>
          </a:xfrm>
          <a:prstGeom prst="rect">
            <a:avLst/>
          </a:prstGeom>
          <a:noFill/>
          <a:ln/>
        </p:spPr>
        <p:txBody>
          <a:bodyPr wrap="square" rtlCol="0" anchor="ctr"/>
          <a:lstStyle/>
          <a:p>
            <a:pPr indent="0" marL="0">
              <a:buNone/>
            </a:pPr>
            <a:r>
              <a:rPr lang="en-US" sz="950" b="1" dirty="0">
                <a:solidFill>
                  <a:srgbClr val="C084FC"/>
                </a:solidFill>
                <a:latin typeface="Segoe UI" pitchFamily="34" charset="0"/>
                <a:ea typeface="Segoe UI" pitchFamily="34" charset="-122"/>
                <a:cs typeface="Segoe UI" pitchFamily="34" charset="-120"/>
              </a:rPr>
              <a:t>STEP 1 • DISCOVERY (&lt; 1 sec)</a:t>
            </a:r>
            <a:endParaRPr lang="en-US" sz="950" dirty="0"/>
          </a:p>
        </p:txBody>
      </p:sp>
      <p:sp>
        <p:nvSpPr>
          <p:cNvPr id="16" name="Text 14"/>
          <p:cNvSpPr/>
          <p:nvPr/>
        </p:nvSpPr>
        <p:spPr>
          <a:xfrm>
            <a:off x="6675120" y="1901952"/>
            <a:ext cx="466344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Google Places API (New) Text Search</a:t>
            </a:r>
            <a:endParaRPr lang="en-US" sz="1400" dirty="0"/>
          </a:p>
        </p:txBody>
      </p:sp>
      <p:sp>
        <p:nvSpPr>
          <p:cNvPr id="17" name="Text 15"/>
          <p:cNvSpPr/>
          <p:nvPr/>
        </p:nvSpPr>
        <p:spPr>
          <a:xfrm>
            <a:off x="6675120" y="2240280"/>
            <a:ext cx="4663440" cy="59436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Finds 20 real local businesses matching criteria with verified addresses, Google Maps URLs, and deduplication.</a:t>
            </a:r>
            <a:endParaRPr lang="en-US" sz="1100" dirty="0"/>
          </a:p>
        </p:txBody>
      </p:sp>
      <p:sp>
        <p:nvSpPr>
          <p:cNvPr id="18" name="Shape 16"/>
          <p:cNvSpPr/>
          <p:nvPr/>
        </p:nvSpPr>
        <p:spPr>
          <a:xfrm>
            <a:off x="6446520" y="3081528"/>
            <a:ext cx="5166360" cy="1417320"/>
          </a:xfrm>
          <a:prstGeom prst="roundRect">
            <a:avLst>
              <a:gd name="adj" fmla="val 6452"/>
            </a:avLst>
          </a:prstGeom>
          <a:solidFill>
            <a:srgbClr val="130B24"/>
          </a:solidFill>
          <a:ln w="15240">
            <a:solidFill>
              <a:srgbClr val="8B5CF6"/>
            </a:solidFill>
            <a:prstDash val="solid"/>
          </a:ln>
        </p:spPr>
      </p:sp>
      <p:sp>
        <p:nvSpPr>
          <p:cNvPr id="19" name="Text 17"/>
          <p:cNvSpPr/>
          <p:nvPr/>
        </p:nvSpPr>
        <p:spPr>
          <a:xfrm>
            <a:off x="6675120" y="3218688"/>
            <a:ext cx="4663440" cy="256032"/>
          </a:xfrm>
          <a:prstGeom prst="rect">
            <a:avLst/>
          </a:prstGeom>
          <a:noFill/>
          <a:ln/>
        </p:spPr>
        <p:txBody>
          <a:bodyPr wrap="square" rtlCol="0" anchor="ctr"/>
          <a:lstStyle/>
          <a:p>
            <a:pPr indent="0" marL="0">
              <a:buNone/>
            </a:pPr>
            <a:r>
              <a:rPr lang="en-US" sz="950" b="1" dirty="0">
                <a:solidFill>
                  <a:srgbClr val="C084FC"/>
                </a:solidFill>
                <a:latin typeface="Segoe UI" pitchFamily="34" charset="0"/>
                <a:ea typeface="Segoe UI" pitchFamily="34" charset="-122"/>
                <a:cs typeface="Segoe UI" pitchFamily="34" charset="-120"/>
              </a:rPr>
              <a:t>STEP 2 • ENRICHMENT</a:t>
            </a:r>
            <a:endParaRPr lang="en-US" sz="950" dirty="0"/>
          </a:p>
        </p:txBody>
      </p:sp>
      <p:sp>
        <p:nvSpPr>
          <p:cNvPr id="20" name="Text 18"/>
          <p:cNvSpPr/>
          <p:nvPr/>
        </p:nvSpPr>
        <p:spPr>
          <a:xfrm>
            <a:off x="6675120" y="3474720"/>
            <a:ext cx="466344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Places Details + Live Website Scraper</a:t>
            </a:r>
            <a:endParaRPr lang="en-US" sz="1400" dirty="0"/>
          </a:p>
        </p:txBody>
      </p:sp>
      <p:sp>
        <p:nvSpPr>
          <p:cNvPr id="21" name="Text 19"/>
          <p:cNvSpPr/>
          <p:nvPr/>
        </p:nvSpPr>
        <p:spPr>
          <a:xfrm>
            <a:off x="6675120" y="3813048"/>
            <a:ext cx="4663440" cy="59436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Fetches phone numbers, official URLs, and scrapes business websites for public email addresses &amp; meta descriptions.</a:t>
            </a:r>
            <a:endParaRPr lang="en-US" sz="1100" dirty="0"/>
          </a:p>
        </p:txBody>
      </p:sp>
      <p:sp>
        <p:nvSpPr>
          <p:cNvPr id="22" name="Shape 20"/>
          <p:cNvSpPr/>
          <p:nvPr/>
        </p:nvSpPr>
        <p:spPr>
          <a:xfrm>
            <a:off x="6446520" y="4654296"/>
            <a:ext cx="5166360" cy="1417320"/>
          </a:xfrm>
          <a:prstGeom prst="roundRect">
            <a:avLst>
              <a:gd name="adj" fmla="val 6452"/>
            </a:avLst>
          </a:prstGeom>
          <a:solidFill>
            <a:srgbClr val="130B24"/>
          </a:solidFill>
          <a:ln w="15240">
            <a:solidFill>
              <a:srgbClr val="8B5CF6"/>
            </a:solidFill>
            <a:prstDash val="solid"/>
          </a:ln>
        </p:spPr>
      </p:sp>
      <p:sp>
        <p:nvSpPr>
          <p:cNvPr id="23" name="Text 21"/>
          <p:cNvSpPr/>
          <p:nvPr/>
        </p:nvSpPr>
        <p:spPr>
          <a:xfrm>
            <a:off x="6675120" y="4791456"/>
            <a:ext cx="4663440" cy="256032"/>
          </a:xfrm>
          <a:prstGeom prst="rect">
            <a:avLst/>
          </a:prstGeom>
          <a:noFill/>
          <a:ln/>
        </p:spPr>
        <p:txBody>
          <a:bodyPr wrap="square" rtlCol="0" anchor="ctr"/>
          <a:lstStyle/>
          <a:p>
            <a:pPr indent="0" marL="0">
              <a:buNone/>
            </a:pPr>
            <a:r>
              <a:rPr lang="en-US" sz="950" b="1" dirty="0">
                <a:solidFill>
                  <a:srgbClr val="C084FC"/>
                </a:solidFill>
                <a:latin typeface="Segoe UI" pitchFamily="34" charset="0"/>
                <a:ea typeface="Segoe UI" pitchFamily="34" charset="-122"/>
                <a:cs typeface="Segoe UI" pitchFamily="34" charset="-120"/>
              </a:rPr>
              <a:t>STEP 3 • AI GENERATION</a:t>
            </a:r>
            <a:endParaRPr lang="en-US" sz="950" dirty="0"/>
          </a:p>
        </p:txBody>
      </p:sp>
      <p:sp>
        <p:nvSpPr>
          <p:cNvPr id="24" name="Text 22"/>
          <p:cNvSpPr/>
          <p:nvPr/>
        </p:nvSpPr>
        <p:spPr>
          <a:xfrm>
            <a:off x="6675120" y="5047488"/>
            <a:ext cx="466344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Gemini Cold-Call Script + Lead Scoring</a:t>
            </a:r>
            <a:endParaRPr lang="en-US" sz="1400" dirty="0"/>
          </a:p>
        </p:txBody>
      </p:sp>
      <p:sp>
        <p:nvSpPr>
          <p:cNvPr id="25" name="Text 23"/>
          <p:cNvSpPr/>
          <p:nvPr/>
        </p:nvSpPr>
        <p:spPr>
          <a:xfrm>
            <a:off x="6675120" y="5385816"/>
            <a:ext cx="4663440" cy="59436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Generates tailored B2B cold-call scripts (pattern interrupt, value hook, objection pivot) &amp; scores leads 0–100.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5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ACT II • MULTI-AGENT SWARM ARCHITECTURE</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How We Built the 4-Agent Coding Swarm (dev-swarm)</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Turning a single primary agent into an Orchestrator coordinating 4 specialized subagents.</a:t>
            </a:r>
            <a:endParaRPr lang="en-US" sz="1250" dirty="0"/>
          </a:p>
        </p:txBody>
      </p:sp>
      <p:sp>
        <p:nvSpPr>
          <p:cNvPr id="11" name="Shape 9"/>
          <p:cNvSpPr/>
          <p:nvPr/>
        </p:nvSpPr>
        <p:spPr>
          <a:xfrm>
            <a:off x="548640" y="1554480"/>
            <a:ext cx="2651760" cy="3154680"/>
          </a:xfrm>
          <a:prstGeom prst="roundRect">
            <a:avLst>
              <a:gd name="adj" fmla="val 4138"/>
            </a:avLst>
          </a:prstGeom>
          <a:solidFill>
            <a:srgbClr val="130B24"/>
          </a:solidFill>
          <a:ln w="16510">
            <a:solidFill>
              <a:srgbClr val="A855F7"/>
            </a:solidFill>
            <a:prstDash val="solid"/>
          </a:ln>
        </p:spPr>
      </p:sp>
      <p:sp>
        <p:nvSpPr>
          <p:cNvPr id="12" name="Text 10"/>
          <p:cNvSpPr/>
          <p:nvPr/>
        </p:nvSpPr>
        <p:spPr>
          <a:xfrm>
            <a:off x="731520" y="1737360"/>
            <a:ext cx="2286000" cy="347472"/>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1. PO AGENT</a:t>
            </a:r>
            <a:endParaRPr lang="en-US" sz="1350" dirty="0"/>
          </a:p>
        </p:txBody>
      </p:sp>
      <p:sp>
        <p:nvSpPr>
          <p:cNvPr id="13" name="Shape 11"/>
          <p:cNvSpPr/>
          <p:nvPr/>
        </p:nvSpPr>
        <p:spPr>
          <a:xfrm>
            <a:off x="731520" y="2148840"/>
            <a:ext cx="2286000" cy="292608"/>
          </a:xfrm>
          <a:prstGeom prst="roundRect">
            <a:avLst>
              <a:gd name="adj" fmla="val 25000"/>
            </a:avLst>
          </a:prstGeom>
          <a:solidFill>
            <a:srgbClr val="1C1036"/>
          </a:solidFill>
          <a:ln w="12700">
            <a:solidFill>
              <a:srgbClr val="4C1D95"/>
            </a:solidFill>
            <a:prstDash val="solid"/>
          </a:ln>
        </p:spPr>
      </p:sp>
      <p:sp>
        <p:nvSpPr>
          <p:cNvPr id="14" name="Text 12"/>
          <p:cNvSpPr/>
          <p:nvPr/>
        </p:nvSpPr>
        <p:spPr>
          <a:xfrm>
            <a:off x="731520" y="2148840"/>
            <a:ext cx="2286000" cy="292608"/>
          </a:xfrm>
          <a:prstGeom prst="rect">
            <a:avLst/>
          </a:prstGeom>
          <a:noFill/>
          <a:ln/>
        </p:spPr>
        <p:txBody>
          <a:bodyPr wrap="square" rtlCol="0" anchor="ctr"/>
          <a:lstStyle/>
          <a:p>
            <a:pPr algn="ctr" indent="0" marL="0">
              <a:buNone/>
            </a:pPr>
            <a:r>
              <a:rPr lang="en-US" sz="950" b="1" dirty="0">
                <a:solidFill>
                  <a:srgbClr val="C084FC"/>
                </a:solidFill>
                <a:latin typeface="Segoe UI" pitchFamily="34" charset="0"/>
                <a:ea typeface="Segoe UI" pitchFamily="34" charset="-122"/>
                <a:cs typeface="Segoe UI" pitchFamily="34" charset="-120"/>
              </a:rPr>
              <a:t>Read-Only • Spec &amp; WPs</a:t>
            </a:r>
            <a:endParaRPr lang="en-US" sz="950" dirty="0"/>
          </a:p>
        </p:txBody>
      </p:sp>
      <p:sp>
        <p:nvSpPr>
          <p:cNvPr id="15" name="Text 13"/>
          <p:cNvSpPr/>
          <p:nvPr/>
        </p:nvSpPr>
        <p:spPr>
          <a:xfrm>
            <a:off x="731520" y="2606040"/>
            <a:ext cx="2286000" cy="1920240"/>
          </a:xfrm>
          <a:prstGeom prst="rect">
            <a:avLst/>
          </a:prstGeom>
          <a:noFill/>
          <a:ln/>
        </p:spPr>
        <p:txBody>
          <a:bodyPr wrap="square" rtlCol="0" anchor="t"/>
          <a:lstStyle/>
          <a:p>
            <a:pPr indent="0" marL="0">
              <a:buNone/>
            </a:pPr>
            <a:r>
              <a:rPr lang="en-US" sz="1100" dirty="0">
                <a:solidFill>
                  <a:srgbClr val="E2E8F0"/>
                </a:solidFill>
                <a:latin typeface="Segoe UI" pitchFamily="34" charset="0"/>
                <a:ea typeface="Segoe UI" pitchFamily="34" charset="-122"/>
                <a:cs typeface="Segoe UI" pitchFamily="34" charset="-120"/>
              </a:rPr>
              <a:t>Reads high-level repo context, interviews user (or runs autonomous), and outputs max 4 Work Packages (WP-1..WP-4) with max 6 Acceptance Criteria (AC-1..AC-6).</a:t>
            </a:r>
            <a:endParaRPr lang="en-US" sz="1100" dirty="0"/>
          </a:p>
        </p:txBody>
      </p:sp>
      <p:sp>
        <p:nvSpPr>
          <p:cNvPr id="16" name="Shape 14"/>
          <p:cNvSpPr/>
          <p:nvPr/>
        </p:nvSpPr>
        <p:spPr>
          <a:xfrm>
            <a:off x="3364992" y="1554480"/>
            <a:ext cx="2651760" cy="3154680"/>
          </a:xfrm>
          <a:prstGeom prst="roundRect">
            <a:avLst>
              <a:gd name="adj" fmla="val 4138"/>
            </a:avLst>
          </a:prstGeom>
          <a:solidFill>
            <a:srgbClr val="130B24"/>
          </a:solidFill>
          <a:ln w="16510">
            <a:solidFill>
              <a:srgbClr val="A855F7"/>
            </a:solidFill>
            <a:prstDash val="solid"/>
          </a:ln>
        </p:spPr>
      </p:sp>
      <p:sp>
        <p:nvSpPr>
          <p:cNvPr id="17" name="Text 15"/>
          <p:cNvSpPr/>
          <p:nvPr/>
        </p:nvSpPr>
        <p:spPr>
          <a:xfrm>
            <a:off x="3547872" y="1737360"/>
            <a:ext cx="2286000" cy="347472"/>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2. ARCHITECT AGENT</a:t>
            </a:r>
            <a:endParaRPr lang="en-US" sz="1350" dirty="0"/>
          </a:p>
        </p:txBody>
      </p:sp>
      <p:sp>
        <p:nvSpPr>
          <p:cNvPr id="18" name="Shape 16"/>
          <p:cNvSpPr/>
          <p:nvPr/>
        </p:nvSpPr>
        <p:spPr>
          <a:xfrm>
            <a:off x="3547872" y="2148840"/>
            <a:ext cx="2286000" cy="292608"/>
          </a:xfrm>
          <a:prstGeom prst="roundRect">
            <a:avLst>
              <a:gd name="adj" fmla="val 25000"/>
            </a:avLst>
          </a:prstGeom>
          <a:solidFill>
            <a:srgbClr val="1C1036"/>
          </a:solidFill>
          <a:ln w="12700">
            <a:solidFill>
              <a:srgbClr val="4C1D95"/>
            </a:solidFill>
            <a:prstDash val="solid"/>
          </a:ln>
        </p:spPr>
      </p:sp>
      <p:sp>
        <p:nvSpPr>
          <p:cNvPr id="19" name="Text 17"/>
          <p:cNvSpPr/>
          <p:nvPr/>
        </p:nvSpPr>
        <p:spPr>
          <a:xfrm>
            <a:off x="3547872" y="2148840"/>
            <a:ext cx="2286000" cy="292608"/>
          </a:xfrm>
          <a:prstGeom prst="rect">
            <a:avLst/>
          </a:prstGeom>
          <a:noFill/>
          <a:ln/>
        </p:spPr>
        <p:txBody>
          <a:bodyPr wrap="square" rtlCol="0" anchor="ctr"/>
          <a:lstStyle/>
          <a:p>
            <a:pPr algn="ctr" indent="0" marL="0">
              <a:buNone/>
            </a:pPr>
            <a:r>
              <a:rPr lang="en-US" sz="950" b="1" dirty="0">
                <a:solidFill>
                  <a:srgbClr val="C084FC"/>
                </a:solidFill>
                <a:latin typeface="Segoe UI" pitchFamily="34" charset="0"/>
                <a:ea typeface="Segoe UI" pitchFamily="34" charset="-122"/>
                <a:cs typeface="Segoe UI" pitchFamily="34" charset="-120"/>
              </a:rPr>
              <a:t>Read-Only • Blueprint</a:t>
            </a:r>
            <a:endParaRPr lang="en-US" sz="950" dirty="0"/>
          </a:p>
        </p:txBody>
      </p:sp>
      <p:sp>
        <p:nvSpPr>
          <p:cNvPr id="20" name="Text 18"/>
          <p:cNvSpPr/>
          <p:nvPr/>
        </p:nvSpPr>
        <p:spPr>
          <a:xfrm>
            <a:off x="3547872" y="2606040"/>
            <a:ext cx="2286000" cy="1920240"/>
          </a:xfrm>
          <a:prstGeom prst="rect">
            <a:avLst/>
          </a:prstGeom>
          <a:noFill/>
          <a:ln/>
        </p:spPr>
        <p:txBody>
          <a:bodyPr wrap="square" rtlCol="0" anchor="t"/>
          <a:lstStyle/>
          <a:p>
            <a:pPr indent="0" marL="0">
              <a:buNone/>
            </a:pPr>
            <a:r>
              <a:rPr lang="en-US" sz="1100" dirty="0">
                <a:solidFill>
                  <a:srgbClr val="E2E8F0"/>
                </a:solidFill>
                <a:latin typeface="Segoe UI" pitchFamily="34" charset="0"/>
                <a:ea typeface="Segoe UI" pitchFamily="34" charset="-122"/>
                <a:cs typeface="Segoe UI" pitchFamily="34" charset="-120"/>
              </a:rPr>
              <a:t>Scans the codebase ONCE and produces a Technical Blueprint with exact file:line pointers so downstream agents never waste tokens searching.</a:t>
            </a:r>
            <a:endParaRPr lang="en-US" sz="1100" dirty="0"/>
          </a:p>
        </p:txBody>
      </p:sp>
      <p:sp>
        <p:nvSpPr>
          <p:cNvPr id="21" name="Shape 19"/>
          <p:cNvSpPr/>
          <p:nvPr/>
        </p:nvSpPr>
        <p:spPr>
          <a:xfrm>
            <a:off x="6181344" y="1554480"/>
            <a:ext cx="2651760" cy="3154680"/>
          </a:xfrm>
          <a:prstGeom prst="roundRect">
            <a:avLst>
              <a:gd name="adj" fmla="val 4138"/>
            </a:avLst>
          </a:prstGeom>
          <a:solidFill>
            <a:srgbClr val="130B24"/>
          </a:solidFill>
          <a:ln w="16510">
            <a:solidFill>
              <a:srgbClr val="A855F7"/>
            </a:solidFill>
            <a:prstDash val="solid"/>
          </a:ln>
        </p:spPr>
      </p:sp>
      <p:sp>
        <p:nvSpPr>
          <p:cNvPr id="22" name="Text 20"/>
          <p:cNvSpPr/>
          <p:nvPr/>
        </p:nvSpPr>
        <p:spPr>
          <a:xfrm>
            <a:off x="6364224" y="1737360"/>
            <a:ext cx="2286000" cy="347472"/>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3. BUILDER AGENT</a:t>
            </a:r>
            <a:endParaRPr lang="en-US" sz="1350" dirty="0"/>
          </a:p>
        </p:txBody>
      </p:sp>
      <p:sp>
        <p:nvSpPr>
          <p:cNvPr id="23" name="Shape 21"/>
          <p:cNvSpPr/>
          <p:nvPr/>
        </p:nvSpPr>
        <p:spPr>
          <a:xfrm>
            <a:off x="6364224" y="2148840"/>
            <a:ext cx="2286000" cy="292608"/>
          </a:xfrm>
          <a:prstGeom prst="roundRect">
            <a:avLst>
              <a:gd name="adj" fmla="val 25000"/>
            </a:avLst>
          </a:prstGeom>
          <a:solidFill>
            <a:srgbClr val="1C1036"/>
          </a:solidFill>
          <a:ln w="12700">
            <a:solidFill>
              <a:srgbClr val="4C1D95"/>
            </a:solidFill>
            <a:prstDash val="solid"/>
          </a:ln>
        </p:spPr>
      </p:sp>
      <p:sp>
        <p:nvSpPr>
          <p:cNvPr id="24" name="Text 22"/>
          <p:cNvSpPr/>
          <p:nvPr/>
        </p:nvSpPr>
        <p:spPr>
          <a:xfrm>
            <a:off x="6364224" y="2148840"/>
            <a:ext cx="2286000" cy="292608"/>
          </a:xfrm>
          <a:prstGeom prst="rect">
            <a:avLst/>
          </a:prstGeom>
          <a:noFill/>
          <a:ln/>
        </p:spPr>
        <p:txBody>
          <a:bodyPr wrap="square" rtlCol="0" anchor="ctr"/>
          <a:lstStyle/>
          <a:p>
            <a:pPr algn="ctr" indent="0" marL="0">
              <a:buNone/>
            </a:pPr>
            <a:r>
              <a:rPr lang="en-US" sz="950" b="1" dirty="0">
                <a:solidFill>
                  <a:srgbClr val="C084FC"/>
                </a:solidFill>
                <a:latin typeface="Segoe UI" pitchFamily="34" charset="0"/>
                <a:ea typeface="Segoe UI" pitchFamily="34" charset="-122"/>
                <a:cs typeface="Segoe UI" pitchFamily="34" charset="-120"/>
              </a:rPr>
              <a:t>Write-Enabled • Code</a:t>
            </a:r>
            <a:endParaRPr lang="en-US" sz="950" dirty="0"/>
          </a:p>
        </p:txBody>
      </p:sp>
      <p:sp>
        <p:nvSpPr>
          <p:cNvPr id="25" name="Text 23"/>
          <p:cNvSpPr/>
          <p:nvPr/>
        </p:nvSpPr>
        <p:spPr>
          <a:xfrm>
            <a:off x="6364224" y="2606040"/>
            <a:ext cx="2286000" cy="1920240"/>
          </a:xfrm>
          <a:prstGeom prst="rect">
            <a:avLst/>
          </a:prstGeom>
          <a:noFill/>
          <a:ln/>
        </p:spPr>
        <p:txBody>
          <a:bodyPr wrap="square" rtlCol="0" anchor="t"/>
          <a:lstStyle/>
          <a:p>
            <a:pPr indent="0" marL="0">
              <a:buNone/>
            </a:pPr>
            <a:r>
              <a:rPr lang="en-US" sz="1100" dirty="0">
                <a:solidFill>
                  <a:srgbClr val="E2E8F0"/>
                </a:solidFill>
                <a:latin typeface="Segoe UI" pitchFamily="34" charset="0"/>
                <a:ea typeface="Segoe UI" pitchFamily="34" charset="-122"/>
                <a:cs typeface="Segoe UI" pitchFamily="34" charset="-120"/>
              </a:rPr>
              <a:t>Single persistent builder instance (warm context) that implements ALL Work Packages (WP-1..WP-M) and verifies clean compilation before QA.</a:t>
            </a:r>
            <a:endParaRPr lang="en-US" sz="1100" dirty="0"/>
          </a:p>
        </p:txBody>
      </p:sp>
      <p:sp>
        <p:nvSpPr>
          <p:cNvPr id="26" name="Shape 24"/>
          <p:cNvSpPr/>
          <p:nvPr/>
        </p:nvSpPr>
        <p:spPr>
          <a:xfrm>
            <a:off x="8997696" y="1554480"/>
            <a:ext cx="2651760" cy="3154680"/>
          </a:xfrm>
          <a:prstGeom prst="roundRect">
            <a:avLst>
              <a:gd name="adj" fmla="val 4138"/>
            </a:avLst>
          </a:prstGeom>
          <a:solidFill>
            <a:srgbClr val="130B24"/>
          </a:solidFill>
          <a:ln w="16510">
            <a:solidFill>
              <a:srgbClr val="A855F7"/>
            </a:solidFill>
            <a:prstDash val="solid"/>
          </a:ln>
        </p:spPr>
      </p:sp>
      <p:sp>
        <p:nvSpPr>
          <p:cNvPr id="27" name="Text 25"/>
          <p:cNvSpPr/>
          <p:nvPr/>
        </p:nvSpPr>
        <p:spPr>
          <a:xfrm>
            <a:off x="9180576" y="1737360"/>
            <a:ext cx="2286000" cy="347472"/>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4. QA AGENT</a:t>
            </a:r>
            <a:endParaRPr lang="en-US" sz="1350" dirty="0"/>
          </a:p>
        </p:txBody>
      </p:sp>
      <p:sp>
        <p:nvSpPr>
          <p:cNvPr id="28" name="Shape 26"/>
          <p:cNvSpPr/>
          <p:nvPr/>
        </p:nvSpPr>
        <p:spPr>
          <a:xfrm>
            <a:off x="9180576" y="2148840"/>
            <a:ext cx="2286000" cy="292608"/>
          </a:xfrm>
          <a:prstGeom prst="roundRect">
            <a:avLst>
              <a:gd name="adj" fmla="val 25000"/>
            </a:avLst>
          </a:prstGeom>
          <a:solidFill>
            <a:srgbClr val="1C1036"/>
          </a:solidFill>
          <a:ln w="12700">
            <a:solidFill>
              <a:srgbClr val="4C1D95"/>
            </a:solidFill>
            <a:prstDash val="solid"/>
          </a:ln>
        </p:spPr>
      </p:sp>
      <p:sp>
        <p:nvSpPr>
          <p:cNvPr id="29" name="Text 27"/>
          <p:cNvSpPr/>
          <p:nvPr/>
        </p:nvSpPr>
        <p:spPr>
          <a:xfrm>
            <a:off x="9180576" y="2148840"/>
            <a:ext cx="2286000" cy="292608"/>
          </a:xfrm>
          <a:prstGeom prst="rect">
            <a:avLst/>
          </a:prstGeom>
          <a:noFill/>
          <a:ln/>
        </p:spPr>
        <p:txBody>
          <a:bodyPr wrap="square" rtlCol="0" anchor="ctr"/>
          <a:lstStyle/>
          <a:p>
            <a:pPr algn="ctr" indent="0" marL="0">
              <a:buNone/>
            </a:pPr>
            <a:r>
              <a:rPr lang="en-US" sz="950" b="1" dirty="0">
                <a:solidFill>
                  <a:srgbClr val="C084FC"/>
                </a:solidFill>
                <a:latin typeface="Segoe UI" pitchFamily="34" charset="0"/>
                <a:ea typeface="Segoe UI" pitchFamily="34" charset="-122"/>
                <a:cs typeface="Segoe UI" pitchFamily="34" charset="-120"/>
              </a:rPr>
              <a:t>Write-Enabled • Gate</a:t>
            </a:r>
            <a:endParaRPr lang="en-US" sz="950" dirty="0"/>
          </a:p>
        </p:txBody>
      </p:sp>
      <p:sp>
        <p:nvSpPr>
          <p:cNvPr id="30" name="Text 28"/>
          <p:cNvSpPr/>
          <p:nvPr/>
        </p:nvSpPr>
        <p:spPr>
          <a:xfrm>
            <a:off x="9180576" y="2606040"/>
            <a:ext cx="2286000" cy="1920240"/>
          </a:xfrm>
          <a:prstGeom prst="rect">
            <a:avLst/>
          </a:prstGeom>
          <a:noFill/>
          <a:ln/>
        </p:spPr>
        <p:txBody>
          <a:bodyPr wrap="square" rtlCol="0" anchor="t"/>
          <a:lstStyle/>
          <a:p>
            <a:pPr indent="0" marL="0">
              <a:buNone/>
            </a:pPr>
            <a:r>
              <a:rPr lang="en-US" sz="1100" dirty="0">
                <a:solidFill>
                  <a:srgbClr val="E2E8F0"/>
                </a:solidFill>
                <a:latin typeface="Segoe UI" pitchFamily="34" charset="0"/>
                <a:ea typeface="Segoe UI" pitchFamily="34" charset="-122"/>
                <a:cs typeface="Segoe UI" pitchFamily="34" charset="-120"/>
              </a:rPr>
              <a:t>Runs ONCE at the end. Writes focused tests mapped to AC-1..AC-6 and issues VERDICT: PASS or FAIL (max 2 fix loops with Builder).</a:t>
            </a:r>
            <a:endParaRPr lang="en-US" sz="1100" dirty="0"/>
          </a:p>
        </p:txBody>
      </p:sp>
      <p:sp>
        <p:nvSpPr>
          <p:cNvPr id="31" name="Shape 29"/>
          <p:cNvSpPr/>
          <p:nvPr/>
        </p:nvSpPr>
        <p:spPr>
          <a:xfrm>
            <a:off x="548640" y="4937760"/>
            <a:ext cx="11091672" cy="1234440"/>
          </a:xfrm>
          <a:prstGeom prst="roundRect">
            <a:avLst>
              <a:gd name="adj" fmla="val 7407"/>
            </a:avLst>
          </a:prstGeom>
          <a:solidFill>
            <a:srgbClr val="1C1036"/>
          </a:solidFill>
          <a:ln w="12700">
            <a:solidFill>
              <a:srgbClr val="8B5CF6"/>
            </a:solidFill>
            <a:prstDash val="solid"/>
          </a:ln>
        </p:spPr>
      </p:sp>
      <p:sp>
        <p:nvSpPr>
          <p:cNvPr id="32" name="Text 30"/>
          <p:cNvSpPr/>
          <p:nvPr/>
        </p:nvSpPr>
        <p:spPr>
          <a:xfrm>
            <a:off x="777240" y="5047488"/>
            <a:ext cx="10607040" cy="256032"/>
          </a:xfrm>
          <a:prstGeom prst="rect">
            <a:avLst/>
          </a:prstGeom>
          <a:noFill/>
          <a:ln/>
        </p:spPr>
        <p:txBody>
          <a:bodyPr wrap="square" rtlCol="0" anchor="ctr"/>
          <a:lstStyle/>
          <a:p>
            <a:pPr indent="0" marL="0">
              <a:buNone/>
            </a:pPr>
            <a:r>
              <a:rPr lang="en-US" sz="1000" b="1" spc="150" kern="0" dirty="0">
                <a:solidFill>
                  <a:srgbClr val="C084FC"/>
                </a:solidFill>
                <a:latin typeface="Segoe UI" pitchFamily="34" charset="0"/>
                <a:ea typeface="Segoe UI" pitchFamily="34" charset="-122"/>
                <a:cs typeface="Segoe UI" pitchFamily="34" charset="-120"/>
              </a:rPr>
              <a:t>THREE SWARM EXECUTION MODES</a:t>
            </a:r>
            <a:endParaRPr lang="en-US" sz="1000" dirty="0"/>
          </a:p>
        </p:txBody>
      </p:sp>
      <p:sp>
        <p:nvSpPr>
          <p:cNvPr id="33" name="Text 31"/>
          <p:cNvSpPr/>
          <p:nvPr/>
        </p:nvSpPr>
        <p:spPr>
          <a:xfrm>
            <a:off x="777240" y="5376672"/>
            <a:ext cx="10607040" cy="594360"/>
          </a:xfrm>
          <a:prstGeom prst="rect">
            <a:avLst/>
          </a:prstGeom>
          <a:noFill/>
          <a:ln/>
        </p:spPr>
        <p:txBody>
          <a:bodyPr wrap="square" rtlCol="0" anchor="ctr"/>
          <a:lstStyle/>
          <a:p>
            <a:pPr indent="0" marL="0">
              <a:buNone/>
            </a:pPr>
            <a:r>
              <a:rPr lang="en-US" sz="1150" b="1" dirty="0">
                <a:solidFill>
                  <a:srgbClr val="F8FAFC"/>
                </a:solidFill>
                <a:latin typeface="Segoe UI" pitchFamily="34" charset="0"/>
                <a:ea typeface="Segoe UI" pitchFamily="34" charset="-122"/>
                <a:cs typeface="Segoe UI" pitchFamily="34" charset="-120"/>
              </a:rPr>
              <a:t>Mode A (Interactive): </a:t>
            </a:r>
            <a:pPr indent="0" marL="0">
              <a:buNone/>
            </a:pPr>
            <a:r>
              <a:rPr lang="en-US" sz="1150" dirty="0">
                <a:solidFill>
                  <a:srgbClr val="E2E8F0"/>
                </a:solidFill>
                <a:latin typeface="Segoe UI" pitchFamily="34" charset="0"/>
                <a:ea typeface="Segoe UI" pitchFamily="34" charset="-122"/>
                <a:cs typeface="Segoe UI" pitchFamily="34" charset="-120"/>
              </a:rPr>
              <a:t>PO interviews user → Sign-off → Auto build     |     </a:t>
            </a:r>
            <a:pPr indent="0" marL="0">
              <a:buNone/>
            </a:pPr>
            <a:r>
              <a:rPr lang="en-US" sz="1150" b="1" dirty="0">
                <a:solidFill>
                  <a:srgbClr val="F8FAFC"/>
                </a:solidFill>
                <a:latin typeface="Segoe UI" pitchFamily="34" charset="0"/>
                <a:ea typeface="Segoe UI" pitchFamily="34" charset="-122"/>
                <a:cs typeface="Segoe UI" pitchFamily="34" charset="-120"/>
              </a:rPr>
              <a:t>Mode B (Most Auto): </a:t>
            </a:r>
            <a:pPr indent="0" marL="0">
              <a:buNone/>
            </a:pPr>
            <a:r>
              <a:rPr lang="en-US" sz="1150" dirty="0">
                <a:solidFill>
                  <a:srgbClr val="E2E8F0"/>
                </a:solidFill>
                <a:latin typeface="Segoe UI" pitchFamily="34" charset="0"/>
                <a:ea typeface="Segoe UI" pitchFamily="34" charset="-122"/>
                <a:cs typeface="Segoe UI" pitchFamily="34" charset="-120"/>
              </a:rPr>
              <a:t>1-shot PO spec → 1 sign-off → Auto build     |     </a:t>
            </a:r>
            <a:pPr indent="0" marL="0">
              <a:buNone/>
            </a:pPr>
            <a:r>
              <a:rPr lang="en-US" sz="1150" b="1" dirty="0">
                <a:solidFill>
                  <a:srgbClr val="F8FAFC"/>
                </a:solidFill>
                <a:latin typeface="Segoe UI" pitchFamily="34" charset="0"/>
                <a:ea typeface="Segoe UI" pitchFamily="34" charset="-122"/>
                <a:cs typeface="Segoe UI" pitchFamily="34" charset="-120"/>
              </a:rPr>
              <a:t>Mode C (Full Auto): </a:t>
            </a:r>
            <a:pPr indent="0" marL="0">
              <a:buNone/>
            </a:pPr>
            <a:r>
              <a:rPr lang="en-US" sz="1150" dirty="0">
                <a:solidFill>
                  <a:srgbClr val="E2E8F0"/>
                </a:solidFill>
                <a:latin typeface="Segoe UI" pitchFamily="34" charset="0"/>
                <a:ea typeface="Segoe UI" pitchFamily="34" charset="-122"/>
                <a:cs typeface="Segoe UI" pitchFamily="34" charset="-120"/>
              </a:rPr>
              <a:t>Zero stops from PO to Final QA delivery.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6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ACT II • SWARM GUARDRAILS</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How We Stopped the Swarm from Burning Tokens &amp; Looping Forever</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Six hard engineering rules we baked into SKILL.md after watching early agent swarms go off the rails.</a:t>
            </a:r>
            <a:endParaRPr lang="en-US" sz="1250" dirty="0"/>
          </a:p>
        </p:txBody>
      </p:sp>
      <p:sp>
        <p:nvSpPr>
          <p:cNvPr id="11" name="Shape 9"/>
          <p:cNvSpPr/>
          <p:nvPr/>
        </p:nvSpPr>
        <p:spPr>
          <a:xfrm>
            <a:off x="548640" y="1508760"/>
            <a:ext cx="5440680" cy="1389888"/>
          </a:xfrm>
          <a:prstGeom prst="roundRect">
            <a:avLst>
              <a:gd name="adj" fmla="val 6579"/>
            </a:avLst>
          </a:prstGeom>
          <a:solidFill>
            <a:srgbClr val="130B24"/>
          </a:solidFill>
          <a:ln w="12700">
            <a:solidFill>
              <a:srgbClr val="8B5CF6"/>
            </a:solidFill>
            <a:prstDash val="solid"/>
          </a:ln>
        </p:spPr>
      </p:sp>
      <p:sp>
        <p:nvSpPr>
          <p:cNvPr id="12" name="Text 10"/>
          <p:cNvSpPr/>
          <p:nvPr/>
        </p:nvSpPr>
        <p:spPr>
          <a:xfrm>
            <a:off x="777240" y="1673352"/>
            <a:ext cx="4983480" cy="320040"/>
          </a:xfrm>
          <a:prstGeom prst="rect">
            <a:avLst/>
          </a:prstGeom>
          <a:noFill/>
          <a:ln/>
        </p:spPr>
        <p:txBody>
          <a:bodyPr wrap="square" rtlCol="0" anchor="ctr"/>
          <a:lstStyle/>
          <a:p>
            <a:pPr indent="0" marL="0">
              <a:buNone/>
            </a:pPr>
            <a:r>
              <a:rPr lang="en-US" sz="1350" b="1" dirty="0">
                <a:solidFill>
                  <a:srgbClr val="C084FC"/>
                </a:solidFill>
                <a:latin typeface="Segoe UI" pitchFamily="34" charset="0"/>
                <a:ea typeface="Segoe UI" pitchFamily="34" charset="-122"/>
                <a:cs typeface="Segoe UI" pitchFamily="34" charset="-120"/>
              </a:rPr>
              <a:t>1. Explore Once, Pass Exact file:line Pointers</a:t>
            </a:r>
            <a:endParaRPr lang="en-US" sz="1350" dirty="0"/>
          </a:p>
        </p:txBody>
      </p:sp>
      <p:sp>
        <p:nvSpPr>
          <p:cNvPr id="13" name="Text 11"/>
          <p:cNvSpPr/>
          <p:nvPr/>
        </p:nvSpPr>
        <p:spPr>
          <a:xfrm>
            <a:off x="777240" y="2020824"/>
            <a:ext cx="4983480" cy="777240"/>
          </a:xfrm>
          <a:prstGeom prst="rect">
            <a:avLst/>
          </a:prstGeom>
          <a:noFill/>
          <a:ln/>
        </p:spPr>
        <p:txBody>
          <a:bodyPr wrap="square" rtlCol="0" anchor="ctr"/>
          <a:lstStyle/>
          <a:p>
            <a:pPr indent="0" marL="0">
              <a:buNone/>
            </a:pPr>
            <a:r>
              <a:rPr lang="en-US" sz="1100" dirty="0">
                <a:solidFill>
                  <a:srgbClr val="E2E8F0"/>
                </a:solidFill>
                <a:latin typeface="Segoe UI" pitchFamily="34" charset="0"/>
                <a:ea typeface="Segoe UI" pitchFamily="34" charset="-122"/>
                <a:cs typeface="Segoe UI" pitchFamily="34" charset="-120"/>
              </a:rPr>
              <a:t>Architect scans the repo once. Builder &amp; QA are forbidden from broad repo searches—they only touch the exact files &amp; lines in the blueprint.</a:t>
            </a:r>
            <a:endParaRPr lang="en-US" sz="1100" dirty="0"/>
          </a:p>
        </p:txBody>
      </p:sp>
      <p:sp>
        <p:nvSpPr>
          <p:cNvPr id="14" name="Shape 12"/>
          <p:cNvSpPr/>
          <p:nvPr/>
        </p:nvSpPr>
        <p:spPr>
          <a:xfrm>
            <a:off x="6172200" y="1508760"/>
            <a:ext cx="5440680" cy="1389888"/>
          </a:xfrm>
          <a:prstGeom prst="roundRect">
            <a:avLst>
              <a:gd name="adj" fmla="val 6579"/>
            </a:avLst>
          </a:prstGeom>
          <a:solidFill>
            <a:srgbClr val="130B24"/>
          </a:solidFill>
          <a:ln w="12700">
            <a:solidFill>
              <a:srgbClr val="8B5CF6"/>
            </a:solidFill>
            <a:prstDash val="solid"/>
          </a:ln>
        </p:spPr>
      </p:sp>
      <p:sp>
        <p:nvSpPr>
          <p:cNvPr id="15" name="Text 13"/>
          <p:cNvSpPr/>
          <p:nvPr/>
        </p:nvSpPr>
        <p:spPr>
          <a:xfrm>
            <a:off x="6400800" y="1673352"/>
            <a:ext cx="4983480" cy="320040"/>
          </a:xfrm>
          <a:prstGeom prst="rect">
            <a:avLst/>
          </a:prstGeom>
          <a:noFill/>
          <a:ln/>
        </p:spPr>
        <p:txBody>
          <a:bodyPr wrap="square" rtlCol="0" anchor="ctr"/>
          <a:lstStyle/>
          <a:p>
            <a:pPr indent="0" marL="0">
              <a:buNone/>
            </a:pPr>
            <a:r>
              <a:rPr lang="en-US" sz="1350" b="1" dirty="0">
                <a:solidFill>
                  <a:srgbClr val="C084FC"/>
                </a:solidFill>
                <a:latin typeface="Segoe UI" pitchFamily="34" charset="0"/>
                <a:ea typeface="Segoe UI" pitchFamily="34" charset="-122"/>
                <a:cs typeface="Segoe UI" pitchFamily="34" charset="-120"/>
              </a:rPr>
              <a:t>2. Single Persistent Builder Instance</a:t>
            </a:r>
            <a:endParaRPr lang="en-US" sz="1350" dirty="0"/>
          </a:p>
        </p:txBody>
      </p:sp>
      <p:sp>
        <p:nvSpPr>
          <p:cNvPr id="16" name="Text 14"/>
          <p:cNvSpPr/>
          <p:nvPr/>
        </p:nvSpPr>
        <p:spPr>
          <a:xfrm>
            <a:off x="6400800" y="2020824"/>
            <a:ext cx="4983480" cy="777240"/>
          </a:xfrm>
          <a:prstGeom prst="rect">
            <a:avLst/>
          </a:prstGeom>
          <a:noFill/>
          <a:ln/>
        </p:spPr>
        <p:txBody>
          <a:bodyPr wrap="square" rtlCol="0" anchor="ctr"/>
          <a:lstStyle/>
          <a:p>
            <a:pPr indent="0" marL="0">
              <a:buNone/>
            </a:pPr>
            <a:r>
              <a:rPr lang="en-US" sz="1100" dirty="0">
                <a:solidFill>
                  <a:srgbClr val="E2E8F0"/>
                </a:solidFill>
                <a:latin typeface="Segoe UI" pitchFamily="34" charset="0"/>
                <a:ea typeface="Segoe UI" pitchFamily="34" charset="-122"/>
                <a:cs typeface="Segoe UI" pitchFamily="34" charset="-120"/>
              </a:rPr>
              <a:t>Never spawn parallel builders that overwrite each other. Keep 1 builder-agent alive via send_message so its context stays warm.</a:t>
            </a:r>
            <a:endParaRPr lang="en-US" sz="1100" dirty="0"/>
          </a:p>
        </p:txBody>
      </p:sp>
      <p:sp>
        <p:nvSpPr>
          <p:cNvPr id="17" name="Shape 15"/>
          <p:cNvSpPr/>
          <p:nvPr/>
        </p:nvSpPr>
        <p:spPr>
          <a:xfrm>
            <a:off x="548640" y="3081528"/>
            <a:ext cx="5440680" cy="1389888"/>
          </a:xfrm>
          <a:prstGeom prst="roundRect">
            <a:avLst>
              <a:gd name="adj" fmla="val 6579"/>
            </a:avLst>
          </a:prstGeom>
          <a:solidFill>
            <a:srgbClr val="130B24"/>
          </a:solidFill>
          <a:ln w="12700">
            <a:solidFill>
              <a:srgbClr val="8B5CF6"/>
            </a:solidFill>
            <a:prstDash val="solid"/>
          </a:ln>
        </p:spPr>
      </p:sp>
      <p:sp>
        <p:nvSpPr>
          <p:cNvPr id="18" name="Text 16"/>
          <p:cNvSpPr/>
          <p:nvPr/>
        </p:nvSpPr>
        <p:spPr>
          <a:xfrm>
            <a:off x="777240" y="3246120"/>
            <a:ext cx="4983480" cy="320040"/>
          </a:xfrm>
          <a:prstGeom prst="rect">
            <a:avLst/>
          </a:prstGeom>
          <a:noFill/>
          <a:ln/>
        </p:spPr>
        <p:txBody>
          <a:bodyPr wrap="square" rtlCol="0" anchor="ctr"/>
          <a:lstStyle/>
          <a:p>
            <a:pPr indent="0" marL="0">
              <a:buNone/>
            </a:pPr>
            <a:r>
              <a:rPr lang="en-US" sz="1350" b="1" dirty="0">
                <a:solidFill>
                  <a:srgbClr val="C084FC"/>
                </a:solidFill>
                <a:latin typeface="Segoe UI" pitchFamily="34" charset="0"/>
                <a:ea typeface="Segoe UI" pitchFamily="34" charset="-122"/>
                <a:cs typeface="Segoe UI" pitchFamily="34" charset="-120"/>
              </a:rPr>
              <a:t>3. No QA Until 100% of Dev Work Is Done</a:t>
            </a:r>
            <a:endParaRPr lang="en-US" sz="1350" dirty="0"/>
          </a:p>
        </p:txBody>
      </p:sp>
      <p:sp>
        <p:nvSpPr>
          <p:cNvPr id="19" name="Text 17"/>
          <p:cNvSpPr/>
          <p:nvPr/>
        </p:nvSpPr>
        <p:spPr>
          <a:xfrm>
            <a:off x="777240" y="3593592"/>
            <a:ext cx="4983480" cy="777240"/>
          </a:xfrm>
          <a:prstGeom prst="rect">
            <a:avLst/>
          </a:prstGeom>
          <a:noFill/>
          <a:ln/>
        </p:spPr>
        <p:txBody>
          <a:bodyPr wrap="square" rtlCol="0" anchor="ctr"/>
          <a:lstStyle/>
          <a:p>
            <a:pPr indent="0" marL="0">
              <a:buNone/>
            </a:pPr>
            <a:r>
              <a:rPr lang="en-US" sz="1100" dirty="0">
                <a:solidFill>
                  <a:srgbClr val="E2E8F0"/>
                </a:solidFill>
                <a:latin typeface="Segoe UI" pitchFamily="34" charset="0"/>
                <a:ea typeface="Segoe UI" pitchFamily="34" charset="-122"/>
                <a:cs typeface="Segoe UI" pitchFamily="34" charset="-120"/>
              </a:rPr>
              <a:t>Running QA after partial work packages wastes half your tokens. Builder must finish all WPs and compile cleanly before QA wakes up.</a:t>
            </a:r>
            <a:endParaRPr lang="en-US" sz="1100" dirty="0"/>
          </a:p>
        </p:txBody>
      </p:sp>
      <p:sp>
        <p:nvSpPr>
          <p:cNvPr id="20" name="Shape 18"/>
          <p:cNvSpPr/>
          <p:nvPr/>
        </p:nvSpPr>
        <p:spPr>
          <a:xfrm>
            <a:off x="6172200" y="3081528"/>
            <a:ext cx="5440680" cy="1389888"/>
          </a:xfrm>
          <a:prstGeom prst="roundRect">
            <a:avLst>
              <a:gd name="adj" fmla="val 6579"/>
            </a:avLst>
          </a:prstGeom>
          <a:solidFill>
            <a:srgbClr val="130B24"/>
          </a:solidFill>
          <a:ln w="12700">
            <a:solidFill>
              <a:srgbClr val="8B5CF6"/>
            </a:solidFill>
            <a:prstDash val="solid"/>
          </a:ln>
        </p:spPr>
      </p:sp>
      <p:sp>
        <p:nvSpPr>
          <p:cNvPr id="21" name="Text 19"/>
          <p:cNvSpPr/>
          <p:nvPr/>
        </p:nvSpPr>
        <p:spPr>
          <a:xfrm>
            <a:off x="6400800" y="3246120"/>
            <a:ext cx="4983480" cy="320040"/>
          </a:xfrm>
          <a:prstGeom prst="rect">
            <a:avLst/>
          </a:prstGeom>
          <a:noFill/>
          <a:ln/>
        </p:spPr>
        <p:txBody>
          <a:bodyPr wrap="square" rtlCol="0" anchor="ctr"/>
          <a:lstStyle/>
          <a:p>
            <a:pPr indent="0" marL="0">
              <a:buNone/>
            </a:pPr>
            <a:r>
              <a:rPr lang="en-US" sz="1350" b="1" dirty="0">
                <a:solidFill>
                  <a:srgbClr val="C084FC"/>
                </a:solidFill>
                <a:latin typeface="Segoe UI" pitchFamily="34" charset="0"/>
                <a:ea typeface="Segoe UI" pitchFamily="34" charset="-122"/>
                <a:cs typeface="Segoe UI" pitchFamily="34" charset="-120"/>
              </a:rPr>
              <a:t>4. Compact Handoffs (Max 350 Words)</a:t>
            </a:r>
            <a:endParaRPr lang="en-US" sz="1350" dirty="0"/>
          </a:p>
        </p:txBody>
      </p:sp>
      <p:sp>
        <p:nvSpPr>
          <p:cNvPr id="22" name="Text 20"/>
          <p:cNvSpPr/>
          <p:nvPr/>
        </p:nvSpPr>
        <p:spPr>
          <a:xfrm>
            <a:off x="6400800" y="3593592"/>
            <a:ext cx="4983480" cy="777240"/>
          </a:xfrm>
          <a:prstGeom prst="rect">
            <a:avLst/>
          </a:prstGeom>
          <a:noFill/>
          <a:ln/>
        </p:spPr>
        <p:txBody>
          <a:bodyPr wrap="square" rtlCol="0" anchor="ctr"/>
          <a:lstStyle/>
          <a:p>
            <a:pPr indent="0" marL="0">
              <a:buNone/>
            </a:pPr>
            <a:r>
              <a:rPr lang="en-US" sz="1100" dirty="0">
                <a:solidFill>
                  <a:srgbClr val="E2E8F0"/>
                </a:solidFill>
                <a:latin typeface="Segoe UI" pitchFamily="34" charset="0"/>
                <a:ea typeface="Segoe UI" pitchFamily="34" charset="-122"/>
                <a:cs typeface="Segoe UI" pitchFamily="34" charset="-120"/>
              </a:rPr>
              <a:t>Pass concise bullet points and file:line references between agents—never paste entire source files or chat transcripts into prompts.</a:t>
            </a:r>
            <a:endParaRPr lang="en-US" sz="1100" dirty="0"/>
          </a:p>
        </p:txBody>
      </p:sp>
      <p:sp>
        <p:nvSpPr>
          <p:cNvPr id="23" name="Shape 21"/>
          <p:cNvSpPr/>
          <p:nvPr/>
        </p:nvSpPr>
        <p:spPr>
          <a:xfrm>
            <a:off x="548640" y="4654296"/>
            <a:ext cx="5440680" cy="1389888"/>
          </a:xfrm>
          <a:prstGeom prst="roundRect">
            <a:avLst>
              <a:gd name="adj" fmla="val 6579"/>
            </a:avLst>
          </a:prstGeom>
          <a:solidFill>
            <a:srgbClr val="130B24"/>
          </a:solidFill>
          <a:ln w="12700">
            <a:solidFill>
              <a:srgbClr val="8B5CF6"/>
            </a:solidFill>
            <a:prstDash val="solid"/>
          </a:ln>
        </p:spPr>
      </p:sp>
      <p:sp>
        <p:nvSpPr>
          <p:cNvPr id="24" name="Text 22"/>
          <p:cNvSpPr/>
          <p:nvPr/>
        </p:nvSpPr>
        <p:spPr>
          <a:xfrm>
            <a:off x="777240" y="4818888"/>
            <a:ext cx="4983480" cy="320040"/>
          </a:xfrm>
          <a:prstGeom prst="rect">
            <a:avLst/>
          </a:prstGeom>
          <a:noFill/>
          <a:ln/>
        </p:spPr>
        <p:txBody>
          <a:bodyPr wrap="square" rtlCol="0" anchor="ctr"/>
          <a:lstStyle/>
          <a:p>
            <a:pPr indent="0" marL="0">
              <a:buNone/>
            </a:pPr>
            <a:r>
              <a:rPr lang="en-US" sz="1350" b="1" dirty="0">
                <a:solidFill>
                  <a:srgbClr val="C084FC"/>
                </a:solidFill>
                <a:latin typeface="Segoe UI" pitchFamily="34" charset="0"/>
                <a:ea typeface="Segoe UI" pitchFamily="34" charset="-122"/>
                <a:cs typeface="Segoe UI" pitchFamily="34" charset="-120"/>
              </a:rPr>
              <a:t>5. Blocker-Only QA Gate (P0/P1 Only)</a:t>
            </a:r>
            <a:endParaRPr lang="en-US" sz="1350" dirty="0"/>
          </a:p>
        </p:txBody>
      </p:sp>
      <p:sp>
        <p:nvSpPr>
          <p:cNvPr id="25" name="Text 23"/>
          <p:cNvSpPr/>
          <p:nvPr/>
        </p:nvSpPr>
        <p:spPr>
          <a:xfrm>
            <a:off x="777240" y="5166360"/>
            <a:ext cx="4983480" cy="777240"/>
          </a:xfrm>
          <a:prstGeom prst="rect">
            <a:avLst/>
          </a:prstGeom>
          <a:noFill/>
          <a:ln/>
        </p:spPr>
        <p:txBody>
          <a:bodyPr wrap="square" rtlCol="0" anchor="ctr"/>
          <a:lstStyle/>
          <a:p>
            <a:pPr indent="0" marL="0">
              <a:buNone/>
            </a:pPr>
            <a:r>
              <a:rPr lang="en-US" sz="1100" dirty="0">
                <a:solidFill>
                  <a:srgbClr val="E2E8F0"/>
                </a:solidFill>
                <a:latin typeface="Segoe UI" pitchFamily="34" charset="0"/>
                <a:ea typeface="Segoe UI" pitchFamily="34" charset="-122"/>
                <a:cs typeface="Segoe UI" pitchFamily="34" charset="-120"/>
              </a:rPr>
              <a:t>QA can only FAIL a build for broken compilation, failing tests, or an unmet Acceptance Criterion—never for code style nitpicks.</a:t>
            </a:r>
            <a:endParaRPr lang="en-US" sz="1100" dirty="0"/>
          </a:p>
        </p:txBody>
      </p:sp>
      <p:sp>
        <p:nvSpPr>
          <p:cNvPr id="26" name="Shape 24"/>
          <p:cNvSpPr/>
          <p:nvPr/>
        </p:nvSpPr>
        <p:spPr>
          <a:xfrm>
            <a:off x="6172200" y="4654296"/>
            <a:ext cx="5440680" cy="1389888"/>
          </a:xfrm>
          <a:prstGeom prst="roundRect">
            <a:avLst>
              <a:gd name="adj" fmla="val 6579"/>
            </a:avLst>
          </a:prstGeom>
          <a:solidFill>
            <a:srgbClr val="130B24"/>
          </a:solidFill>
          <a:ln w="12700">
            <a:solidFill>
              <a:srgbClr val="8B5CF6"/>
            </a:solidFill>
            <a:prstDash val="solid"/>
          </a:ln>
        </p:spPr>
      </p:sp>
      <p:sp>
        <p:nvSpPr>
          <p:cNvPr id="27" name="Text 25"/>
          <p:cNvSpPr/>
          <p:nvPr/>
        </p:nvSpPr>
        <p:spPr>
          <a:xfrm>
            <a:off x="6400800" y="4818888"/>
            <a:ext cx="4983480" cy="320040"/>
          </a:xfrm>
          <a:prstGeom prst="rect">
            <a:avLst/>
          </a:prstGeom>
          <a:noFill/>
          <a:ln/>
        </p:spPr>
        <p:txBody>
          <a:bodyPr wrap="square" rtlCol="0" anchor="ctr"/>
          <a:lstStyle/>
          <a:p>
            <a:pPr indent="0" marL="0">
              <a:buNone/>
            </a:pPr>
            <a:r>
              <a:rPr lang="en-US" sz="1350" b="1" dirty="0">
                <a:solidFill>
                  <a:srgbClr val="C084FC"/>
                </a:solidFill>
                <a:latin typeface="Segoe UI" pitchFamily="34" charset="0"/>
                <a:ea typeface="Segoe UI" pitchFamily="34" charset="-122"/>
                <a:cs typeface="Segoe UI" pitchFamily="34" charset="-120"/>
              </a:rPr>
              <a:t>6. No Moving Goalposts (Max 2 Fix Loops)</a:t>
            </a:r>
            <a:endParaRPr lang="en-US" sz="1350" dirty="0"/>
          </a:p>
        </p:txBody>
      </p:sp>
      <p:sp>
        <p:nvSpPr>
          <p:cNvPr id="28" name="Text 26"/>
          <p:cNvSpPr/>
          <p:nvPr/>
        </p:nvSpPr>
        <p:spPr>
          <a:xfrm>
            <a:off x="6400800" y="5166360"/>
            <a:ext cx="4983480" cy="777240"/>
          </a:xfrm>
          <a:prstGeom prst="rect">
            <a:avLst/>
          </a:prstGeom>
          <a:noFill/>
          <a:ln/>
        </p:spPr>
        <p:txBody>
          <a:bodyPr wrap="square" rtlCol="0" anchor="ctr"/>
          <a:lstStyle/>
          <a:p>
            <a:pPr indent="0" marL="0">
              <a:buNone/>
            </a:pPr>
            <a:r>
              <a:rPr lang="en-US" sz="1100" dirty="0">
                <a:solidFill>
                  <a:srgbClr val="E2E8F0"/>
                </a:solidFill>
                <a:latin typeface="Segoe UI" pitchFamily="34" charset="0"/>
                <a:ea typeface="Segoe UI" pitchFamily="34" charset="-122"/>
                <a:cs typeface="Segoe UI" pitchFamily="34" charset="-120"/>
              </a:rPr>
              <a:t>On re-review, QA may only verify the specific BUG-X items from Iteration 1 and is forbidden from inventing brand-new objections.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7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ACT III • ENTERPRISE AI INFRASTRUCTURE</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Why We Moved to Google Cloud Vertex AI for Pre-Deployment</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What Vertex AI + Cloud Run gives you that a basic AI Studio key cannot.</a:t>
            </a:r>
            <a:endParaRPr lang="en-US" sz="1250" dirty="0"/>
          </a:p>
        </p:txBody>
      </p:sp>
      <p:sp>
        <p:nvSpPr>
          <p:cNvPr id="11" name="Shape 9"/>
          <p:cNvSpPr/>
          <p:nvPr/>
        </p:nvSpPr>
        <p:spPr>
          <a:xfrm>
            <a:off x="548640" y="1508760"/>
            <a:ext cx="5760720" cy="1005840"/>
          </a:xfrm>
          <a:prstGeom prst="roundRect">
            <a:avLst>
              <a:gd name="adj" fmla="val 7273"/>
            </a:avLst>
          </a:prstGeom>
          <a:solidFill>
            <a:srgbClr val="130B24"/>
          </a:solidFill>
          <a:ln w="12700">
            <a:solidFill>
              <a:srgbClr val="8B5CF6"/>
            </a:solidFill>
            <a:prstDash val="solid"/>
          </a:ln>
        </p:spPr>
      </p:sp>
      <p:sp>
        <p:nvSpPr>
          <p:cNvPr id="12" name="Text 10"/>
          <p:cNvSpPr/>
          <p:nvPr/>
        </p:nvSpPr>
        <p:spPr>
          <a:xfrm>
            <a:off x="777240" y="1618488"/>
            <a:ext cx="5303520" cy="292608"/>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Keyless IAM Authentication</a:t>
            </a:r>
            <a:endParaRPr lang="en-US" sz="1350" dirty="0"/>
          </a:p>
        </p:txBody>
      </p:sp>
      <p:sp>
        <p:nvSpPr>
          <p:cNvPr id="13" name="Text 11"/>
          <p:cNvSpPr/>
          <p:nvPr/>
        </p:nvSpPr>
        <p:spPr>
          <a:xfrm>
            <a:off x="777240" y="1920240"/>
            <a:ext cx="5303520" cy="502920"/>
          </a:xfrm>
          <a:prstGeom prst="rect">
            <a:avLst/>
          </a:prstGeom>
          <a:noFill/>
          <a:ln/>
        </p:spPr>
        <p:txBody>
          <a:bodyPr wrap="square" rtlCol="0" anchor="ctr"/>
          <a:lstStyle/>
          <a:p>
            <a:pPr indent="0" marL="0">
              <a:buNone/>
            </a:pPr>
            <a:r>
              <a:rPr lang="en-US" sz="1080" dirty="0">
                <a:solidFill>
                  <a:srgbClr val="94A3B8"/>
                </a:solidFill>
                <a:latin typeface="Segoe UI" pitchFamily="34" charset="0"/>
                <a:ea typeface="Segoe UI" pitchFamily="34" charset="-122"/>
                <a:cs typeface="Segoe UI" pitchFamily="34" charset="-120"/>
              </a:rPr>
              <a:t>No leaked API keys in production. Local dev uses Application Default Credentials (ADC), and Cloud Run uses its built-in Service Account identity automatically.</a:t>
            </a:r>
            <a:endParaRPr lang="en-US" sz="1080" dirty="0"/>
          </a:p>
        </p:txBody>
      </p:sp>
      <p:sp>
        <p:nvSpPr>
          <p:cNvPr id="14" name="Shape 12"/>
          <p:cNvSpPr/>
          <p:nvPr/>
        </p:nvSpPr>
        <p:spPr>
          <a:xfrm>
            <a:off x="548640" y="2651760"/>
            <a:ext cx="5760720" cy="1005840"/>
          </a:xfrm>
          <a:prstGeom prst="roundRect">
            <a:avLst>
              <a:gd name="adj" fmla="val 7273"/>
            </a:avLst>
          </a:prstGeom>
          <a:solidFill>
            <a:srgbClr val="130B24"/>
          </a:solidFill>
          <a:ln w="12700">
            <a:solidFill>
              <a:srgbClr val="8B5CF6"/>
            </a:solidFill>
            <a:prstDash val="solid"/>
          </a:ln>
        </p:spPr>
      </p:sp>
      <p:sp>
        <p:nvSpPr>
          <p:cNvPr id="15" name="Text 13"/>
          <p:cNvSpPr/>
          <p:nvPr/>
        </p:nvSpPr>
        <p:spPr>
          <a:xfrm>
            <a:off x="777240" y="2761488"/>
            <a:ext cx="5303520" cy="292608"/>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Unified GCP Billing &amp; Credits</a:t>
            </a:r>
            <a:endParaRPr lang="en-US" sz="1350" dirty="0"/>
          </a:p>
        </p:txBody>
      </p:sp>
      <p:sp>
        <p:nvSpPr>
          <p:cNvPr id="16" name="Text 14"/>
          <p:cNvSpPr/>
          <p:nvPr/>
        </p:nvSpPr>
        <p:spPr>
          <a:xfrm>
            <a:off x="777240" y="3063240"/>
            <a:ext cx="5303520" cy="502920"/>
          </a:xfrm>
          <a:prstGeom prst="rect">
            <a:avLst/>
          </a:prstGeom>
          <a:noFill/>
          <a:ln/>
        </p:spPr>
        <p:txBody>
          <a:bodyPr wrap="square" rtlCol="0" anchor="ctr"/>
          <a:lstStyle/>
          <a:p>
            <a:pPr indent="0" marL="0">
              <a:buNone/>
            </a:pPr>
            <a:r>
              <a:rPr lang="en-US" sz="1080" dirty="0">
                <a:solidFill>
                  <a:srgbClr val="94A3B8"/>
                </a:solidFill>
                <a:latin typeface="Segoe UI" pitchFamily="34" charset="0"/>
                <a:ea typeface="Segoe UI" pitchFamily="34" charset="-122"/>
                <a:cs typeface="Segoe UI" pitchFamily="34" charset="-120"/>
              </a:rPr>
              <a:t>One Google Cloud billing account covers Vertex AI model calls, Cloud Build, and serverless Cloud Run hosting (scales to $0 when idle).</a:t>
            </a:r>
            <a:endParaRPr lang="en-US" sz="1080" dirty="0"/>
          </a:p>
        </p:txBody>
      </p:sp>
      <p:sp>
        <p:nvSpPr>
          <p:cNvPr id="17" name="Shape 15"/>
          <p:cNvSpPr/>
          <p:nvPr/>
        </p:nvSpPr>
        <p:spPr>
          <a:xfrm>
            <a:off x="548640" y="3794760"/>
            <a:ext cx="5760720" cy="1005840"/>
          </a:xfrm>
          <a:prstGeom prst="roundRect">
            <a:avLst>
              <a:gd name="adj" fmla="val 7273"/>
            </a:avLst>
          </a:prstGeom>
          <a:solidFill>
            <a:srgbClr val="130B24"/>
          </a:solidFill>
          <a:ln w="12700">
            <a:solidFill>
              <a:srgbClr val="8B5CF6"/>
            </a:solidFill>
            <a:prstDash val="solid"/>
          </a:ln>
        </p:spPr>
      </p:sp>
      <p:sp>
        <p:nvSpPr>
          <p:cNvPr id="18" name="Text 16"/>
          <p:cNvSpPr/>
          <p:nvPr/>
        </p:nvSpPr>
        <p:spPr>
          <a:xfrm>
            <a:off x="777240" y="3904488"/>
            <a:ext cx="5303520" cy="292608"/>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Zero Data Training Guarantee</a:t>
            </a:r>
            <a:endParaRPr lang="en-US" sz="1350" dirty="0"/>
          </a:p>
        </p:txBody>
      </p:sp>
      <p:sp>
        <p:nvSpPr>
          <p:cNvPr id="19" name="Text 17"/>
          <p:cNvSpPr/>
          <p:nvPr/>
        </p:nvSpPr>
        <p:spPr>
          <a:xfrm>
            <a:off x="777240" y="4206240"/>
            <a:ext cx="5303520" cy="502920"/>
          </a:xfrm>
          <a:prstGeom prst="rect">
            <a:avLst/>
          </a:prstGeom>
          <a:noFill/>
          <a:ln/>
        </p:spPr>
        <p:txBody>
          <a:bodyPr wrap="square" rtlCol="0" anchor="ctr"/>
          <a:lstStyle/>
          <a:p>
            <a:pPr indent="0" marL="0">
              <a:buNone/>
            </a:pPr>
            <a:r>
              <a:rPr lang="en-US" sz="1080" dirty="0">
                <a:solidFill>
                  <a:srgbClr val="94A3B8"/>
                </a:solidFill>
                <a:latin typeface="Segoe UI" pitchFamily="34" charset="0"/>
                <a:ea typeface="Segoe UI" pitchFamily="34" charset="-122"/>
                <a:cs typeface="Segoe UI" pitchFamily="34" charset="-120"/>
              </a:rPr>
              <a:t>Your proprietary source code (sent during AI Code Review) and customer CRM leads are contractually never used to train Google models.</a:t>
            </a:r>
            <a:endParaRPr lang="en-US" sz="1080" dirty="0"/>
          </a:p>
        </p:txBody>
      </p:sp>
      <p:sp>
        <p:nvSpPr>
          <p:cNvPr id="20" name="Shape 18"/>
          <p:cNvSpPr/>
          <p:nvPr/>
        </p:nvSpPr>
        <p:spPr>
          <a:xfrm>
            <a:off x="548640" y="4937760"/>
            <a:ext cx="5760720" cy="1005840"/>
          </a:xfrm>
          <a:prstGeom prst="roundRect">
            <a:avLst>
              <a:gd name="adj" fmla="val 7273"/>
            </a:avLst>
          </a:prstGeom>
          <a:solidFill>
            <a:srgbClr val="130B24"/>
          </a:solidFill>
          <a:ln w="12700">
            <a:solidFill>
              <a:srgbClr val="8B5CF6"/>
            </a:solidFill>
            <a:prstDash val="solid"/>
          </a:ln>
        </p:spPr>
      </p:sp>
      <p:sp>
        <p:nvSpPr>
          <p:cNvPr id="21" name="Text 19"/>
          <p:cNvSpPr/>
          <p:nvPr/>
        </p:nvSpPr>
        <p:spPr>
          <a:xfrm>
            <a:off x="777240" y="5047488"/>
            <a:ext cx="5303520" cy="292608"/>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1-Line SDK Switch (@google/genai)</a:t>
            </a:r>
            <a:endParaRPr lang="en-US" sz="1350" dirty="0"/>
          </a:p>
        </p:txBody>
      </p:sp>
      <p:sp>
        <p:nvSpPr>
          <p:cNvPr id="22" name="Text 20"/>
          <p:cNvSpPr/>
          <p:nvPr/>
        </p:nvSpPr>
        <p:spPr>
          <a:xfrm>
            <a:off x="777240" y="5349240"/>
            <a:ext cx="5303520" cy="502920"/>
          </a:xfrm>
          <a:prstGeom prst="rect">
            <a:avLst/>
          </a:prstGeom>
          <a:noFill/>
          <a:ln/>
        </p:spPr>
        <p:txBody>
          <a:bodyPr wrap="square" rtlCol="0" anchor="ctr"/>
          <a:lstStyle/>
          <a:p>
            <a:pPr indent="0" marL="0">
              <a:buNone/>
            </a:pPr>
            <a:r>
              <a:rPr lang="en-US" sz="1080" dirty="0">
                <a:solidFill>
                  <a:srgbClr val="94A3B8"/>
                </a:solidFill>
                <a:latin typeface="Segoe UI" pitchFamily="34" charset="0"/>
                <a:ea typeface="Segoe UI" pitchFamily="34" charset="-122"/>
                <a:cs typeface="Segoe UI" pitchFamily="34" charset="-120"/>
              </a:rPr>
              <a:t>The exact same GoogleGenAI SDK switches from AI Studio to Vertex AI by passing { vertexai: true, project, location }.</a:t>
            </a:r>
            <a:endParaRPr lang="en-US" sz="1080" dirty="0"/>
          </a:p>
        </p:txBody>
      </p:sp>
      <p:sp>
        <p:nvSpPr>
          <p:cNvPr id="23" name="Shape 21"/>
          <p:cNvSpPr/>
          <p:nvPr/>
        </p:nvSpPr>
        <p:spPr>
          <a:xfrm>
            <a:off x="6583680" y="1508760"/>
            <a:ext cx="5029200" cy="4434840"/>
          </a:xfrm>
          <a:prstGeom prst="roundRect">
            <a:avLst>
              <a:gd name="adj" fmla="val 2062"/>
            </a:avLst>
          </a:prstGeom>
          <a:solidFill>
            <a:srgbClr val="06030D"/>
          </a:solidFill>
          <a:ln w="17780">
            <a:solidFill>
              <a:srgbClr val="A855F7"/>
            </a:solidFill>
            <a:prstDash val="solid"/>
          </a:ln>
        </p:spPr>
      </p:sp>
      <p:sp>
        <p:nvSpPr>
          <p:cNvPr id="24" name="Text 22"/>
          <p:cNvSpPr/>
          <p:nvPr/>
        </p:nvSpPr>
        <p:spPr>
          <a:xfrm>
            <a:off x="6812280" y="1691640"/>
            <a:ext cx="4572000" cy="320040"/>
          </a:xfrm>
          <a:prstGeom prst="rect">
            <a:avLst/>
          </a:prstGeom>
          <a:noFill/>
          <a:ln/>
        </p:spPr>
        <p:txBody>
          <a:bodyPr wrap="square" rtlCol="0" anchor="ctr"/>
          <a:lstStyle/>
          <a:p>
            <a:pPr indent="0" marL="0">
              <a:buNone/>
            </a:pPr>
            <a:r>
              <a:rPr lang="en-US" sz="1150" b="1" dirty="0">
                <a:solidFill>
                  <a:srgbClr val="C084FC"/>
                </a:solidFill>
                <a:latin typeface="Consolas" pitchFamily="34" charset="0"/>
                <a:ea typeface="Consolas" pitchFamily="34" charset="-122"/>
                <a:cs typeface="Consolas" pitchFamily="34" charset="-120"/>
              </a:rPr>
              <a:t>scripts/vertex-client.ts</a:t>
            </a:r>
            <a:endParaRPr lang="en-US" sz="1150" dirty="0"/>
          </a:p>
        </p:txBody>
      </p:sp>
      <p:sp>
        <p:nvSpPr>
          <p:cNvPr id="25" name="Text 23"/>
          <p:cNvSpPr/>
          <p:nvPr/>
        </p:nvSpPr>
        <p:spPr>
          <a:xfrm>
            <a:off x="6812280" y="2103120"/>
            <a:ext cx="4572000" cy="3657600"/>
          </a:xfrm>
          <a:prstGeom prst="rect">
            <a:avLst/>
          </a:prstGeom>
          <a:noFill/>
          <a:ln/>
        </p:spPr>
        <p:txBody>
          <a:bodyPr wrap="square" rtlCol="0" anchor="t"/>
          <a:lstStyle/>
          <a:p>
            <a:pPr indent="0" marL="0">
              <a:buNone/>
            </a:pPr>
            <a:r>
              <a:rPr lang="en-US" sz="1050" dirty="0">
                <a:solidFill>
                  <a:srgbClr val="E2E8F0"/>
                </a:solidFill>
                <a:latin typeface="Consolas" pitchFamily="34" charset="0"/>
                <a:ea typeface="Consolas" pitchFamily="34" charset="-122"/>
                <a:cs typeface="Consolas" pitchFamily="34" charset="-120"/>
              </a:rPr>
              <a:t>import { GoogleGenAI } from '@google/genai';</a:t>
            </a:r>
            <a:endParaRPr lang="en-US" sz="1050" dirty="0"/>
          </a:p>
          <a:p>
            <a:pPr indent="0" marL="0">
              <a:buNone/>
            </a:pP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Connects directly to Google Cloud Vertex AI</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const client = new GoogleGenAI({</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vertexai: true,</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project: 'gen-lang-client-0251338670',</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location: 'global',</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indent="0" marL="0">
              <a:buNone/>
            </a:pP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const response = await client.models.generateContent({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model: 'gemini-3-flash-preview',</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contents: prompt,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config: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responseMimeType: 'application/json',</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responseSchema: reviewSchema,</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thinkingConfig: { thinkingBudget: 0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8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ACT III • REAL-WORLD WAR STORIES</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The "Fun" with Setting Up Vertex AI (What the Docs Don’t Tell You)</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Every real cloud migration has plot twists—here are the 4 bosses we fought and beat.</a:t>
            </a:r>
            <a:endParaRPr lang="en-US" sz="1250" dirty="0"/>
          </a:p>
        </p:txBody>
      </p:sp>
      <p:sp>
        <p:nvSpPr>
          <p:cNvPr id="11" name="Shape 9"/>
          <p:cNvSpPr/>
          <p:nvPr/>
        </p:nvSpPr>
        <p:spPr>
          <a:xfrm>
            <a:off x="548640" y="1508760"/>
            <a:ext cx="5440680" cy="2148840"/>
          </a:xfrm>
          <a:prstGeom prst="roundRect">
            <a:avLst>
              <a:gd name="adj" fmla="val 4255"/>
            </a:avLst>
          </a:prstGeom>
          <a:solidFill>
            <a:srgbClr val="130B24"/>
          </a:solidFill>
          <a:ln w="15240">
            <a:solidFill>
              <a:srgbClr val="A855F7"/>
            </a:solidFill>
            <a:prstDash val="solid"/>
          </a:ln>
        </p:spPr>
      </p:sp>
      <p:sp>
        <p:nvSpPr>
          <p:cNvPr id="12" name="Text 10"/>
          <p:cNvSpPr/>
          <p:nvPr/>
        </p:nvSpPr>
        <p:spPr>
          <a:xfrm>
            <a:off x="777240" y="1673352"/>
            <a:ext cx="4937760" cy="237744"/>
          </a:xfrm>
          <a:prstGeom prst="rect">
            <a:avLst/>
          </a:prstGeom>
          <a:noFill/>
          <a:ln/>
        </p:spPr>
        <p:txBody>
          <a:bodyPr wrap="square" rtlCol="0" anchor="ctr"/>
          <a:lstStyle/>
          <a:p>
            <a:pPr indent="0" marL="0">
              <a:buNone/>
            </a:pPr>
            <a:r>
              <a:rPr lang="en-US" sz="950" b="1" spc="120" kern="0" dirty="0">
                <a:solidFill>
                  <a:srgbClr val="F59E0B"/>
                </a:solidFill>
                <a:latin typeface="Segoe UI" pitchFamily="34" charset="0"/>
                <a:ea typeface="Segoe UI" pitchFamily="34" charset="-122"/>
                <a:cs typeface="Segoe UI" pitchFamily="34" charset="-120"/>
              </a:rPr>
              <a:t>BOSS #1 • HTTP 402</a:t>
            </a:r>
            <a:endParaRPr lang="en-US" sz="950" dirty="0"/>
          </a:p>
        </p:txBody>
      </p:sp>
      <p:sp>
        <p:nvSpPr>
          <p:cNvPr id="13" name="Text 11"/>
          <p:cNvSpPr/>
          <p:nvPr/>
        </p:nvSpPr>
        <p:spPr>
          <a:xfrm>
            <a:off x="777240" y="1920240"/>
            <a:ext cx="493776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"Your prepayment credits are depleted"</a:t>
            </a:r>
            <a:endParaRPr lang="en-US" sz="1400" dirty="0"/>
          </a:p>
        </p:txBody>
      </p:sp>
      <p:sp>
        <p:nvSpPr>
          <p:cNvPr id="14" name="Text 12"/>
          <p:cNvSpPr/>
          <p:nvPr/>
        </p:nvSpPr>
        <p:spPr>
          <a:xfrm>
            <a:off x="777240" y="2286000"/>
            <a:ext cx="4983480" cy="1234440"/>
          </a:xfrm>
          <a:prstGeom prst="rect">
            <a:avLst/>
          </a:prstGeom>
          <a:noFill/>
          <a:ln/>
        </p:spPr>
        <p:txBody>
          <a:bodyPr wrap="square" rtlCol="0" anchor="t"/>
          <a:lstStyle/>
          <a:p>
            <a:pPr indent="0" marL="0">
              <a:buNone/>
            </a:pPr>
            <a:r>
              <a:rPr lang="en-US" sz="1100" b="1" dirty="0">
                <a:solidFill>
                  <a:srgbClr val="F43F5E"/>
                </a:solidFill>
                <a:latin typeface="Segoe UI" pitchFamily="34" charset="0"/>
                <a:ea typeface="Segoe UI" pitchFamily="34" charset="-122"/>
                <a:cs typeface="Segoe UI" pitchFamily="34" charset="-120"/>
              </a:rPr>
              <a:t>Trap: </a:t>
            </a:r>
            <a:pPr indent="0" marL="0">
              <a:buNone/>
            </a:pPr>
            <a:r>
              <a:rPr lang="en-US" sz="1100" dirty="0">
                <a:solidFill>
                  <a:srgbClr val="E2E8F0"/>
                </a:solidFill>
                <a:latin typeface="Segoe UI" pitchFamily="34" charset="0"/>
                <a:ea typeface="Segoe UI" pitchFamily="34" charset="-122"/>
                <a:cs typeface="Segoe UI" pitchFamily="34" charset="-120"/>
              </a:rPr>
              <a:t>Our original AI Studio API key suddenly died mid-test with a 402 Resource Exhausted error.
</a:t>
            </a:r>
            <a:pPr indent="0" marL="0">
              <a:buNone/>
            </a:pPr>
            <a:r>
              <a:rPr lang="en-US" sz="1100" b="1" dirty="0">
                <a:solidFill>
                  <a:srgbClr val="10B981"/>
                </a:solidFill>
                <a:latin typeface="Segoe UI" pitchFamily="34" charset="0"/>
                <a:ea typeface="Segoe UI" pitchFamily="34" charset="-122"/>
                <a:cs typeface="Segoe UI" pitchFamily="34" charset="-120"/>
              </a:rPr>
              <a:t>Fix: </a:t>
            </a:r>
            <a:pPr indent="0" marL="0">
              <a:buNone/>
            </a:pPr>
            <a:r>
              <a:rPr lang="en-US" sz="1100" dirty="0">
                <a:solidFill>
                  <a:srgbClr val="E2E8F0"/>
                </a:solidFill>
                <a:latin typeface="Segoe UI" pitchFamily="34" charset="0"/>
                <a:ea typeface="Segoe UI" pitchFamily="34" charset="-122"/>
                <a:cs typeface="Segoe UI" pitchFamily="34" charset="-120"/>
              </a:rPr>
              <a:t>Switched to Vertex AI (USE_VERTEX_AI=true) backed by Google Cloud billing instead of prepaid AI Studio credits.</a:t>
            </a:r>
            <a:endParaRPr lang="en-US" sz="1100" dirty="0"/>
          </a:p>
        </p:txBody>
      </p:sp>
      <p:sp>
        <p:nvSpPr>
          <p:cNvPr id="15" name="Shape 13"/>
          <p:cNvSpPr/>
          <p:nvPr/>
        </p:nvSpPr>
        <p:spPr>
          <a:xfrm>
            <a:off x="6172200" y="1508760"/>
            <a:ext cx="5440680" cy="2148840"/>
          </a:xfrm>
          <a:prstGeom prst="roundRect">
            <a:avLst>
              <a:gd name="adj" fmla="val 4255"/>
            </a:avLst>
          </a:prstGeom>
          <a:solidFill>
            <a:srgbClr val="130B24"/>
          </a:solidFill>
          <a:ln w="15240">
            <a:solidFill>
              <a:srgbClr val="A855F7"/>
            </a:solidFill>
            <a:prstDash val="solid"/>
          </a:ln>
        </p:spPr>
      </p:sp>
      <p:sp>
        <p:nvSpPr>
          <p:cNvPr id="16" name="Text 14"/>
          <p:cNvSpPr/>
          <p:nvPr/>
        </p:nvSpPr>
        <p:spPr>
          <a:xfrm>
            <a:off x="6400800" y="1673352"/>
            <a:ext cx="4937760" cy="237744"/>
          </a:xfrm>
          <a:prstGeom prst="rect">
            <a:avLst/>
          </a:prstGeom>
          <a:noFill/>
          <a:ln/>
        </p:spPr>
        <p:txBody>
          <a:bodyPr wrap="square" rtlCol="0" anchor="ctr"/>
          <a:lstStyle/>
          <a:p>
            <a:pPr indent="0" marL="0">
              <a:buNone/>
            </a:pPr>
            <a:r>
              <a:rPr lang="en-US" sz="950" b="1" spc="120" kern="0" dirty="0">
                <a:solidFill>
                  <a:srgbClr val="F59E0B"/>
                </a:solidFill>
                <a:latin typeface="Segoe UI" pitchFamily="34" charset="0"/>
                <a:ea typeface="Segoe UI" pitchFamily="34" charset="-122"/>
                <a:cs typeface="Segoe UI" pitchFamily="34" charset="-120"/>
              </a:rPr>
              <a:t>BOSS #2 • THE CLI</a:t>
            </a:r>
            <a:endParaRPr lang="en-US" sz="950" dirty="0"/>
          </a:p>
        </p:txBody>
      </p:sp>
      <p:sp>
        <p:nvSpPr>
          <p:cNvPr id="17" name="Text 15"/>
          <p:cNvSpPr/>
          <p:nvPr/>
        </p:nvSpPr>
        <p:spPr>
          <a:xfrm>
            <a:off x="6400800" y="1920240"/>
            <a:ext cx="493776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The 8-Minute gcloud SDK Install</a:t>
            </a:r>
            <a:endParaRPr lang="en-US" sz="1400" dirty="0"/>
          </a:p>
        </p:txBody>
      </p:sp>
      <p:sp>
        <p:nvSpPr>
          <p:cNvPr id="18" name="Text 16"/>
          <p:cNvSpPr/>
          <p:nvPr/>
        </p:nvSpPr>
        <p:spPr>
          <a:xfrm>
            <a:off x="6400800" y="2286000"/>
            <a:ext cx="4983480" cy="1234440"/>
          </a:xfrm>
          <a:prstGeom prst="rect">
            <a:avLst/>
          </a:prstGeom>
          <a:noFill/>
          <a:ln/>
        </p:spPr>
        <p:txBody>
          <a:bodyPr wrap="square" rtlCol="0" anchor="t"/>
          <a:lstStyle/>
          <a:p>
            <a:pPr indent="0" marL="0">
              <a:buNone/>
            </a:pPr>
            <a:r>
              <a:rPr lang="en-US" sz="1100" b="1" dirty="0">
                <a:solidFill>
                  <a:srgbClr val="F43F5E"/>
                </a:solidFill>
                <a:latin typeface="Segoe UI" pitchFamily="34" charset="0"/>
                <a:ea typeface="Segoe UI" pitchFamily="34" charset="-122"/>
                <a:cs typeface="Segoe UI" pitchFamily="34" charset="-120"/>
              </a:rPr>
              <a:t>Trap: </a:t>
            </a:r>
            <a:pPr indent="0" marL="0">
              <a:buNone/>
            </a:pPr>
            <a:r>
              <a:rPr lang="en-US" sz="1100" dirty="0">
                <a:solidFill>
                  <a:srgbClr val="E2E8F0"/>
                </a:solidFill>
                <a:latin typeface="Segoe UI" pitchFamily="34" charset="0"/>
                <a:ea typeface="Segoe UI" pitchFamily="34" charset="-122"/>
                <a:cs typeface="Segoe UI" pitchFamily="34" charset="-120"/>
              </a:rPr>
              <a:t>winget install Google.CloudSDK downloads an embedded Python runtime + thousands of files while looking frozen.
</a:t>
            </a:r>
            <a:pPr indent="0" marL="0">
              <a:buNone/>
            </a:pPr>
            <a:r>
              <a:rPr lang="en-US" sz="1100" b="1" dirty="0">
                <a:solidFill>
                  <a:srgbClr val="10B981"/>
                </a:solidFill>
                <a:latin typeface="Segoe UI" pitchFamily="34" charset="0"/>
                <a:ea typeface="Segoe UI" pitchFamily="34" charset="-122"/>
                <a:cs typeface="Segoe UI" pitchFamily="34" charset="-120"/>
              </a:rPr>
              <a:t>Fix: </a:t>
            </a:r>
            <a:pPr indent="0" marL="0">
              <a:buNone/>
            </a:pPr>
            <a:r>
              <a:rPr lang="en-US" sz="1100" dirty="0">
                <a:solidFill>
                  <a:srgbClr val="E2E8F0"/>
                </a:solidFill>
                <a:latin typeface="Segoe UI" pitchFamily="34" charset="0"/>
                <a:ea typeface="Segoe UI" pitchFamily="34" charset="-122"/>
                <a:cs typeface="Segoe UI" pitchFamily="34" charset="-120"/>
              </a:rPr>
              <a:t>Installed the SDK and configured scripts/vertex-pipeline.ts to auto-detect gcloud.cmd on Windows.</a:t>
            </a:r>
            <a:endParaRPr lang="en-US" sz="1100" dirty="0"/>
          </a:p>
        </p:txBody>
      </p:sp>
      <p:sp>
        <p:nvSpPr>
          <p:cNvPr id="19" name="Shape 17"/>
          <p:cNvSpPr/>
          <p:nvPr/>
        </p:nvSpPr>
        <p:spPr>
          <a:xfrm>
            <a:off x="548640" y="3840480"/>
            <a:ext cx="5440680" cy="2148840"/>
          </a:xfrm>
          <a:prstGeom prst="roundRect">
            <a:avLst>
              <a:gd name="adj" fmla="val 4255"/>
            </a:avLst>
          </a:prstGeom>
          <a:solidFill>
            <a:srgbClr val="130B24"/>
          </a:solidFill>
          <a:ln w="15240">
            <a:solidFill>
              <a:srgbClr val="A855F7"/>
            </a:solidFill>
            <a:prstDash val="solid"/>
          </a:ln>
        </p:spPr>
      </p:sp>
      <p:sp>
        <p:nvSpPr>
          <p:cNvPr id="20" name="Text 18"/>
          <p:cNvSpPr/>
          <p:nvPr/>
        </p:nvSpPr>
        <p:spPr>
          <a:xfrm>
            <a:off x="777240" y="4005072"/>
            <a:ext cx="4937760" cy="237744"/>
          </a:xfrm>
          <a:prstGeom prst="rect">
            <a:avLst/>
          </a:prstGeom>
          <a:noFill/>
          <a:ln/>
        </p:spPr>
        <p:txBody>
          <a:bodyPr wrap="square" rtlCol="0" anchor="ctr"/>
          <a:lstStyle/>
          <a:p>
            <a:pPr indent="0" marL="0">
              <a:buNone/>
            </a:pPr>
            <a:r>
              <a:rPr lang="en-US" sz="950" b="1" spc="120" kern="0" dirty="0">
                <a:solidFill>
                  <a:srgbClr val="F59E0B"/>
                </a:solidFill>
                <a:latin typeface="Segoe UI" pitchFamily="34" charset="0"/>
                <a:ea typeface="Segoe UI" pitchFamily="34" charset="-122"/>
                <a:cs typeface="Segoe UI" pitchFamily="34" charset="-120"/>
              </a:rPr>
              <a:t>BOSS #3 • AUTH TRAP</a:t>
            </a:r>
            <a:endParaRPr lang="en-US" sz="950" dirty="0"/>
          </a:p>
        </p:txBody>
      </p:sp>
      <p:sp>
        <p:nvSpPr>
          <p:cNvPr id="21" name="Text 19"/>
          <p:cNvSpPr/>
          <p:nvPr/>
        </p:nvSpPr>
        <p:spPr>
          <a:xfrm>
            <a:off x="777240" y="4251960"/>
            <a:ext cx="493776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gcloud auth login != Application Default Credentials</a:t>
            </a:r>
            <a:endParaRPr lang="en-US" sz="1400" dirty="0"/>
          </a:p>
        </p:txBody>
      </p:sp>
      <p:sp>
        <p:nvSpPr>
          <p:cNvPr id="22" name="Text 20"/>
          <p:cNvSpPr/>
          <p:nvPr/>
        </p:nvSpPr>
        <p:spPr>
          <a:xfrm>
            <a:off x="777240" y="4617720"/>
            <a:ext cx="4983480" cy="1234440"/>
          </a:xfrm>
          <a:prstGeom prst="rect">
            <a:avLst/>
          </a:prstGeom>
          <a:noFill/>
          <a:ln/>
        </p:spPr>
        <p:txBody>
          <a:bodyPr wrap="square" rtlCol="0" anchor="t"/>
          <a:lstStyle/>
          <a:p>
            <a:pPr indent="0" marL="0">
              <a:buNone/>
            </a:pPr>
            <a:r>
              <a:rPr lang="en-US" sz="1100" b="1" dirty="0">
                <a:solidFill>
                  <a:srgbClr val="F43F5E"/>
                </a:solidFill>
                <a:latin typeface="Segoe UI" pitchFamily="34" charset="0"/>
                <a:ea typeface="Segoe UI" pitchFamily="34" charset="-122"/>
                <a:cs typeface="Segoe UI" pitchFamily="34" charset="-120"/>
              </a:rPr>
              <a:t>Trap: </a:t>
            </a:r>
            <a:pPr indent="0" marL="0">
              <a:buNone/>
            </a:pPr>
            <a:r>
              <a:rPr lang="en-US" sz="1100" dirty="0">
                <a:solidFill>
                  <a:srgbClr val="E2E8F0"/>
                </a:solidFill>
                <a:latin typeface="Segoe UI" pitchFamily="34" charset="0"/>
                <a:ea typeface="Segoe UI" pitchFamily="34" charset="-122"/>
                <a:cs typeface="Segoe UI" pitchFamily="34" charset="-120"/>
              </a:rPr>
              <a:t>Ran gcloud auth login, felt great, ran Node.js... and hit "Could not load the default credentials"!
</a:t>
            </a:r>
            <a:pPr indent="0" marL="0">
              <a:buNone/>
            </a:pPr>
            <a:r>
              <a:rPr lang="en-US" sz="1100" b="1" dirty="0">
                <a:solidFill>
                  <a:srgbClr val="10B981"/>
                </a:solidFill>
                <a:latin typeface="Segoe UI" pitchFamily="34" charset="0"/>
                <a:ea typeface="Segoe UI" pitchFamily="34" charset="-122"/>
                <a:cs typeface="Segoe UI" pitchFamily="34" charset="-120"/>
              </a:rPr>
              <a:t>Fix: </a:t>
            </a:r>
            <a:pPr indent="0" marL="0">
              <a:buNone/>
            </a:pPr>
            <a:r>
              <a:rPr lang="en-US" sz="1100" dirty="0">
                <a:solidFill>
                  <a:srgbClr val="E2E8F0"/>
                </a:solidFill>
                <a:latin typeface="Segoe UI" pitchFamily="34" charset="0"/>
                <a:ea typeface="Segoe UI" pitchFamily="34" charset="-122"/>
                <a:cs typeface="Segoe UI" pitchFamily="34" charset="-120"/>
              </a:rPr>
              <a:t>gcloud auth login only logs in the CLI. Node SDKs require: gcloud auth application-default login.</a:t>
            </a:r>
            <a:endParaRPr lang="en-US" sz="1100" dirty="0"/>
          </a:p>
        </p:txBody>
      </p:sp>
      <p:sp>
        <p:nvSpPr>
          <p:cNvPr id="23" name="Shape 21"/>
          <p:cNvSpPr/>
          <p:nvPr/>
        </p:nvSpPr>
        <p:spPr>
          <a:xfrm>
            <a:off x="6172200" y="3840480"/>
            <a:ext cx="5440680" cy="2148840"/>
          </a:xfrm>
          <a:prstGeom prst="roundRect">
            <a:avLst>
              <a:gd name="adj" fmla="val 4255"/>
            </a:avLst>
          </a:prstGeom>
          <a:solidFill>
            <a:srgbClr val="130B24"/>
          </a:solidFill>
          <a:ln w="15240">
            <a:solidFill>
              <a:srgbClr val="A855F7"/>
            </a:solidFill>
            <a:prstDash val="solid"/>
          </a:ln>
        </p:spPr>
      </p:sp>
      <p:sp>
        <p:nvSpPr>
          <p:cNvPr id="24" name="Text 22"/>
          <p:cNvSpPr/>
          <p:nvPr/>
        </p:nvSpPr>
        <p:spPr>
          <a:xfrm>
            <a:off x="6400800" y="4005072"/>
            <a:ext cx="4937760" cy="237744"/>
          </a:xfrm>
          <a:prstGeom prst="rect">
            <a:avLst/>
          </a:prstGeom>
          <a:noFill/>
          <a:ln/>
        </p:spPr>
        <p:txBody>
          <a:bodyPr wrap="square" rtlCol="0" anchor="ctr"/>
          <a:lstStyle/>
          <a:p>
            <a:pPr indent="0" marL="0">
              <a:buNone/>
            </a:pPr>
            <a:r>
              <a:rPr lang="en-US" sz="950" b="1" spc="120" kern="0" dirty="0">
                <a:solidFill>
                  <a:srgbClr val="F59E0B"/>
                </a:solidFill>
                <a:latin typeface="Segoe UI" pitchFamily="34" charset="0"/>
                <a:ea typeface="Segoe UI" pitchFamily="34" charset="-122"/>
                <a:cs typeface="Segoe UI" pitchFamily="34" charset="-120"/>
              </a:rPr>
              <a:t>BOSS #4 • HTTP 404</a:t>
            </a:r>
            <a:endParaRPr lang="en-US" sz="950" dirty="0"/>
          </a:p>
        </p:txBody>
      </p:sp>
      <p:sp>
        <p:nvSpPr>
          <p:cNvPr id="25" name="Text 23"/>
          <p:cNvSpPr/>
          <p:nvPr/>
        </p:nvSpPr>
        <p:spPr>
          <a:xfrm>
            <a:off x="6400800" y="4251960"/>
            <a:ext cx="493776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The Region &amp; Model Name Plot Twist</a:t>
            </a:r>
            <a:endParaRPr lang="en-US" sz="1400" dirty="0"/>
          </a:p>
        </p:txBody>
      </p:sp>
      <p:sp>
        <p:nvSpPr>
          <p:cNvPr id="26" name="Text 24"/>
          <p:cNvSpPr/>
          <p:nvPr/>
        </p:nvSpPr>
        <p:spPr>
          <a:xfrm>
            <a:off x="6400800" y="4617720"/>
            <a:ext cx="4983480" cy="1234440"/>
          </a:xfrm>
          <a:prstGeom prst="rect">
            <a:avLst/>
          </a:prstGeom>
          <a:noFill/>
          <a:ln/>
        </p:spPr>
        <p:txBody>
          <a:bodyPr wrap="square" rtlCol="0" anchor="t"/>
          <a:lstStyle/>
          <a:p>
            <a:pPr indent="0" marL="0">
              <a:buNone/>
            </a:pPr>
            <a:r>
              <a:rPr lang="en-US" sz="1100" b="1" dirty="0">
                <a:solidFill>
                  <a:srgbClr val="F43F5E"/>
                </a:solidFill>
                <a:latin typeface="Segoe UI" pitchFamily="34" charset="0"/>
                <a:ea typeface="Segoe UI" pitchFamily="34" charset="-122"/>
                <a:cs typeface="Segoe UI" pitchFamily="34" charset="-120"/>
              </a:rPr>
              <a:t>Trap: </a:t>
            </a:r>
            <a:pPr indent="0" marL="0">
              <a:buNone/>
            </a:pPr>
            <a:r>
              <a:rPr lang="en-US" sz="1100" dirty="0">
                <a:solidFill>
                  <a:srgbClr val="E2E8F0"/>
                </a:solidFill>
                <a:latin typeface="Segoe UI" pitchFamily="34" charset="0"/>
                <a:ea typeface="Segoe UI" pitchFamily="34" charset="-122"/>
                <a:cs typeface="Segoe UI" pitchFamily="34" charset="-120"/>
              </a:rPr>
              <a:t>us-central1 + gemini-2.5-flash threw 404 Publisher Model Not Found on our project!
</a:t>
            </a:r>
            <a:pPr indent="0" marL="0">
              <a:buNone/>
            </a:pPr>
            <a:r>
              <a:rPr lang="en-US" sz="1100" b="1" dirty="0">
                <a:solidFill>
                  <a:srgbClr val="10B981"/>
                </a:solidFill>
                <a:latin typeface="Segoe UI" pitchFamily="34" charset="0"/>
                <a:ea typeface="Segoe UI" pitchFamily="34" charset="-122"/>
                <a:cs typeface="Segoe UI" pitchFamily="34" charset="-120"/>
              </a:rPr>
              <a:t>Fix: </a:t>
            </a:r>
            <a:pPr indent="0" marL="0">
              <a:buNone/>
            </a:pPr>
            <a:r>
              <a:rPr lang="en-US" sz="1100" dirty="0">
                <a:solidFill>
                  <a:srgbClr val="E2E8F0"/>
                </a:solidFill>
                <a:latin typeface="Segoe UI" pitchFamily="34" charset="0"/>
                <a:ea typeface="Segoe UI" pitchFamily="34" charset="-122"/>
                <a:cs typeface="Segoe UI" pitchFamily="34" charset="-120"/>
              </a:rPr>
              <a:t>Probed Vertex endpoints automatically and discovered our project uses location: "global" + "gemini-3-flash-preview"!</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9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ACT III • AUTOMATED RELEASE ENGINEERING</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One Command: Review → Generate Tests → Diagnose → Deploy</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How npm run vertex:deploy orchestrates Vertex AI and Google Cloud Run.</a:t>
            </a:r>
            <a:endParaRPr lang="en-US" sz="1250" dirty="0"/>
          </a:p>
        </p:txBody>
      </p:sp>
      <p:sp>
        <p:nvSpPr>
          <p:cNvPr id="11" name="Shape 9"/>
          <p:cNvSpPr/>
          <p:nvPr/>
        </p:nvSpPr>
        <p:spPr>
          <a:xfrm>
            <a:off x="548640" y="1554480"/>
            <a:ext cx="2651760" cy="4480560"/>
          </a:xfrm>
          <a:prstGeom prst="roundRect">
            <a:avLst>
              <a:gd name="adj" fmla="val 4138"/>
            </a:avLst>
          </a:prstGeom>
          <a:solidFill>
            <a:srgbClr val="130B24"/>
          </a:solidFill>
          <a:ln w="16510">
            <a:solidFill>
              <a:srgbClr val="8B5CF6"/>
            </a:solidFill>
            <a:prstDash val="solid"/>
          </a:ln>
        </p:spPr>
      </p:sp>
      <p:sp>
        <p:nvSpPr>
          <p:cNvPr id="12" name="Shape 10"/>
          <p:cNvSpPr/>
          <p:nvPr/>
        </p:nvSpPr>
        <p:spPr>
          <a:xfrm>
            <a:off x="731520" y="1737360"/>
            <a:ext cx="1005840" cy="274320"/>
          </a:xfrm>
          <a:prstGeom prst="roundRect">
            <a:avLst>
              <a:gd name="adj" fmla="val 20000"/>
            </a:avLst>
          </a:prstGeom>
          <a:solidFill>
            <a:srgbClr val="8B5CF6"/>
          </a:solidFill>
          <a:ln w="12700">
            <a:solidFill>
              <a:srgbClr val="8B5CF6"/>
            </a:solidFill>
            <a:prstDash val="solid"/>
          </a:ln>
        </p:spPr>
      </p:sp>
      <p:sp>
        <p:nvSpPr>
          <p:cNvPr id="13" name="Text 11"/>
          <p:cNvSpPr/>
          <p:nvPr/>
        </p:nvSpPr>
        <p:spPr>
          <a:xfrm>
            <a:off x="731520" y="1737360"/>
            <a:ext cx="1005840" cy="274320"/>
          </a:xfrm>
          <a:prstGeom prst="rect">
            <a:avLst/>
          </a:prstGeom>
          <a:noFill/>
          <a:ln/>
        </p:spPr>
        <p:txBody>
          <a:bodyPr wrap="square" rtlCol="0" anchor="ctr"/>
          <a:lstStyle/>
          <a:p>
            <a:pPr algn="ctr" indent="0" marL="0">
              <a:buNone/>
            </a:pPr>
            <a:r>
              <a:rPr lang="en-US" sz="950" b="1" dirty="0">
                <a:solidFill>
                  <a:srgbClr val="F8FAFC"/>
                </a:solidFill>
                <a:latin typeface="Segoe UI" pitchFamily="34" charset="0"/>
                <a:ea typeface="Segoe UI" pitchFamily="34" charset="-122"/>
                <a:cs typeface="Segoe UI" pitchFamily="34" charset="-120"/>
              </a:rPr>
              <a:t>STAGE 1</a:t>
            </a:r>
            <a:endParaRPr lang="en-US" sz="950" dirty="0"/>
          </a:p>
        </p:txBody>
      </p:sp>
      <p:sp>
        <p:nvSpPr>
          <p:cNvPr id="14" name="Text 12"/>
          <p:cNvSpPr/>
          <p:nvPr/>
        </p:nvSpPr>
        <p:spPr>
          <a:xfrm>
            <a:off x="731520" y="2121408"/>
            <a:ext cx="2286000" cy="347472"/>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AI Code Review</a:t>
            </a:r>
            <a:endParaRPr lang="en-US" sz="1500" dirty="0"/>
          </a:p>
        </p:txBody>
      </p:sp>
      <p:sp>
        <p:nvSpPr>
          <p:cNvPr id="15" name="Text 13"/>
          <p:cNvSpPr/>
          <p:nvPr/>
        </p:nvSpPr>
        <p:spPr>
          <a:xfrm>
            <a:off x="731520" y="2468880"/>
            <a:ext cx="2286000" cy="256032"/>
          </a:xfrm>
          <a:prstGeom prst="rect">
            <a:avLst/>
          </a:prstGeom>
          <a:noFill/>
          <a:ln/>
        </p:spPr>
        <p:txBody>
          <a:bodyPr wrap="square" rtlCol="0" anchor="ctr"/>
          <a:lstStyle/>
          <a:p>
            <a:pPr indent="0" marL="0">
              <a:buNone/>
            </a:pPr>
            <a:r>
              <a:rPr lang="en-US" sz="1000" dirty="0">
                <a:solidFill>
                  <a:srgbClr val="C084FC"/>
                </a:solidFill>
                <a:latin typeface="Consolas" pitchFamily="34" charset="0"/>
                <a:ea typeface="Consolas" pitchFamily="34" charset="-122"/>
                <a:cs typeface="Consolas" pitchFamily="34" charset="-120"/>
              </a:rPr>
              <a:t>scripts/ai-review.ts</a:t>
            </a:r>
            <a:endParaRPr lang="en-US" sz="1000" dirty="0"/>
          </a:p>
        </p:txBody>
      </p:sp>
      <p:sp>
        <p:nvSpPr>
          <p:cNvPr id="16" name="Text 14"/>
          <p:cNvSpPr/>
          <p:nvPr/>
        </p:nvSpPr>
        <p:spPr>
          <a:xfrm>
            <a:off x="731520" y="2880360"/>
            <a:ext cx="2286000" cy="2926080"/>
          </a:xfrm>
          <a:prstGeom prst="rect">
            <a:avLst/>
          </a:prstGeom>
          <a:noFill/>
          <a:ln/>
        </p:spPr>
        <p:txBody>
          <a:bodyPr wrap="square" rtlCol="0" anchor="t"/>
          <a:lstStyle/>
          <a:p>
            <a:pPr indent="0" marL="0">
              <a:buNone/>
            </a:pPr>
            <a:r>
              <a:rPr lang="en-US" sz="1080" dirty="0">
                <a:solidFill>
                  <a:srgbClr val="E2E8F0"/>
                </a:solidFill>
                <a:latin typeface="Segoe UI" pitchFamily="34" charset="0"/>
                <a:ea typeface="Segoe UI" pitchFamily="34" charset="-122"/>
                <a:cs typeface="Segoe UI" pitchFamily="34" charset="-120"/>
              </a:rPr>
              <a:t>• Bundles server/src, client/src &amp; SPEC.md</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Audits security, race conditions &amp; spec compliance</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Outputs readiness score (0–100) + reports/code-review.md</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Blocks deploy on CRITICAL findings</a:t>
            </a:r>
            <a:endParaRPr lang="en-US" sz="1080" dirty="0"/>
          </a:p>
        </p:txBody>
      </p:sp>
      <p:sp>
        <p:nvSpPr>
          <p:cNvPr id="17" name="Shape 15"/>
          <p:cNvSpPr/>
          <p:nvPr/>
        </p:nvSpPr>
        <p:spPr>
          <a:xfrm>
            <a:off x="3364992" y="1554480"/>
            <a:ext cx="2651760" cy="4480560"/>
          </a:xfrm>
          <a:prstGeom prst="roundRect">
            <a:avLst>
              <a:gd name="adj" fmla="val 4138"/>
            </a:avLst>
          </a:prstGeom>
          <a:solidFill>
            <a:srgbClr val="130B24"/>
          </a:solidFill>
          <a:ln w="16510">
            <a:solidFill>
              <a:srgbClr val="8B5CF6"/>
            </a:solidFill>
            <a:prstDash val="solid"/>
          </a:ln>
        </p:spPr>
      </p:sp>
      <p:sp>
        <p:nvSpPr>
          <p:cNvPr id="18" name="Shape 16"/>
          <p:cNvSpPr/>
          <p:nvPr/>
        </p:nvSpPr>
        <p:spPr>
          <a:xfrm>
            <a:off x="3547872" y="1737360"/>
            <a:ext cx="1005840" cy="274320"/>
          </a:xfrm>
          <a:prstGeom prst="roundRect">
            <a:avLst>
              <a:gd name="adj" fmla="val 20000"/>
            </a:avLst>
          </a:prstGeom>
          <a:solidFill>
            <a:srgbClr val="8B5CF6"/>
          </a:solidFill>
          <a:ln w="12700">
            <a:solidFill>
              <a:srgbClr val="8B5CF6"/>
            </a:solidFill>
            <a:prstDash val="solid"/>
          </a:ln>
        </p:spPr>
      </p:sp>
      <p:sp>
        <p:nvSpPr>
          <p:cNvPr id="19" name="Text 17"/>
          <p:cNvSpPr/>
          <p:nvPr/>
        </p:nvSpPr>
        <p:spPr>
          <a:xfrm>
            <a:off x="3547872" y="1737360"/>
            <a:ext cx="1005840" cy="274320"/>
          </a:xfrm>
          <a:prstGeom prst="rect">
            <a:avLst/>
          </a:prstGeom>
          <a:noFill/>
          <a:ln/>
        </p:spPr>
        <p:txBody>
          <a:bodyPr wrap="square" rtlCol="0" anchor="ctr"/>
          <a:lstStyle/>
          <a:p>
            <a:pPr algn="ctr" indent="0" marL="0">
              <a:buNone/>
            </a:pPr>
            <a:r>
              <a:rPr lang="en-US" sz="950" b="1" dirty="0">
                <a:solidFill>
                  <a:srgbClr val="F8FAFC"/>
                </a:solidFill>
                <a:latin typeface="Segoe UI" pitchFamily="34" charset="0"/>
                <a:ea typeface="Segoe UI" pitchFamily="34" charset="-122"/>
                <a:cs typeface="Segoe UI" pitchFamily="34" charset="-120"/>
              </a:rPr>
              <a:t>STAGE 2</a:t>
            </a:r>
            <a:endParaRPr lang="en-US" sz="950" dirty="0"/>
          </a:p>
        </p:txBody>
      </p:sp>
      <p:sp>
        <p:nvSpPr>
          <p:cNvPr id="20" name="Text 18"/>
          <p:cNvSpPr/>
          <p:nvPr/>
        </p:nvSpPr>
        <p:spPr>
          <a:xfrm>
            <a:off x="3547872" y="2121408"/>
            <a:ext cx="2286000" cy="347472"/>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AI Test Generation</a:t>
            </a:r>
            <a:endParaRPr lang="en-US" sz="1500" dirty="0"/>
          </a:p>
        </p:txBody>
      </p:sp>
      <p:sp>
        <p:nvSpPr>
          <p:cNvPr id="21" name="Text 19"/>
          <p:cNvSpPr/>
          <p:nvPr/>
        </p:nvSpPr>
        <p:spPr>
          <a:xfrm>
            <a:off x="3547872" y="2468880"/>
            <a:ext cx="2286000" cy="256032"/>
          </a:xfrm>
          <a:prstGeom prst="rect">
            <a:avLst/>
          </a:prstGeom>
          <a:noFill/>
          <a:ln/>
        </p:spPr>
        <p:txBody>
          <a:bodyPr wrap="square" rtlCol="0" anchor="ctr"/>
          <a:lstStyle/>
          <a:p>
            <a:pPr indent="0" marL="0">
              <a:buNone/>
            </a:pPr>
            <a:r>
              <a:rPr lang="en-US" sz="1000" dirty="0">
                <a:solidFill>
                  <a:srgbClr val="C084FC"/>
                </a:solidFill>
                <a:latin typeface="Consolas" pitchFamily="34" charset="0"/>
                <a:ea typeface="Consolas" pitchFamily="34" charset="-122"/>
                <a:cs typeface="Consolas" pitchFamily="34" charset="-120"/>
              </a:rPr>
              <a:t>scripts/ai-generate-tests.ts</a:t>
            </a:r>
            <a:endParaRPr lang="en-US" sz="1000" dirty="0"/>
          </a:p>
        </p:txBody>
      </p:sp>
      <p:sp>
        <p:nvSpPr>
          <p:cNvPr id="22" name="Text 20"/>
          <p:cNvSpPr/>
          <p:nvPr/>
        </p:nvSpPr>
        <p:spPr>
          <a:xfrm>
            <a:off x="3547872" y="2880360"/>
            <a:ext cx="2286000" cy="2926080"/>
          </a:xfrm>
          <a:prstGeom prst="rect">
            <a:avLst/>
          </a:prstGeom>
          <a:noFill/>
          <a:ln/>
        </p:spPr>
        <p:txBody>
          <a:bodyPr wrap="square" rtlCol="0" anchor="t"/>
          <a:lstStyle/>
          <a:p>
            <a:pPr indent="0" marL="0">
              <a:buNone/>
            </a:pPr>
            <a:r>
              <a:rPr lang="en-US" sz="1080" dirty="0">
                <a:solidFill>
                  <a:srgbClr val="E2E8F0"/>
                </a:solidFill>
                <a:latin typeface="Segoe UI" pitchFamily="34" charset="0"/>
                <a:ea typeface="Segoe UI" pitchFamily="34" charset="-122"/>
                <a:cs typeface="Segoe UI" pitchFamily="34" charset="-120"/>
              </a:rPr>
              <a:t>• Inspects Express routes &amp; data models</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Generates Vitest + Supertest integration suite</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Covers auth, 400/404s, deduplication &amp; CSV escaping</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Writes server/tests/vertex-generated.test.ts</a:t>
            </a:r>
            <a:endParaRPr lang="en-US" sz="1080" dirty="0"/>
          </a:p>
        </p:txBody>
      </p:sp>
      <p:sp>
        <p:nvSpPr>
          <p:cNvPr id="23" name="Shape 21"/>
          <p:cNvSpPr/>
          <p:nvPr/>
        </p:nvSpPr>
        <p:spPr>
          <a:xfrm>
            <a:off x="6181344" y="1554480"/>
            <a:ext cx="2651760" cy="4480560"/>
          </a:xfrm>
          <a:prstGeom prst="roundRect">
            <a:avLst>
              <a:gd name="adj" fmla="val 4138"/>
            </a:avLst>
          </a:prstGeom>
          <a:solidFill>
            <a:srgbClr val="130B24"/>
          </a:solidFill>
          <a:ln w="16510">
            <a:solidFill>
              <a:srgbClr val="8B5CF6"/>
            </a:solidFill>
            <a:prstDash val="solid"/>
          </a:ln>
        </p:spPr>
      </p:sp>
      <p:sp>
        <p:nvSpPr>
          <p:cNvPr id="24" name="Shape 22"/>
          <p:cNvSpPr/>
          <p:nvPr/>
        </p:nvSpPr>
        <p:spPr>
          <a:xfrm>
            <a:off x="6364224" y="1737360"/>
            <a:ext cx="1005840" cy="274320"/>
          </a:xfrm>
          <a:prstGeom prst="roundRect">
            <a:avLst>
              <a:gd name="adj" fmla="val 20000"/>
            </a:avLst>
          </a:prstGeom>
          <a:solidFill>
            <a:srgbClr val="8B5CF6"/>
          </a:solidFill>
          <a:ln w="12700">
            <a:solidFill>
              <a:srgbClr val="8B5CF6"/>
            </a:solidFill>
            <a:prstDash val="solid"/>
          </a:ln>
        </p:spPr>
      </p:sp>
      <p:sp>
        <p:nvSpPr>
          <p:cNvPr id="25" name="Text 23"/>
          <p:cNvSpPr/>
          <p:nvPr/>
        </p:nvSpPr>
        <p:spPr>
          <a:xfrm>
            <a:off x="6364224" y="1737360"/>
            <a:ext cx="1005840" cy="274320"/>
          </a:xfrm>
          <a:prstGeom prst="rect">
            <a:avLst/>
          </a:prstGeom>
          <a:noFill/>
          <a:ln/>
        </p:spPr>
        <p:txBody>
          <a:bodyPr wrap="square" rtlCol="0" anchor="ctr"/>
          <a:lstStyle/>
          <a:p>
            <a:pPr algn="ctr" indent="0" marL="0">
              <a:buNone/>
            </a:pPr>
            <a:r>
              <a:rPr lang="en-US" sz="950" b="1" dirty="0">
                <a:solidFill>
                  <a:srgbClr val="F8FAFC"/>
                </a:solidFill>
                <a:latin typeface="Segoe UI" pitchFamily="34" charset="0"/>
                <a:ea typeface="Segoe UI" pitchFamily="34" charset="-122"/>
                <a:cs typeface="Segoe UI" pitchFamily="34" charset="-120"/>
              </a:rPr>
              <a:t>STAGE 3</a:t>
            </a:r>
            <a:endParaRPr lang="en-US" sz="950" dirty="0"/>
          </a:p>
        </p:txBody>
      </p:sp>
      <p:sp>
        <p:nvSpPr>
          <p:cNvPr id="26" name="Text 24"/>
          <p:cNvSpPr/>
          <p:nvPr/>
        </p:nvSpPr>
        <p:spPr>
          <a:xfrm>
            <a:off x="6364224" y="2121408"/>
            <a:ext cx="2286000" cy="347472"/>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Identify Problems</a:t>
            </a:r>
            <a:endParaRPr lang="en-US" sz="1500" dirty="0"/>
          </a:p>
        </p:txBody>
      </p:sp>
      <p:sp>
        <p:nvSpPr>
          <p:cNvPr id="27" name="Text 25"/>
          <p:cNvSpPr/>
          <p:nvPr/>
        </p:nvSpPr>
        <p:spPr>
          <a:xfrm>
            <a:off x="6364224" y="2468880"/>
            <a:ext cx="2286000" cy="256032"/>
          </a:xfrm>
          <a:prstGeom prst="rect">
            <a:avLst/>
          </a:prstGeom>
          <a:noFill/>
          <a:ln/>
        </p:spPr>
        <p:txBody>
          <a:bodyPr wrap="square" rtlCol="0" anchor="ctr"/>
          <a:lstStyle/>
          <a:p>
            <a:pPr indent="0" marL="0">
              <a:buNone/>
            </a:pPr>
            <a:r>
              <a:rPr lang="en-US" sz="1000" dirty="0">
                <a:solidFill>
                  <a:srgbClr val="C084FC"/>
                </a:solidFill>
                <a:latin typeface="Consolas" pitchFamily="34" charset="0"/>
                <a:ea typeface="Consolas" pitchFamily="34" charset="-122"/>
                <a:cs typeface="Consolas" pitchFamily="34" charset="-120"/>
              </a:rPr>
              <a:t>scripts/ai-diagnose.ts</a:t>
            </a:r>
            <a:endParaRPr lang="en-US" sz="1000" dirty="0"/>
          </a:p>
        </p:txBody>
      </p:sp>
      <p:sp>
        <p:nvSpPr>
          <p:cNvPr id="28" name="Text 26"/>
          <p:cNvSpPr/>
          <p:nvPr/>
        </p:nvSpPr>
        <p:spPr>
          <a:xfrm>
            <a:off x="6364224" y="2880360"/>
            <a:ext cx="2286000" cy="2926080"/>
          </a:xfrm>
          <a:prstGeom prst="rect">
            <a:avLst/>
          </a:prstGeom>
          <a:noFill/>
          <a:ln/>
        </p:spPr>
        <p:txBody>
          <a:bodyPr wrap="square" rtlCol="0" anchor="t"/>
          <a:lstStyle/>
          <a:p>
            <a:pPr indent="0" marL="0">
              <a:buNone/>
            </a:pPr>
            <a:r>
              <a:rPr lang="en-US" sz="1080" dirty="0">
                <a:solidFill>
                  <a:srgbClr val="E2E8F0"/>
                </a:solidFill>
                <a:latin typeface="Segoe UI" pitchFamily="34" charset="0"/>
                <a:ea typeface="Segoe UI" pitchFamily="34" charset="-122"/>
                <a:cs typeface="Segoe UI" pitchFamily="34" charset="-120"/>
              </a:rPr>
              <a:t>• Runs all 19 unit &amp; integration tests + tsc/vite build</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If any step fails, sends stack trace to Vertex AI</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Pinpoints exact root cause &amp; code fix</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Saves reports/problem-diagnosis.md</a:t>
            </a:r>
            <a:endParaRPr lang="en-US" sz="1080" dirty="0"/>
          </a:p>
        </p:txBody>
      </p:sp>
      <p:sp>
        <p:nvSpPr>
          <p:cNvPr id="29" name="Shape 27"/>
          <p:cNvSpPr/>
          <p:nvPr/>
        </p:nvSpPr>
        <p:spPr>
          <a:xfrm>
            <a:off x="8997696" y="1554480"/>
            <a:ext cx="2651760" cy="4480560"/>
          </a:xfrm>
          <a:prstGeom prst="roundRect">
            <a:avLst>
              <a:gd name="adj" fmla="val 4138"/>
            </a:avLst>
          </a:prstGeom>
          <a:solidFill>
            <a:srgbClr val="130B24"/>
          </a:solidFill>
          <a:ln w="16510">
            <a:solidFill>
              <a:srgbClr val="8B5CF6"/>
            </a:solidFill>
            <a:prstDash val="solid"/>
          </a:ln>
        </p:spPr>
      </p:sp>
      <p:sp>
        <p:nvSpPr>
          <p:cNvPr id="30" name="Shape 28"/>
          <p:cNvSpPr/>
          <p:nvPr/>
        </p:nvSpPr>
        <p:spPr>
          <a:xfrm>
            <a:off x="9180576" y="1737360"/>
            <a:ext cx="1005840" cy="274320"/>
          </a:xfrm>
          <a:prstGeom prst="roundRect">
            <a:avLst>
              <a:gd name="adj" fmla="val 20000"/>
            </a:avLst>
          </a:prstGeom>
          <a:solidFill>
            <a:srgbClr val="8B5CF6"/>
          </a:solidFill>
          <a:ln w="12700">
            <a:solidFill>
              <a:srgbClr val="8B5CF6"/>
            </a:solidFill>
            <a:prstDash val="solid"/>
          </a:ln>
        </p:spPr>
      </p:sp>
      <p:sp>
        <p:nvSpPr>
          <p:cNvPr id="31" name="Text 29"/>
          <p:cNvSpPr/>
          <p:nvPr/>
        </p:nvSpPr>
        <p:spPr>
          <a:xfrm>
            <a:off x="9180576" y="1737360"/>
            <a:ext cx="1005840" cy="274320"/>
          </a:xfrm>
          <a:prstGeom prst="rect">
            <a:avLst/>
          </a:prstGeom>
          <a:noFill/>
          <a:ln/>
        </p:spPr>
        <p:txBody>
          <a:bodyPr wrap="square" rtlCol="0" anchor="ctr"/>
          <a:lstStyle/>
          <a:p>
            <a:pPr algn="ctr" indent="0" marL="0">
              <a:buNone/>
            </a:pPr>
            <a:r>
              <a:rPr lang="en-US" sz="950" b="1" dirty="0">
                <a:solidFill>
                  <a:srgbClr val="F8FAFC"/>
                </a:solidFill>
                <a:latin typeface="Segoe UI" pitchFamily="34" charset="0"/>
                <a:ea typeface="Segoe UI" pitchFamily="34" charset="-122"/>
                <a:cs typeface="Segoe UI" pitchFamily="34" charset="-120"/>
              </a:rPr>
              <a:t>STAGE 4</a:t>
            </a:r>
            <a:endParaRPr lang="en-US" sz="950" dirty="0"/>
          </a:p>
        </p:txBody>
      </p:sp>
      <p:sp>
        <p:nvSpPr>
          <p:cNvPr id="32" name="Text 30"/>
          <p:cNvSpPr/>
          <p:nvPr/>
        </p:nvSpPr>
        <p:spPr>
          <a:xfrm>
            <a:off x="9180576" y="2121408"/>
            <a:ext cx="2286000" cy="347472"/>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Cloud Run Deploy</a:t>
            </a:r>
            <a:endParaRPr lang="en-US" sz="1500" dirty="0"/>
          </a:p>
        </p:txBody>
      </p:sp>
      <p:sp>
        <p:nvSpPr>
          <p:cNvPr id="33" name="Text 31"/>
          <p:cNvSpPr/>
          <p:nvPr/>
        </p:nvSpPr>
        <p:spPr>
          <a:xfrm>
            <a:off x="9180576" y="2468880"/>
            <a:ext cx="2286000" cy="256032"/>
          </a:xfrm>
          <a:prstGeom prst="rect">
            <a:avLst/>
          </a:prstGeom>
          <a:noFill/>
          <a:ln/>
        </p:spPr>
        <p:txBody>
          <a:bodyPr wrap="square" rtlCol="0" anchor="ctr"/>
          <a:lstStyle/>
          <a:p>
            <a:pPr indent="0" marL="0">
              <a:buNone/>
            </a:pPr>
            <a:r>
              <a:rPr lang="en-US" sz="1000" dirty="0">
                <a:solidFill>
                  <a:srgbClr val="C084FC"/>
                </a:solidFill>
                <a:latin typeface="Consolas" pitchFamily="34" charset="0"/>
                <a:ea typeface="Consolas" pitchFamily="34" charset="-122"/>
                <a:cs typeface="Consolas" pitchFamily="34" charset="-120"/>
              </a:rPr>
              <a:t>gcloud run deploy</a:t>
            </a:r>
            <a:endParaRPr lang="en-US" sz="1000" dirty="0"/>
          </a:p>
        </p:txBody>
      </p:sp>
      <p:sp>
        <p:nvSpPr>
          <p:cNvPr id="34" name="Text 32"/>
          <p:cNvSpPr/>
          <p:nvPr/>
        </p:nvSpPr>
        <p:spPr>
          <a:xfrm>
            <a:off x="9180576" y="2880360"/>
            <a:ext cx="2286000" cy="2926080"/>
          </a:xfrm>
          <a:prstGeom prst="rect">
            <a:avLst/>
          </a:prstGeom>
          <a:noFill/>
          <a:ln/>
        </p:spPr>
        <p:txBody>
          <a:bodyPr wrap="square" rtlCol="0" anchor="t"/>
          <a:lstStyle/>
          <a:p>
            <a:pPr indent="0" marL="0">
              <a:buNone/>
            </a:pPr>
            <a:r>
              <a:rPr lang="en-US" sz="1080" dirty="0">
                <a:solidFill>
                  <a:srgbClr val="E2E8F0"/>
                </a:solidFill>
                <a:latin typeface="Segoe UI" pitchFamily="34" charset="0"/>
                <a:ea typeface="Segoe UI" pitchFamily="34" charset="-122"/>
                <a:cs typeface="Segoe UI" pitchFamily="34" charset="-120"/>
              </a:rPr>
              <a:t>• Packages pre-built dist/ into slim Node 22 Alpine image</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Pushes to Google Artifact Registry</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Deploys serverless container to us-central1</a:t>
            </a:r>
            <a:endParaRPr lang="en-US" sz="1080" dirty="0"/>
          </a:p>
          <a:p>
            <a:pPr indent="0" marL="0">
              <a:buNone/>
            </a:pPr>
            <a:endParaRPr lang="en-US" sz="1080" dirty="0"/>
          </a:p>
          <a:p>
            <a:pPr indent="0" marL="0">
              <a:buNone/>
            </a:pPr>
            <a:r>
              <a:rPr lang="en-US" sz="1080" dirty="0">
                <a:solidFill>
                  <a:srgbClr val="E2E8F0"/>
                </a:solidFill>
                <a:latin typeface="Segoe UI" pitchFamily="34" charset="0"/>
                <a:ea typeface="Segoe UI" pitchFamily="34" charset="-122"/>
                <a:cs typeface="Segoe UI" pitchFamily="34" charset="-120"/>
              </a:rPr>
              <a:t>• Routes 100% traffic to live HTTPS URL</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10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ACT III • REAL PIPELINE OUTPUT</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When Vertex AI Blocked Our Deployment (And Caught Real Bugs!)</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Actual terminal output from our first live run of npm run ai:review on AICRM.</a:t>
            </a:r>
            <a:endParaRPr lang="en-US" sz="1250" dirty="0"/>
          </a:p>
        </p:txBody>
      </p:sp>
      <p:sp>
        <p:nvSpPr>
          <p:cNvPr id="11" name="Shape 9"/>
          <p:cNvSpPr/>
          <p:nvPr/>
        </p:nvSpPr>
        <p:spPr>
          <a:xfrm>
            <a:off x="548640" y="1508760"/>
            <a:ext cx="6675120" cy="4572000"/>
          </a:xfrm>
          <a:prstGeom prst="roundRect">
            <a:avLst>
              <a:gd name="adj" fmla="val 2000"/>
            </a:avLst>
          </a:prstGeom>
          <a:solidFill>
            <a:srgbClr val="06030D"/>
          </a:solidFill>
          <a:ln w="17780">
            <a:solidFill>
              <a:srgbClr val="F43F5E"/>
            </a:solidFill>
            <a:prstDash val="solid"/>
          </a:ln>
        </p:spPr>
      </p:sp>
      <p:sp>
        <p:nvSpPr>
          <p:cNvPr id="12" name="Text 10"/>
          <p:cNvSpPr/>
          <p:nvPr/>
        </p:nvSpPr>
        <p:spPr>
          <a:xfrm>
            <a:off x="777240" y="1664208"/>
            <a:ext cx="6217920" cy="292608"/>
          </a:xfrm>
          <a:prstGeom prst="rect">
            <a:avLst/>
          </a:prstGeom>
          <a:noFill/>
          <a:ln/>
        </p:spPr>
        <p:txBody>
          <a:bodyPr wrap="square" rtlCol="0" anchor="ctr"/>
          <a:lstStyle/>
          <a:p>
            <a:pPr indent="0" marL="0">
              <a:buNone/>
            </a:pPr>
            <a:r>
              <a:rPr lang="en-US" sz="1050" b="1" dirty="0">
                <a:solidFill>
                  <a:srgbClr val="C084FC"/>
                </a:solidFill>
                <a:latin typeface="Consolas" pitchFamily="34" charset="0"/>
                <a:ea typeface="Consolas" pitchFamily="34" charset="-122"/>
                <a:cs typeface="Consolas" pitchFamily="34" charset="-120"/>
              </a:rPr>
              <a:t>Terminal — npm run ai:review (gemini-3-flash-preview)</a:t>
            </a:r>
            <a:endParaRPr lang="en-US" sz="1050" dirty="0"/>
          </a:p>
        </p:txBody>
      </p:sp>
      <p:sp>
        <p:nvSpPr>
          <p:cNvPr id="13" name="Text 11"/>
          <p:cNvSpPr/>
          <p:nvPr/>
        </p:nvSpPr>
        <p:spPr>
          <a:xfrm>
            <a:off x="777240" y="2029968"/>
            <a:ext cx="6217920" cy="3840480"/>
          </a:xfrm>
          <a:prstGeom prst="rect">
            <a:avLst/>
          </a:prstGeom>
          <a:noFill/>
          <a:ln/>
        </p:spPr>
        <p:txBody>
          <a:bodyPr wrap="square" rtlCol="0" anchor="t"/>
          <a:lstStyle/>
          <a:p>
            <a:pPr indent="0" marL="0">
              <a:buNone/>
            </a:pPr>
            <a:r>
              <a:rPr lang="en-US" sz="1020" dirty="0">
                <a:solidFill>
                  <a:srgbClr val="E2E8F0"/>
                </a:solidFill>
                <a:latin typeface="Consolas" pitchFamily="34" charset="0"/>
                <a:ea typeface="Consolas" pitchFamily="34" charset="-122"/>
                <a:cs typeface="Consolas" pitchFamily="34" charset="-120"/>
              </a:rPr>
              <a:t>Connecting to Google Cloud Vertex AI (gen-lang-client-0251338670 / global)...</a:t>
            </a:r>
            <a:endParaRPr lang="en-US" sz="1020" dirty="0"/>
          </a:p>
          <a:p>
            <a:pPr indent="0" marL="0">
              <a:buNone/>
            </a:pP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Readiness Score: 62/100 | Status: BLOCKED</a:t>
            </a:r>
            <a:endParaRPr lang="en-US" sz="1020" dirty="0"/>
          </a:p>
          <a:p>
            <a:pPr indent="0" marL="0">
              <a:buNone/>
            </a:pP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Findings: 1 CRITICAL, 3 WARNING, 2 SUGGESTION</a:t>
            </a: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[CRITICAL] (server/src/storage.ts)</a:t>
            </a: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  Data Loss via Concurrent Write Race Condition</a:t>
            </a: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  -&gt; Implement a mutex/lock or promise queue in ListStorage so</a:t>
            </a: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     concurrent enrichment requests do not overwrite lists.json.</a:t>
            </a:r>
            <a:endParaRPr lang="en-US" sz="1020" dirty="0"/>
          </a:p>
          <a:p>
            <a:pPr indent="0" marL="0">
              <a:buNone/>
            </a:pP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[WARNING] (server/src/gemini.ts)</a:t>
            </a: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  Specification Non-Compliance: Missing Search Grounding</a:t>
            </a: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  -&gt; SPEC.md specifies Gemini Search Grounding, but gemini.ts</a:t>
            </a: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     uses Google Places API (New) + Website Scraping.</a:t>
            </a:r>
            <a:endParaRPr lang="en-US" sz="1020" dirty="0"/>
          </a:p>
          <a:p>
            <a:pPr indent="0" marL="0">
              <a:buNone/>
            </a:pP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[WARNING] (server/src/app.ts)</a:t>
            </a: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  Hardcoded Default JWT Secret Fallback</a:t>
            </a:r>
            <a:endParaRPr lang="en-US" sz="1020" dirty="0"/>
          </a:p>
          <a:p>
            <a:pPr indent="0" marL="0">
              <a:buNone/>
            </a:pPr>
            <a:endParaRPr lang="en-US" sz="1020" dirty="0"/>
          </a:p>
          <a:p>
            <a:pPr indent="0" marL="0">
              <a:buNone/>
            </a:pPr>
            <a:r>
              <a:rPr lang="en-US" sz="1020" dirty="0">
                <a:solidFill>
                  <a:srgbClr val="E2E8F0"/>
                </a:solidFill>
                <a:latin typeface="Consolas" pitchFamily="34" charset="0"/>
                <a:ea typeface="Consolas" pitchFamily="34" charset="-122"/>
                <a:cs typeface="Consolas" pitchFamily="34" charset="-120"/>
              </a:rPr>
              <a:t>Deployment blocked due to CRITICAL code review findings.</a:t>
            </a:r>
            <a:endParaRPr lang="en-US" sz="1020" dirty="0"/>
          </a:p>
        </p:txBody>
      </p:sp>
      <p:sp>
        <p:nvSpPr>
          <p:cNvPr id="14" name="Shape 12"/>
          <p:cNvSpPr/>
          <p:nvPr/>
        </p:nvSpPr>
        <p:spPr>
          <a:xfrm>
            <a:off x="7452360" y="1508760"/>
            <a:ext cx="4187952" cy="2148840"/>
          </a:xfrm>
          <a:prstGeom prst="roundRect">
            <a:avLst>
              <a:gd name="adj" fmla="val 4255"/>
            </a:avLst>
          </a:prstGeom>
          <a:solidFill>
            <a:srgbClr val="130B24"/>
          </a:solidFill>
          <a:ln w="15240">
            <a:solidFill>
              <a:srgbClr val="8B5CF6"/>
            </a:solidFill>
            <a:prstDash val="solid"/>
          </a:ln>
        </p:spPr>
      </p:sp>
      <p:sp>
        <p:nvSpPr>
          <p:cNvPr id="15" name="Text 13"/>
          <p:cNvSpPr/>
          <p:nvPr/>
        </p:nvSpPr>
        <p:spPr>
          <a:xfrm>
            <a:off x="7680960" y="1691640"/>
            <a:ext cx="374904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Why This Was a Huge Win</a:t>
            </a:r>
            <a:endParaRPr lang="en-US" sz="1400" dirty="0"/>
          </a:p>
        </p:txBody>
      </p:sp>
      <p:sp>
        <p:nvSpPr>
          <p:cNvPr id="16" name="Text 14"/>
          <p:cNvSpPr/>
          <p:nvPr/>
        </p:nvSpPr>
        <p:spPr>
          <a:xfrm>
            <a:off x="7680960" y="2084832"/>
            <a:ext cx="3749040" cy="1417320"/>
          </a:xfrm>
          <a:prstGeom prst="rect">
            <a:avLst/>
          </a:prstGeom>
          <a:noFill/>
          <a:ln/>
        </p:spPr>
        <p:txBody>
          <a:bodyPr wrap="square" rtlCol="0" anchor="ctr"/>
          <a:lstStyle/>
          <a:p>
            <a:pPr indent="0" marL="0">
              <a:buNone/>
            </a:pPr>
            <a:r>
              <a:rPr lang="en-US" sz="1100" dirty="0">
                <a:solidFill>
                  <a:srgbClr val="E2E8F0"/>
                </a:solidFill>
                <a:latin typeface="Segoe UI" pitchFamily="34" charset="0"/>
                <a:ea typeface="Segoe UI" pitchFamily="34" charset="-122"/>
                <a:cs typeface="Segoe UI" pitchFamily="34" charset="-120"/>
              </a:rPr>
              <a:t>• Caught a real race condition when clicking "Enrich" on multiple leads simultaneously.</a:t>
            </a:r>
            <a:endParaRPr lang="en-US" sz="1100" dirty="0"/>
          </a:p>
          <a:p>
            <a:pPr indent="0" marL="0">
              <a:buNone/>
            </a:pPr>
            <a:r>
              <a:rPr lang="en-US" sz="1100" dirty="0">
                <a:solidFill>
                  <a:srgbClr val="E2E8F0"/>
                </a:solidFill>
                <a:latin typeface="Segoe UI" pitchFamily="34" charset="0"/>
                <a:ea typeface="Segoe UI" pitchFamily="34" charset="-122"/>
                <a:cs typeface="Segoe UI" pitchFamily="34" charset="-120"/>
              </a:rPr>
              <a:t>• Caught spec drift where code evolved faster than SPEC.md.</a:t>
            </a:r>
            <a:endParaRPr lang="en-US" sz="1100" dirty="0"/>
          </a:p>
          <a:p>
            <a:pPr indent="0" marL="0">
              <a:buNone/>
            </a:pPr>
            <a:r>
              <a:rPr lang="en-US" sz="1100" dirty="0">
                <a:solidFill>
                  <a:srgbClr val="E2E8F0"/>
                </a:solidFill>
                <a:latin typeface="Segoe UI" pitchFamily="34" charset="0"/>
                <a:ea typeface="Segoe UI" pitchFamily="34" charset="-122"/>
                <a:cs typeface="Segoe UI" pitchFamily="34" charset="-120"/>
              </a:rPr>
              <a:t>• Proved the AI quality gate actually stops bad releases!</a:t>
            </a:r>
            <a:endParaRPr lang="en-US" sz="1100" dirty="0"/>
          </a:p>
        </p:txBody>
      </p:sp>
      <p:sp>
        <p:nvSpPr>
          <p:cNvPr id="17" name="Shape 15"/>
          <p:cNvSpPr/>
          <p:nvPr/>
        </p:nvSpPr>
        <p:spPr>
          <a:xfrm>
            <a:off x="7452360" y="3886200"/>
            <a:ext cx="4187952" cy="2194560"/>
          </a:xfrm>
          <a:prstGeom prst="roundRect">
            <a:avLst>
              <a:gd name="adj" fmla="val 4167"/>
            </a:avLst>
          </a:prstGeom>
          <a:solidFill>
            <a:srgbClr val="1C1036"/>
          </a:solidFill>
          <a:ln w="15240">
            <a:solidFill>
              <a:srgbClr val="10B981"/>
            </a:solidFill>
            <a:prstDash val="solid"/>
          </a:ln>
        </p:spPr>
      </p:sp>
      <p:sp>
        <p:nvSpPr>
          <p:cNvPr id="18" name="Text 16"/>
          <p:cNvSpPr/>
          <p:nvPr/>
        </p:nvSpPr>
        <p:spPr>
          <a:xfrm>
            <a:off x="7680960" y="4069080"/>
            <a:ext cx="3749040" cy="320040"/>
          </a:xfrm>
          <a:prstGeom prst="rect">
            <a:avLst/>
          </a:prstGeom>
          <a:noFill/>
          <a:ln/>
        </p:spPr>
        <p:txBody>
          <a:bodyPr wrap="square" rtlCol="0" anchor="ctr"/>
          <a:lstStyle/>
          <a:p>
            <a:pPr indent="0" marL="0">
              <a:buNone/>
            </a:pPr>
            <a:r>
              <a:rPr lang="en-US" sz="1400" b="1" dirty="0">
                <a:solidFill>
                  <a:srgbClr val="10B981"/>
                </a:solidFill>
                <a:latin typeface="Segoe UI" pitchFamily="34" charset="0"/>
                <a:ea typeface="Segoe UI" pitchFamily="34" charset="-122"/>
                <a:cs typeface="Segoe UI" pitchFamily="34" charset="-120"/>
              </a:rPr>
              <a:t>Stage 2 Auto-Generated 10 Tests!</a:t>
            </a:r>
            <a:endParaRPr lang="en-US" sz="1400" dirty="0"/>
          </a:p>
        </p:txBody>
      </p:sp>
      <p:sp>
        <p:nvSpPr>
          <p:cNvPr id="19" name="Text 17"/>
          <p:cNvSpPr/>
          <p:nvPr/>
        </p:nvSpPr>
        <p:spPr>
          <a:xfrm>
            <a:off x="7680960" y="4462272"/>
            <a:ext cx="3749040" cy="1463040"/>
          </a:xfrm>
          <a:prstGeom prst="rect">
            <a:avLst/>
          </a:prstGeom>
          <a:noFill/>
          <a:ln/>
        </p:spPr>
        <p:txBody>
          <a:bodyPr wrap="square" rtlCol="0" anchor="ctr"/>
          <a:lstStyle/>
          <a:p>
            <a:pPr indent="0" marL="0">
              <a:buNone/>
            </a:pPr>
            <a:r>
              <a:rPr lang="en-US" sz="1100" dirty="0">
                <a:solidFill>
                  <a:srgbClr val="E2E8F0"/>
                </a:solidFill>
                <a:latin typeface="Segoe UI" pitchFamily="34" charset="0"/>
                <a:ea typeface="Segoe UI" pitchFamily="34" charset="-122"/>
                <a:cs typeface="Segoe UI" pitchFamily="34" charset="-120"/>
              </a:rPr>
              <a:t>• Vertex AI wrote server/tests/vertex-generated.test.ts</a:t>
            </a:r>
            <a:endParaRPr lang="en-US" sz="1100" dirty="0"/>
          </a:p>
          <a:p>
            <a:pPr indent="0" marL="0">
              <a:buNone/>
            </a:pPr>
            <a:r>
              <a:rPr lang="en-US" sz="1100" dirty="0">
                <a:solidFill>
                  <a:srgbClr val="E2E8F0"/>
                </a:solidFill>
                <a:latin typeface="Segoe UI" pitchFamily="34" charset="0"/>
                <a:ea typeface="Segoe UI" pitchFamily="34" charset="-122"/>
                <a:cs typeface="Segoe UI" pitchFamily="34" charset="-120"/>
              </a:rPr>
              <a:t>• 10 new Vitest + Supertest scenarios (malformed JWTs, 404s, case-insensitive duplicate prevention, CSV escaping)</a:t>
            </a:r>
            <a:endParaRPr lang="en-US" sz="1100" dirty="0"/>
          </a:p>
          <a:p>
            <a:pPr indent="0" marL="0">
              <a:buNone/>
            </a:pPr>
            <a:r>
              <a:rPr lang="en-US" sz="1100" dirty="0">
                <a:solidFill>
                  <a:srgbClr val="E2E8F0"/>
                </a:solidFill>
                <a:latin typeface="Segoe UI" pitchFamily="34" charset="0"/>
                <a:ea typeface="Segoe UI" pitchFamily="34" charset="-122"/>
                <a:cs typeface="Segoe UI" pitchFamily="34" charset="-120"/>
              </a:rPr>
              <a:t>• All 19 tests across 3 suites ran &amp; passed in 1.09s!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11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ACT III • PRODUCTION DEPLOYMENT</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Making It Fast &amp; Shipping Live to Google Cloud Run</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How we cut pipeline latency from 3+ minutes down to seconds for live demos.</a:t>
            </a:r>
            <a:endParaRPr lang="en-US" sz="1250" dirty="0"/>
          </a:p>
        </p:txBody>
      </p:sp>
      <p:sp>
        <p:nvSpPr>
          <p:cNvPr id="11" name="Shape 9"/>
          <p:cNvSpPr/>
          <p:nvPr/>
        </p:nvSpPr>
        <p:spPr>
          <a:xfrm>
            <a:off x="548640" y="1554480"/>
            <a:ext cx="3566160" cy="2834640"/>
          </a:xfrm>
          <a:prstGeom prst="roundRect">
            <a:avLst>
              <a:gd name="adj" fmla="val 3871"/>
            </a:avLst>
          </a:prstGeom>
          <a:solidFill>
            <a:srgbClr val="130B24"/>
          </a:solidFill>
          <a:ln w="16510">
            <a:solidFill>
              <a:srgbClr val="A855F7"/>
            </a:solidFill>
            <a:prstDash val="solid"/>
          </a:ln>
        </p:spPr>
      </p:sp>
      <p:sp>
        <p:nvSpPr>
          <p:cNvPr id="12" name="Text 10"/>
          <p:cNvSpPr/>
          <p:nvPr/>
        </p:nvSpPr>
        <p:spPr>
          <a:xfrm>
            <a:off x="777240" y="1783080"/>
            <a:ext cx="3108960" cy="411480"/>
          </a:xfrm>
          <a:prstGeom prst="rect">
            <a:avLst/>
          </a:prstGeom>
          <a:noFill/>
          <a:ln/>
        </p:spPr>
        <p:txBody>
          <a:bodyPr wrap="square" rtlCol="0" anchor="ctr"/>
          <a:lstStyle/>
          <a:p>
            <a:pPr indent="0" marL="0">
              <a:buNone/>
            </a:pPr>
            <a:r>
              <a:rPr lang="en-US" sz="1800" b="1" dirty="0">
                <a:solidFill>
                  <a:srgbClr val="C084FC"/>
                </a:solidFill>
                <a:latin typeface="Segoe UI" pitchFamily="34" charset="0"/>
                <a:ea typeface="Segoe UI" pitchFamily="34" charset="-122"/>
                <a:cs typeface="Segoe UI" pitchFamily="34" charset="-120"/>
              </a:rPr>
              <a:t>5x Faster AI Calls</a:t>
            </a:r>
            <a:endParaRPr lang="en-US" sz="1800" dirty="0"/>
          </a:p>
        </p:txBody>
      </p:sp>
      <p:sp>
        <p:nvSpPr>
          <p:cNvPr id="13" name="Text 11"/>
          <p:cNvSpPr/>
          <p:nvPr/>
        </p:nvSpPr>
        <p:spPr>
          <a:xfrm>
            <a:off x="777240" y="2286000"/>
            <a:ext cx="3108960" cy="365760"/>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thinkingBudget: 0 on Gemini 3 Flash</a:t>
            </a:r>
            <a:endParaRPr lang="en-US" sz="1350" dirty="0"/>
          </a:p>
        </p:txBody>
      </p:sp>
      <p:sp>
        <p:nvSpPr>
          <p:cNvPr id="14" name="Text 12"/>
          <p:cNvSpPr/>
          <p:nvPr/>
        </p:nvSpPr>
        <p:spPr>
          <a:xfrm>
            <a:off x="777240" y="2743200"/>
            <a:ext cx="3108960" cy="1463040"/>
          </a:xfrm>
          <a:prstGeom prst="rect">
            <a:avLst/>
          </a:prstGeom>
          <a:noFill/>
          <a:ln/>
        </p:spPr>
        <p:txBody>
          <a:bodyPr wrap="square" rtlCol="0" anchor="ctr"/>
          <a:lstStyle/>
          <a:p>
            <a:pPr indent="0" marL="0">
              <a:buNone/>
            </a:pPr>
            <a:r>
              <a:rPr lang="en-US" sz="1120" dirty="0">
                <a:solidFill>
                  <a:srgbClr val="E2E8F0"/>
                </a:solidFill>
                <a:latin typeface="Segoe UI" pitchFamily="34" charset="0"/>
                <a:ea typeface="Segoe UI" pitchFamily="34" charset="-122"/>
                <a:cs typeface="Segoe UI" pitchFamily="34" charset="-120"/>
              </a:rPr>
              <a:t>Configured thinkingConfig: { thinkingBudget: 0 } in ai-review.ts &amp; ai-generate-tests.ts so structured JSON responses return in ~5 seconds.</a:t>
            </a:r>
            <a:endParaRPr lang="en-US" sz="1120" dirty="0"/>
          </a:p>
        </p:txBody>
      </p:sp>
      <p:sp>
        <p:nvSpPr>
          <p:cNvPr id="15" name="Shape 13"/>
          <p:cNvSpPr/>
          <p:nvPr/>
        </p:nvSpPr>
        <p:spPr>
          <a:xfrm>
            <a:off x="4297680" y="1554480"/>
            <a:ext cx="3566160" cy="2834640"/>
          </a:xfrm>
          <a:prstGeom prst="roundRect">
            <a:avLst>
              <a:gd name="adj" fmla="val 3871"/>
            </a:avLst>
          </a:prstGeom>
          <a:solidFill>
            <a:srgbClr val="130B24"/>
          </a:solidFill>
          <a:ln w="16510">
            <a:solidFill>
              <a:srgbClr val="A855F7"/>
            </a:solidFill>
            <a:prstDash val="solid"/>
          </a:ln>
        </p:spPr>
      </p:sp>
      <p:sp>
        <p:nvSpPr>
          <p:cNvPr id="16" name="Text 14"/>
          <p:cNvSpPr/>
          <p:nvPr/>
        </p:nvSpPr>
        <p:spPr>
          <a:xfrm>
            <a:off x="4526280" y="1783080"/>
            <a:ext cx="3108960" cy="411480"/>
          </a:xfrm>
          <a:prstGeom prst="rect">
            <a:avLst/>
          </a:prstGeom>
          <a:noFill/>
          <a:ln/>
        </p:spPr>
        <p:txBody>
          <a:bodyPr wrap="square" rtlCol="0" anchor="ctr"/>
          <a:lstStyle/>
          <a:p>
            <a:pPr indent="0" marL="0">
              <a:buNone/>
            </a:pPr>
            <a:r>
              <a:rPr lang="en-US" sz="1800" b="1" dirty="0">
                <a:solidFill>
                  <a:srgbClr val="C084FC"/>
                </a:solidFill>
                <a:latin typeface="Segoe UI" pitchFamily="34" charset="0"/>
                <a:ea typeface="Segoe UI" pitchFamily="34" charset="-122"/>
                <a:cs typeface="Segoe UI" pitchFamily="34" charset="-120"/>
              </a:rPr>
              <a:t>60s Faster Cloud Build</a:t>
            </a:r>
            <a:endParaRPr lang="en-US" sz="1800" dirty="0"/>
          </a:p>
        </p:txBody>
      </p:sp>
      <p:sp>
        <p:nvSpPr>
          <p:cNvPr id="17" name="Text 15"/>
          <p:cNvSpPr/>
          <p:nvPr/>
        </p:nvSpPr>
        <p:spPr>
          <a:xfrm>
            <a:off x="4526280" y="2286000"/>
            <a:ext cx="3108960" cy="365760"/>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Pre-Built dist/ Slim Dockerfile</a:t>
            </a:r>
            <a:endParaRPr lang="en-US" sz="1350" dirty="0"/>
          </a:p>
        </p:txBody>
      </p:sp>
      <p:sp>
        <p:nvSpPr>
          <p:cNvPr id="18" name="Text 16"/>
          <p:cNvSpPr/>
          <p:nvPr/>
        </p:nvSpPr>
        <p:spPr>
          <a:xfrm>
            <a:off x="4526280" y="2743200"/>
            <a:ext cx="3108960" cy="1463040"/>
          </a:xfrm>
          <a:prstGeom prst="rect">
            <a:avLst/>
          </a:prstGeom>
          <a:noFill/>
          <a:ln/>
        </p:spPr>
        <p:txBody>
          <a:bodyPr wrap="square" rtlCol="0" anchor="ctr"/>
          <a:lstStyle/>
          <a:p>
            <a:pPr indent="0" marL="0">
              <a:buNone/>
            </a:pPr>
            <a:r>
              <a:rPr lang="en-US" sz="1120" dirty="0">
                <a:solidFill>
                  <a:srgbClr val="E2E8F0"/>
                </a:solidFill>
                <a:latin typeface="Segoe UI" pitchFamily="34" charset="0"/>
                <a:ea typeface="Segoe UI" pitchFamily="34" charset="-122"/>
                <a:cs typeface="Segoe UI" pitchFamily="34" charset="-120"/>
              </a:rPr>
              <a:t>Instead of compiling TypeScript &amp; Vite twice (locally in Stage 3 and again in Cloud Build), Dockerfile packages the verified dist/ artifacts directly.</a:t>
            </a:r>
            <a:endParaRPr lang="en-US" sz="1120" dirty="0"/>
          </a:p>
        </p:txBody>
      </p:sp>
      <p:sp>
        <p:nvSpPr>
          <p:cNvPr id="19" name="Shape 17"/>
          <p:cNvSpPr/>
          <p:nvPr/>
        </p:nvSpPr>
        <p:spPr>
          <a:xfrm>
            <a:off x="8046720" y="1554480"/>
            <a:ext cx="3566160" cy="2834640"/>
          </a:xfrm>
          <a:prstGeom prst="roundRect">
            <a:avLst>
              <a:gd name="adj" fmla="val 3871"/>
            </a:avLst>
          </a:prstGeom>
          <a:solidFill>
            <a:srgbClr val="130B24"/>
          </a:solidFill>
          <a:ln w="16510">
            <a:solidFill>
              <a:srgbClr val="A855F7"/>
            </a:solidFill>
            <a:prstDash val="solid"/>
          </a:ln>
        </p:spPr>
      </p:sp>
      <p:sp>
        <p:nvSpPr>
          <p:cNvPr id="20" name="Text 18"/>
          <p:cNvSpPr/>
          <p:nvPr/>
        </p:nvSpPr>
        <p:spPr>
          <a:xfrm>
            <a:off x="8275320" y="1783080"/>
            <a:ext cx="3108960" cy="411480"/>
          </a:xfrm>
          <a:prstGeom prst="rect">
            <a:avLst/>
          </a:prstGeom>
          <a:noFill/>
          <a:ln/>
        </p:spPr>
        <p:txBody>
          <a:bodyPr wrap="square" rtlCol="0" anchor="ctr"/>
          <a:lstStyle/>
          <a:p>
            <a:pPr indent="0" marL="0">
              <a:buNone/>
            </a:pPr>
            <a:r>
              <a:rPr lang="en-US" sz="1800" b="1" dirty="0">
                <a:solidFill>
                  <a:srgbClr val="C084FC"/>
                </a:solidFill>
                <a:latin typeface="Segoe UI" pitchFamily="34" charset="0"/>
                <a:ea typeface="Segoe UI" pitchFamily="34" charset="-122"/>
                <a:cs typeface="Segoe UI" pitchFamily="34" charset="-120"/>
              </a:rPr>
              <a:t>HTTP 200 LIVE</a:t>
            </a:r>
            <a:endParaRPr lang="en-US" sz="1800" dirty="0"/>
          </a:p>
        </p:txBody>
      </p:sp>
      <p:sp>
        <p:nvSpPr>
          <p:cNvPr id="21" name="Text 19"/>
          <p:cNvSpPr/>
          <p:nvPr/>
        </p:nvSpPr>
        <p:spPr>
          <a:xfrm>
            <a:off x="8275320" y="2286000"/>
            <a:ext cx="3108960" cy="365760"/>
          </a:xfrm>
          <a:prstGeom prst="rect">
            <a:avLst/>
          </a:prstGeom>
          <a:noFill/>
          <a:ln/>
        </p:spPr>
        <p:txBody>
          <a:bodyPr wrap="square" rtlCol="0" anchor="ctr"/>
          <a:lstStyle/>
          <a:p>
            <a:pPr indent="0" marL="0">
              <a:buNone/>
            </a:pPr>
            <a:r>
              <a:rPr lang="en-US" sz="1350" b="1" dirty="0">
                <a:solidFill>
                  <a:srgbClr val="F8FAFC"/>
                </a:solidFill>
                <a:latin typeface="Segoe UI" pitchFamily="34" charset="0"/>
                <a:ea typeface="Segoe UI" pitchFamily="34" charset="-122"/>
                <a:cs typeface="Segoe UI" pitchFamily="34" charset="-120"/>
              </a:rPr>
              <a:t>Serverless Cloud Run in us-central1</a:t>
            </a:r>
            <a:endParaRPr lang="en-US" sz="1350" dirty="0"/>
          </a:p>
        </p:txBody>
      </p:sp>
      <p:sp>
        <p:nvSpPr>
          <p:cNvPr id="22" name="Text 20"/>
          <p:cNvSpPr/>
          <p:nvPr/>
        </p:nvSpPr>
        <p:spPr>
          <a:xfrm>
            <a:off x="8275320" y="2743200"/>
            <a:ext cx="3108960" cy="1463040"/>
          </a:xfrm>
          <a:prstGeom prst="rect">
            <a:avLst/>
          </a:prstGeom>
          <a:noFill/>
          <a:ln/>
        </p:spPr>
        <p:txBody>
          <a:bodyPr wrap="square" rtlCol="0" anchor="ctr"/>
          <a:lstStyle/>
          <a:p>
            <a:pPr indent="0" marL="0">
              <a:buNone/>
            </a:pPr>
            <a:r>
              <a:rPr lang="en-US" sz="1120" dirty="0">
                <a:solidFill>
                  <a:srgbClr val="E2E8F0"/>
                </a:solidFill>
                <a:latin typeface="Segoe UI" pitchFamily="34" charset="0"/>
                <a:ea typeface="Segoe UI" pitchFamily="34" charset="-122"/>
                <a:cs typeface="Segoe UI" pitchFamily="34" charset="-120"/>
              </a:rPr>
              <a:t>Revision aicrm-00001-5bn deployed with Vertex AI &amp; Google Places env vars attached—scaling automatically from 0 to N.</a:t>
            </a:r>
            <a:endParaRPr lang="en-US" sz="1120" dirty="0"/>
          </a:p>
        </p:txBody>
      </p:sp>
      <p:sp>
        <p:nvSpPr>
          <p:cNvPr id="23" name="Shape 21"/>
          <p:cNvSpPr/>
          <p:nvPr/>
        </p:nvSpPr>
        <p:spPr>
          <a:xfrm>
            <a:off x="548640" y="4709160"/>
            <a:ext cx="11091672" cy="1371600"/>
          </a:xfrm>
          <a:prstGeom prst="roundRect">
            <a:avLst>
              <a:gd name="adj" fmla="val 8000"/>
            </a:avLst>
          </a:prstGeom>
          <a:solidFill>
            <a:srgbClr val="1C1036"/>
          </a:solidFill>
          <a:ln w="19050">
            <a:solidFill>
              <a:srgbClr val="10B981"/>
            </a:solidFill>
            <a:prstDash val="solid"/>
          </a:ln>
        </p:spPr>
      </p:sp>
      <p:sp>
        <p:nvSpPr>
          <p:cNvPr id="24" name="Text 22"/>
          <p:cNvSpPr/>
          <p:nvPr/>
        </p:nvSpPr>
        <p:spPr>
          <a:xfrm>
            <a:off x="822960" y="4892040"/>
            <a:ext cx="10515600" cy="274320"/>
          </a:xfrm>
          <a:prstGeom prst="rect">
            <a:avLst/>
          </a:prstGeom>
          <a:noFill/>
          <a:ln/>
        </p:spPr>
        <p:txBody>
          <a:bodyPr wrap="square" rtlCol="0" anchor="ctr"/>
          <a:lstStyle/>
          <a:p>
            <a:pPr indent="0" marL="0">
              <a:buNone/>
            </a:pPr>
            <a:r>
              <a:rPr lang="en-US" sz="1000" b="1" spc="150" kern="0" dirty="0">
                <a:solidFill>
                  <a:srgbClr val="10B981"/>
                </a:solidFill>
                <a:latin typeface="Segoe UI" pitchFamily="34" charset="0"/>
                <a:ea typeface="Segoe UI" pitchFamily="34" charset="-122"/>
                <a:cs typeface="Segoe UI" pitchFamily="34" charset="-120"/>
              </a:rPr>
              <a:t>LIVE PRODUCTION CLOUD RUN ENDPOINT</a:t>
            </a:r>
            <a:endParaRPr lang="en-US" sz="1000" dirty="0"/>
          </a:p>
        </p:txBody>
      </p:sp>
      <p:sp>
        <p:nvSpPr>
          <p:cNvPr id="25" name="Text 23"/>
          <p:cNvSpPr/>
          <p:nvPr/>
        </p:nvSpPr>
        <p:spPr>
          <a:xfrm>
            <a:off x="822960" y="5212080"/>
            <a:ext cx="10515600" cy="411480"/>
          </a:xfrm>
          <a:prstGeom prst="rect">
            <a:avLst/>
          </a:prstGeom>
          <a:noFill/>
          <a:ln/>
        </p:spPr>
        <p:txBody>
          <a:bodyPr wrap="square" rtlCol="0" anchor="ctr"/>
          <a:lstStyle/>
          <a:p>
            <a:pPr indent="0" marL="0">
              <a:buNone/>
            </a:pPr>
            <a:r>
              <a:rPr lang="en-US" sz="2200" b="1" dirty="0">
                <a:solidFill>
                  <a:srgbClr val="F8FAFC"/>
                </a:solidFill>
                <a:latin typeface="Consolas" pitchFamily="34" charset="0"/>
                <a:ea typeface="Consolas" pitchFamily="34" charset="-122"/>
                <a:cs typeface="Consolas" pitchFamily="34" charset="-120"/>
              </a:rPr>
              <a:t>https://aicrm-513278137040.us-central1.run.app</a:t>
            </a:r>
            <a:endParaRPr lang="en-US" sz="2200" dirty="0"/>
          </a:p>
        </p:txBody>
      </p:sp>
      <p:sp>
        <p:nvSpPr>
          <p:cNvPr id="26" name="Text 24"/>
          <p:cNvSpPr/>
          <p:nvPr/>
        </p:nvSpPr>
        <p:spPr>
          <a:xfrm>
            <a:off x="822960" y="5669280"/>
            <a:ext cx="10515600" cy="274320"/>
          </a:xfrm>
          <a:prstGeom prst="rect">
            <a:avLst/>
          </a:prstGeom>
          <a:noFill/>
          <a:ln/>
        </p:spPr>
        <p:txBody>
          <a:bodyPr wrap="square" rtlCol="0" anchor="ctr"/>
          <a:lstStyle/>
          <a:p>
            <a:pPr indent="0" marL="0">
              <a:buNone/>
            </a:pPr>
            <a:r>
              <a:rPr lang="en-US" sz="1150" dirty="0">
                <a:solidFill>
                  <a:srgbClr val="C084FC"/>
                </a:solidFill>
                <a:latin typeface="Consolas" pitchFamily="34" charset="0"/>
                <a:ea typeface="Consolas" pitchFamily="34" charset="-122"/>
                <a:cs typeface="Consolas" pitchFamily="34" charset="-120"/>
              </a:rPr>
              <a:t>Command:  npm run vertex:deploy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514"/>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8B5CF6"/>
          </a:solidFill>
          <a:ln w="12700">
            <a:solidFill>
              <a:srgbClr val="8B5CF6"/>
            </a:solidFill>
            <a:prstDash val="solid"/>
          </a:ln>
        </p:spPr>
      </p:sp>
      <p:sp>
        <p:nvSpPr>
          <p:cNvPr id="3" name="Shape 1"/>
          <p:cNvSpPr/>
          <p:nvPr/>
        </p:nvSpPr>
        <p:spPr>
          <a:xfrm>
            <a:off x="10241280" y="256032"/>
            <a:ext cx="1600200" cy="310896"/>
          </a:xfrm>
          <a:prstGeom prst="roundRect">
            <a:avLst>
              <a:gd name="adj" fmla="val 50000"/>
            </a:avLst>
          </a:prstGeom>
          <a:solidFill>
            <a:srgbClr val="1C1036"/>
          </a:solidFill>
          <a:ln w="12700">
            <a:solidFill>
              <a:srgbClr val="4C1D95"/>
            </a:solidFill>
            <a:prstDash val="solid"/>
          </a:ln>
        </p:spPr>
      </p:sp>
      <p:sp>
        <p:nvSpPr>
          <p:cNvPr id="4" name="Text 2"/>
          <p:cNvSpPr/>
          <p:nvPr/>
        </p:nvSpPr>
        <p:spPr>
          <a:xfrm>
            <a:off x="10241280" y="256032"/>
            <a:ext cx="1600200" cy="310896"/>
          </a:xfrm>
          <a:prstGeom prst="rect">
            <a:avLst/>
          </a:prstGeom>
          <a:noFill/>
          <a:ln/>
        </p:spPr>
        <p:txBody>
          <a:bodyPr wrap="square" rtlCol="0" anchor="ctr"/>
          <a:lstStyle/>
          <a:p>
            <a:pPr algn="ctr" indent="0" marL="0">
              <a:buNone/>
            </a:pPr>
            <a:r>
              <a:rPr lang="en-US" sz="850" b="1" dirty="0">
                <a:solidFill>
                  <a:srgbClr val="C084FC"/>
                </a:solidFill>
                <a:latin typeface="Segoe UI" pitchFamily="34" charset="0"/>
                <a:ea typeface="Segoe UI" pitchFamily="34" charset="-122"/>
                <a:cs typeface="Segoe UI" pitchFamily="34" charset="-120"/>
              </a:rPr>
              <a:t>GDG • OCT 28, 2026</a:t>
            </a:r>
            <a:endParaRPr lang="en-US" sz="850" dirty="0"/>
          </a:p>
        </p:txBody>
      </p:sp>
      <p:sp>
        <p:nvSpPr>
          <p:cNvPr id="5" name="Shape 3"/>
          <p:cNvSpPr/>
          <p:nvPr/>
        </p:nvSpPr>
        <p:spPr>
          <a:xfrm>
            <a:off x="457200" y="6446520"/>
            <a:ext cx="11274552" cy="9144"/>
          </a:xfrm>
          <a:prstGeom prst="rect">
            <a:avLst/>
          </a:prstGeom>
          <a:solidFill>
            <a:srgbClr val="4C1D95"/>
          </a:solidFill>
          <a:ln w="12700">
            <a:solidFill>
              <a:srgbClr val="4C1D95"/>
            </a:solidFill>
            <a:prstDash val="solid"/>
          </a:ln>
        </p:spPr>
      </p:sp>
      <p:sp>
        <p:nvSpPr>
          <p:cNvPr id="6"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Spec  →  Swarm  →  Software   |   Google Developer Group</a:t>
            </a:r>
            <a:endParaRPr lang="en-US" sz="900" dirty="0"/>
          </a:p>
        </p:txBody>
      </p:sp>
      <p:sp>
        <p:nvSpPr>
          <p:cNvPr id="7" name="Text 5"/>
          <p:cNvSpPr/>
          <p:nvPr/>
        </p:nvSpPr>
        <p:spPr>
          <a:xfrm>
            <a:off x="10515600" y="6510528"/>
            <a:ext cx="1216152" cy="256032"/>
          </a:xfrm>
          <a:prstGeom prst="rect">
            <a:avLst/>
          </a:prstGeom>
          <a:noFill/>
          <a:ln/>
        </p:spPr>
        <p:txBody>
          <a:bodyPr wrap="square" rtlCol="0" anchor="ctr"/>
          <a:lstStyle/>
          <a:p>
            <a:pPr algn="r" indent="0" marL="0">
              <a:buNone/>
            </a:pPr>
            <a:r>
              <a:rPr lang="en-US" sz="900" b="1" dirty="0">
                <a:solidFill>
                  <a:srgbClr val="C084FC"/>
                </a:solidFill>
                <a:latin typeface="Segoe UI" pitchFamily="34" charset="0"/>
                <a:ea typeface="Segoe UI" pitchFamily="34" charset="-122"/>
                <a:cs typeface="Segoe UI" pitchFamily="34" charset="-120"/>
              </a:rPr>
              <a:t>12 / 12</a:t>
            </a:r>
            <a:endParaRPr lang="en-US" sz="900" dirty="0"/>
          </a:p>
        </p:txBody>
      </p:sp>
      <p:sp>
        <p:nvSpPr>
          <p:cNvPr id="8" name="Text 6"/>
          <p:cNvSpPr/>
          <p:nvPr/>
        </p:nvSpPr>
        <p:spPr>
          <a:xfrm>
            <a:off x="548640" y="274320"/>
            <a:ext cx="9326880" cy="237744"/>
          </a:xfrm>
          <a:prstGeom prst="rect">
            <a:avLst/>
          </a:prstGeom>
          <a:noFill/>
          <a:ln/>
        </p:spPr>
        <p:txBody>
          <a:bodyPr wrap="square" rtlCol="0" anchor="ctr"/>
          <a:lstStyle/>
          <a:p>
            <a:pPr indent="0" marL="0">
              <a:buNone/>
            </a:pPr>
            <a:r>
              <a:rPr lang="en-US" sz="1000" b="1" spc="200" kern="0" dirty="0">
                <a:solidFill>
                  <a:srgbClr val="C084FC"/>
                </a:solidFill>
                <a:latin typeface="Segoe UI" pitchFamily="34" charset="0"/>
                <a:ea typeface="Segoe UI" pitchFamily="34" charset="-122"/>
                <a:cs typeface="Segoe UI" pitchFamily="34" charset="-120"/>
              </a:rPr>
              <a:t>WRAP-UP &amp; LIVE DEMO</a:t>
            </a:r>
            <a:endParaRPr lang="en-US" sz="1000" dirty="0"/>
          </a:p>
        </p:txBody>
      </p:sp>
      <p:sp>
        <p:nvSpPr>
          <p:cNvPr id="9" name="Text 7"/>
          <p:cNvSpPr/>
          <p:nvPr/>
        </p:nvSpPr>
        <p:spPr>
          <a:xfrm>
            <a:off x="548640" y="512064"/>
            <a:ext cx="10515600" cy="475488"/>
          </a:xfrm>
          <a:prstGeom prst="rect">
            <a:avLst/>
          </a:prstGeom>
          <a:noFill/>
          <a:ln/>
        </p:spPr>
        <p:txBody>
          <a:bodyPr wrap="square" rtlCol="0" anchor="ctr"/>
          <a:lstStyle/>
          <a:p>
            <a:pPr indent="0" marL="0">
              <a:buNone/>
            </a:pPr>
            <a:r>
              <a:rPr lang="en-US" sz="2500" b="1" dirty="0">
                <a:solidFill>
                  <a:srgbClr val="F8FAFC"/>
                </a:solidFill>
                <a:latin typeface="Segoe UI" pitchFamily="34" charset="0"/>
                <a:ea typeface="Segoe UI" pitchFamily="34" charset="-122"/>
                <a:cs typeface="Segoe UI" pitchFamily="34" charset="-120"/>
              </a:rPr>
              <a:t>Key Takeaways: Spec → Swarm → Software</a:t>
            </a:r>
            <a:endParaRPr lang="en-US" sz="2500" dirty="0"/>
          </a:p>
        </p:txBody>
      </p:sp>
      <p:sp>
        <p:nvSpPr>
          <p:cNvPr id="10" name="Text 8"/>
          <p:cNvSpPr/>
          <p:nvPr/>
        </p:nvSpPr>
        <p:spPr>
          <a:xfrm>
            <a:off x="548640" y="1005840"/>
            <a:ext cx="10789920" cy="329184"/>
          </a:xfrm>
          <a:prstGeom prst="rect">
            <a:avLst/>
          </a:prstGeom>
          <a:noFill/>
          <a:ln/>
        </p:spPr>
        <p:txBody>
          <a:bodyPr wrap="square"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Five lessons you can apply to your next project tomorrow morning.</a:t>
            </a:r>
            <a:endParaRPr lang="en-US" sz="1250" dirty="0"/>
          </a:p>
        </p:txBody>
      </p:sp>
      <p:sp>
        <p:nvSpPr>
          <p:cNvPr id="11" name="Shape 9"/>
          <p:cNvSpPr/>
          <p:nvPr/>
        </p:nvSpPr>
        <p:spPr>
          <a:xfrm>
            <a:off x="548640" y="1508760"/>
            <a:ext cx="6217920" cy="4572000"/>
          </a:xfrm>
          <a:prstGeom prst="roundRect">
            <a:avLst>
              <a:gd name="adj" fmla="val 2400"/>
            </a:avLst>
          </a:prstGeom>
          <a:solidFill>
            <a:srgbClr val="130B24"/>
          </a:solidFill>
          <a:ln w="16510">
            <a:solidFill>
              <a:srgbClr val="8B5CF6"/>
            </a:solidFill>
            <a:prstDash val="solid"/>
          </a:ln>
        </p:spPr>
      </p:sp>
      <p:sp>
        <p:nvSpPr>
          <p:cNvPr id="12" name="Text 10"/>
          <p:cNvSpPr/>
          <p:nvPr/>
        </p:nvSpPr>
        <p:spPr>
          <a:xfrm>
            <a:off x="777240" y="1737360"/>
            <a:ext cx="5760720" cy="4114800"/>
          </a:xfrm>
          <a:prstGeom prst="rect">
            <a:avLst/>
          </a:prstGeom>
          <a:noFill/>
          <a:ln/>
        </p:spPr>
        <p:txBody>
          <a:bodyPr wrap="square" rtlCol="0" anchor="t"/>
          <a:lstStyle/>
          <a:p>
            <a:pPr indent="0" marL="0">
              <a:buNone/>
            </a:pPr>
            <a:r>
              <a:rPr lang="en-US" sz="1180" b="1" dirty="0">
                <a:solidFill>
                  <a:srgbClr val="C084FC"/>
                </a:solidFill>
                <a:latin typeface="Segoe UI" pitchFamily="34" charset="0"/>
                <a:ea typeface="Segoe UI" pitchFamily="34" charset="-122"/>
                <a:cs typeface="Segoe UI" pitchFamily="34" charset="-120"/>
              </a:rPr>
              <a:t>1. Treat SPEC.md as Executable Code
</a:t>
            </a:r>
            <a:pPr indent="0" marL="0">
              <a:buNone/>
            </a:pPr>
            <a:r>
              <a:rPr lang="en-US" sz="1180" dirty="0">
                <a:solidFill>
                  <a:srgbClr val="E2E8F0"/>
                </a:solidFill>
                <a:latin typeface="Segoe UI" pitchFamily="34" charset="0"/>
                <a:ea typeface="Segoe UI" pitchFamily="34" charset="-122"/>
                <a:cs typeface="Segoe UI" pitchFamily="34" charset="-120"/>
              </a:rPr>
              <a:t>   Define exact schemas, routes &amp; invariants before launching agents.
</a:t>
            </a:r>
            <a:pPr indent="0" marL="0">
              <a:buNone/>
            </a:pPr>
            <a:r>
              <a:rPr lang="en-US" sz="1180" b="1" dirty="0">
                <a:solidFill>
                  <a:srgbClr val="C084FC"/>
                </a:solidFill>
                <a:latin typeface="Segoe UI" pitchFamily="34" charset="0"/>
                <a:ea typeface="Segoe UI" pitchFamily="34" charset="-122"/>
                <a:cs typeface="Segoe UI" pitchFamily="34" charset="-120"/>
              </a:rPr>
              <a:t>2. Separate Roles, Share Pointers (Not Whole Files)
</a:t>
            </a:r>
            <a:pPr indent="0" marL="0">
              <a:buNone/>
            </a:pPr>
            <a:r>
              <a:rPr lang="en-US" sz="1180" dirty="0">
                <a:solidFill>
                  <a:srgbClr val="E2E8F0"/>
                </a:solidFill>
                <a:latin typeface="Segoe UI" pitchFamily="34" charset="0"/>
                <a:ea typeface="Segoe UI" pitchFamily="34" charset="-122"/>
                <a:cs typeface="Segoe UI" pitchFamily="34" charset="-120"/>
              </a:rPr>
              <a:t>   PO → Architect → 1 Persistent Builder → 1 Final QA Gate.
</a:t>
            </a:r>
            <a:pPr indent="0" marL="0">
              <a:buNone/>
            </a:pPr>
            <a:r>
              <a:rPr lang="en-US" sz="1180" b="1" dirty="0">
                <a:solidFill>
                  <a:srgbClr val="C084FC"/>
                </a:solidFill>
                <a:latin typeface="Segoe UI" pitchFamily="34" charset="0"/>
                <a:ea typeface="Segoe UI" pitchFamily="34" charset="-122"/>
                <a:cs typeface="Segoe UI" pitchFamily="34" charset="-120"/>
              </a:rPr>
              <a:t>3. Cap Scope &amp; Iteration Loops
</a:t>
            </a:r>
            <a:pPr indent="0" marL="0">
              <a:buNone/>
            </a:pPr>
            <a:r>
              <a:rPr lang="en-US" sz="1180" dirty="0">
                <a:solidFill>
                  <a:srgbClr val="E2E8F0"/>
                </a:solidFill>
                <a:latin typeface="Segoe UI" pitchFamily="34" charset="0"/>
                <a:ea typeface="Segoe UI" pitchFamily="34" charset="-122"/>
                <a:cs typeface="Segoe UI" pitchFamily="34" charset="-120"/>
              </a:rPr>
              <a:t>   Max 4 WPs, Blocker-only QA failures, and max 2 fix iterations.
</a:t>
            </a:r>
            <a:pPr indent="0" marL="0">
              <a:buNone/>
            </a:pPr>
            <a:r>
              <a:rPr lang="en-US" sz="1180" b="1" dirty="0">
                <a:solidFill>
                  <a:srgbClr val="C084FC"/>
                </a:solidFill>
                <a:latin typeface="Segoe UI" pitchFamily="34" charset="0"/>
                <a:ea typeface="Segoe UI" pitchFamily="34" charset="-122"/>
                <a:cs typeface="Segoe UI" pitchFamily="34" charset="-120"/>
              </a:rPr>
              <a:t>4. Know Your Vertex AI Auth &amp; Endpoints
</a:t>
            </a:r>
            <a:pPr indent="0" marL="0">
              <a:buNone/>
            </a:pPr>
            <a:r>
              <a:rPr lang="en-US" sz="1180" dirty="0">
                <a:solidFill>
                  <a:srgbClr val="E2E8F0"/>
                </a:solidFill>
                <a:latin typeface="Segoe UI" pitchFamily="34" charset="0"/>
                <a:ea typeface="Segoe UI" pitchFamily="34" charset="-122"/>
                <a:cs typeface="Segoe UI" pitchFamily="34" charset="-120"/>
              </a:rPr>
              <a:t>   Use gcloud auth application-default login &amp; global / gemini-3-flash-preview.
</a:t>
            </a:r>
            <a:pPr indent="0" marL="0">
              <a:buNone/>
            </a:pPr>
            <a:r>
              <a:rPr lang="en-US" sz="1180" b="1" dirty="0">
                <a:solidFill>
                  <a:srgbClr val="C084FC"/>
                </a:solidFill>
                <a:latin typeface="Segoe UI" pitchFamily="34" charset="0"/>
                <a:ea typeface="Segoe UI" pitchFamily="34" charset="-122"/>
                <a:cs typeface="Segoe UI" pitchFamily="34" charset="-120"/>
              </a:rPr>
              <a:t>5. Let Vertex AI Guard the Release Door
</a:t>
            </a:r>
            <a:pPr indent="0" marL="0">
              <a:buNone/>
            </a:pPr>
            <a:r>
              <a:rPr lang="en-US" sz="1180" dirty="0">
                <a:solidFill>
                  <a:srgbClr val="E2E8F0"/>
                </a:solidFill>
                <a:latin typeface="Segoe UI" pitchFamily="34" charset="0"/>
                <a:ea typeface="Segoe UI" pitchFamily="34" charset="-122"/>
                <a:cs typeface="Segoe UI" pitchFamily="34" charset="-120"/>
              </a:rPr>
              <a:t>   Automated AI Code Review + Test Generation catches bugs before Cloud Run.</a:t>
            </a:r>
            <a:endParaRPr lang="en-US" sz="1180" dirty="0"/>
          </a:p>
        </p:txBody>
      </p:sp>
      <p:sp>
        <p:nvSpPr>
          <p:cNvPr id="13" name="Shape 11"/>
          <p:cNvSpPr/>
          <p:nvPr/>
        </p:nvSpPr>
        <p:spPr>
          <a:xfrm>
            <a:off x="6995160" y="1508760"/>
            <a:ext cx="4645152" cy="4572000"/>
          </a:xfrm>
          <a:prstGeom prst="roundRect">
            <a:avLst>
              <a:gd name="adj" fmla="val 2400"/>
            </a:avLst>
          </a:prstGeom>
          <a:solidFill>
            <a:srgbClr val="1C1036"/>
          </a:solidFill>
          <a:ln w="19050">
            <a:solidFill>
              <a:srgbClr val="A855F7"/>
            </a:solidFill>
            <a:prstDash val="solid"/>
          </a:ln>
        </p:spPr>
      </p:sp>
      <p:sp>
        <p:nvSpPr>
          <p:cNvPr id="14" name="Text 12"/>
          <p:cNvSpPr/>
          <p:nvPr/>
        </p:nvSpPr>
        <p:spPr>
          <a:xfrm>
            <a:off x="7269480" y="1737360"/>
            <a:ext cx="4114800" cy="36576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  LIVE DEMO FLOW</a:t>
            </a:r>
            <a:endParaRPr lang="en-US" sz="1600" dirty="0"/>
          </a:p>
        </p:txBody>
      </p:sp>
      <p:sp>
        <p:nvSpPr>
          <p:cNvPr id="15" name="Text 13"/>
          <p:cNvSpPr/>
          <p:nvPr/>
        </p:nvSpPr>
        <p:spPr>
          <a:xfrm>
            <a:off x="7269480" y="2286000"/>
            <a:ext cx="4114800" cy="3474720"/>
          </a:xfrm>
          <a:prstGeom prst="rect">
            <a:avLst/>
          </a:prstGeom>
          <a:noFill/>
          <a:ln/>
        </p:spPr>
        <p:txBody>
          <a:bodyPr wrap="square" rtlCol="0" anchor="t"/>
          <a:lstStyle/>
          <a:p>
            <a:pPr indent="0" marL="0">
              <a:buNone/>
            </a:pPr>
            <a:r>
              <a:rPr lang="en-US" sz="1200" dirty="0">
                <a:solidFill>
                  <a:srgbClr val="E2E8F0"/>
                </a:solidFill>
                <a:latin typeface="Segoe UI" pitchFamily="34" charset="0"/>
                <a:ea typeface="Segoe UI" pitchFamily="34" charset="-122"/>
                <a:cs typeface="Segoe UI" pitchFamily="34" charset="-120"/>
              </a:rPr>
              <a:t>Step 1: Tour AICRM &amp; SPEC.md</a:t>
            </a:r>
            <a:endParaRPr lang="en-US" sz="1200" dirty="0"/>
          </a:p>
          <a:p>
            <a:pPr indent="0" marL="0">
              <a:buNone/>
            </a:pPr>
            <a:r>
              <a:rPr lang="en-US" sz="1200" dirty="0">
                <a:solidFill>
                  <a:srgbClr val="E2E8F0"/>
                </a:solidFill>
                <a:latin typeface="Segoe UI" pitchFamily="34" charset="0"/>
                <a:ea typeface="Segoe UI" pitchFamily="34" charset="-122"/>
                <a:cs typeface="Segoe UI" pitchFamily="34" charset="-120"/>
              </a:rPr>
              <a:t>Show Places search, website enrichment &amp; Gemini cold-call script generation.</a:t>
            </a:r>
            <a:endParaRPr lang="en-US" sz="1200" dirty="0"/>
          </a:p>
          <a:p>
            <a:pPr indent="0" marL="0">
              <a:buNone/>
            </a:pPr>
            <a:endParaRPr lang="en-US" sz="1200" dirty="0"/>
          </a:p>
          <a:p>
            <a:pPr indent="0" marL="0">
              <a:buNone/>
            </a:pPr>
            <a:r>
              <a:rPr lang="en-US" sz="1200" dirty="0">
                <a:solidFill>
                  <a:srgbClr val="E2E8F0"/>
                </a:solidFill>
                <a:latin typeface="Segoe UI" pitchFamily="34" charset="0"/>
                <a:ea typeface="Segoe UI" pitchFamily="34" charset="-122"/>
                <a:cs typeface="Segoe UI" pitchFamily="34" charset="-120"/>
              </a:rPr>
              <a:t>Step 2: Run "npm run vertex:deploy"</a:t>
            </a:r>
            <a:endParaRPr lang="en-US" sz="1200" dirty="0"/>
          </a:p>
          <a:p>
            <a:pPr indent="0" marL="0">
              <a:buNone/>
            </a:pPr>
            <a:r>
              <a:rPr lang="en-US" sz="1200" dirty="0">
                <a:solidFill>
                  <a:srgbClr val="E2E8F0"/>
                </a:solidFill>
                <a:latin typeface="Segoe UI" pitchFamily="34" charset="0"/>
                <a:ea typeface="Segoe UI" pitchFamily="34" charset="-122"/>
                <a:cs typeface="Segoe UI" pitchFamily="34" charset="-120"/>
              </a:rPr>
              <a:t>Watch Stage 1 (Vertex AI Code Review) catch the CRITICAL race condition &amp; spec drift and BLOCK the deploy!</a:t>
            </a:r>
            <a:endParaRPr lang="en-US" sz="1200" dirty="0"/>
          </a:p>
          <a:p>
            <a:pPr indent="0" marL="0">
              <a:buNone/>
            </a:pPr>
            <a:endParaRPr lang="en-US" sz="1200" dirty="0"/>
          </a:p>
          <a:p>
            <a:pPr indent="0" marL="0">
              <a:buNone/>
            </a:pPr>
            <a:r>
              <a:rPr lang="en-US" sz="1200" dirty="0">
                <a:solidFill>
                  <a:srgbClr val="E2E8F0"/>
                </a:solidFill>
                <a:latin typeface="Segoe UI" pitchFamily="34" charset="0"/>
                <a:ea typeface="Segoe UI" pitchFamily="34" charset="-122"/>
                <a:cs typeface="Segoe UI" pitchFamily="34" charset="-120"/>
              </a:rPr>
              <a:t>Step 3: Fix Issues Live &amp; Re-Deploy</a:t>
            </a:r>
            <a:endParaRPr lang="en-US" sz="1200" dirty="0"/>
          </a:p>
          <a:p>
            <a:pPr indent="0" marL="0">
              <a:buNone/>
            </a:pPr>
            <a:r>
              <a:rPr lang="en-US" sz="1200" dirty="0">
                <a:solidFill>
                  <a:srgbClr val="E2E8F0"/>
                </a:solidFill>
                <a:latin typeface="Segoe UI" pitchFamily="34" charset="0"/>
                <a:ea typeface="Segoe UI" pitchFamily="34" charset="-122"/>
                <a:cs typeface="Segoe UI" pitchFamily="34" charset="-120"/>
              </a:rPr>
              <a:t>Update SPEC.md &amp; storage.ts → Watch Stages 1–4 pass green (19/19 tests) → Live on Google Cloud Run!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Google Developer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 -&gt; Swarm -&gt; Software</dc:title>
  <dc:subject>Spec -&gt; Swarm -&gt; Software: Multi-Agent Swarms &amp; Vertex AI</dc:subject>
  <dc:creator>Google Developer Group Speaker</dc:creator>
  <cp:lastModifiedBy>Google Developer Group Speaker</cp:lastModifiedBy>
  <cp:revision>1</cp:revision>
  <dcterms:created xsi:type="dcterms:W3CDTF">2026-10-26T03:08:40Z</dcterms:created>
  <dcterms:modified xsi:type="dcterms:W3CDTF">2026-10-26T03:08:40Z</dcterms:modified>
</cp:coreProperties>
</file>