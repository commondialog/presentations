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9" r:id="rId5"/>
    <p:sldId id="259" r:id="rId6"/>
    <p:sldId id="260" r:id="rId7"/>
    <p:sldId id="268" r:id="rId8"/>
    <p:sldId id="261" r:id="rId9"/>
    <p:sldId id="262" r:id="rId10"/>
    <p:sldId id="270" r:id="rId11"/>
    <p:sldId id="263" r:id="rId12"/>
    <p:sldId id="264" r:id="rId13"/>
    <p:sldId id="265" r:id="rId14"/>
    <p:sldId id="271" r:id="rId15"/>
    <p:sldId id="266" r:id="rId16"/>
    <p:sldId id="26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194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Spec -&gt; Swarm -&gt; Software! Tonight we are walking through a real end-to-end engineering journey: how we wrote a tight specification for AICRM, ran it through a 4-agent coding swarm, and then wired up Google Cloud Vertex AI and Cloud Run to review code, generate unit tests, diagnose problems, and deploy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single-prompt coding fails once an application has real auth, file persistence, and external APIs. Show how separating Specification, Multi-Agent Swarm execution, and Vertex AI release gating solves each failure mode.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 sections of our 51-line SPEC.md file. Emphasize that a 50-line markdown file with exact field names and HTTP routes beats a 10-page product document full of fluff.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6F15E-85A0-CE33-EBE4-7EFE7438C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69CC3-F1ED-6BC1-A533-89B6FB6D5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739B9-2880-C650-EBE0-6FD33B3D23C6}"/>
              </a:ext>
            </a:extLst>
          </p:cNvPr>
          <p:cNvSpPr>
            <a:spLocks noGrp="1"/>
          </p:cNvSpPr>
          <p:nvPr>
            <p:ph type="body" idx="1"/>
          </p:nvPr>
        </p:nvSpPr>
        <p:spPr/>
        <p:txBody>
          <a:bodyPr/>
          <a:lstStyle/>
          <a:p>
            <a:r>
              <a:rPr lang="en-US" dirty="0"/>
              <a:t>Show how AICRM works in practice and foreshadow a fun twist later in the talk: when we evolved the app from pure Gemini Search Grounding to a faster 3-step Places + Scraper + Gemini pipeline, we forgot to update SPEC.md—and Vertex AI Code Review caught us red-handed!</a:t>
            </a:r>
          </a:p>
        </p:txBody>
      </p:sp>
      <p:sp>
        <p:nvSpPr>
          <p:cNvPr id="4" name="Slide Number Placeholder 3">
            <a:extLst>
              <a:ext uri="{FF2B5EF4-FFF2-40B4-BE49-F238E27FC236}">
                <a16:creationId xmlns:a16="http://schemas.microsoft.com/office/drawing/2014/main" id="{9040F189-2466-8F79-890F-4E5BA14AADC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472071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AICRM works in practice and foreshadow a fun twist later in the talk: when we evolved the app from pure Gemini Search Grounding to a faster 3-step Places + Scraper + Gemini pipeline, we forgot to update SPEC.md—and Vertex AI Code Review caught us red-handed!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dev-swarm (c:\Dev\.agents\skills\dev-swarm\SKILL.md) is structured. Instead of one agent doing everything, we separate Product Owner, Architect, Builder, and QA—and support Interactive, Most Auto, and Full Auto modes.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BF449-46C0-93F8-AD7A-9C014FE7A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678CB-00CE-DC38-C957-984953A1F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CB8B5-C048-11B0-1AB3-34FD7243B4F6}"/>
              </a:ext>
            </a:extLst>
          </p:cNvPr>
          <p:cNvSpPr>
            <a:spLocks noGrp="1"/>
          </p:cNvSpPr>
          <p:nvPr>
            <p:ph type="body" idx="1"/>
          </p:nvPr>
        </p:nvSpPr>
        <p:spPr/>
        <p:txBody>
          <a:bodyPr/>
          <a:lstStyle/>
          <a:p>
            <a:r>
              <a:rPr lang="en-US" dirty="0"/>
              <a:t>Show how AICRM works in practice and foreshadow a fun twist later in the talk: when we evolved the app from pure Gemini Search Grounding to a faster 3-step Places + Scraper + Gemini pipeline, we forgot to update SPEC.md—and Vertex AI Code Review caught us red-handed!</a:t>
            </a:r>
          </a:p>
        </p:txBody>
      </p:sp>
      <p:sp>
        <p:nvSpPr>
          <p:cNvPr id="4" name="Slide Number Placeholder 3">
            <a:extLst>
              <a:ext uri="{FF2B5EF4-FFF2-40B4-BE49-F238E27FC236}">
                <a16:creationId xmlns:a16="http://schemas.microsoft.com/office/drawing/2014/main" id="{62A61756-57D7-1F25-77E3-A09FC9A880E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00129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the audience’s favorite slide: anyone who has built multi-agent systems knows they love to burn tokens re-reading the codebase or arguing over style nitpicks. These 6 guardrails keep the swarm fast, deterministic, and cheap.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how clean the @google/genai SDK is: switching from an AI Studio key to Google Cloud Vertex AI is literally 3 lines of config (vertexai: true, project, location).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3C7C1-D6F7-F026-9B54-8038AEFEF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854E8-59C9-FE9B-2DF6-9C1BC7BFF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F7AD6-D47F-E468-CE4B-1261E8E1461F}"/>
              </a:ext>
            </a:extLst>
          </p:cNvPr>
          <p:cNvSpPr>
            <a:spLocks noGrp="1"/>
          </p:cNvSpPr>
          <p:nvPr>
            <p:ph type="body" idx="1"/>
          </p:nvPr>
        </p:nvSpPr>
        <p:spPr/>
        <p:txBody>
          <a:bodyPr/>
          <a:lstStyle/>
          <a:p>
            <a:r>
              <a:rPr lang="en-US" dirty="0"/>
              <a:t>Show how AICRM works in practice and foreshadow a fun twist later in the talk: when we evolved the app from pure Gemini Search Grounding to a faster 3-step Places + Scraper + Gemini pipeline, we forgot to update SPEC.md—and Vertex AI Code Review caught us red-handed!</a:t>
            </a:r>
          </a:p>
        </p:txBody>
      </p:sp>
      <p:sp>
        <p:nvSpPr>
          <p:cNvPr id="4" name="Slide Number Placeholder 3">
            <a:extLst>
              <a:ext uri="{FF2B5EF4-FFF2-40B4-BE49-F238E27FC236}">
                <a16:creationId xmlns:a16="http://schemas.microsoft.com/office/drawing/2014/main" id="{40E6CB6C-0359-7AE5-B1A7-93A4ADE5AF9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18745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comedy/reality section of the talk! Walk the GDG audience through all 4 errors we actually hit setting this up: the 402 prepayment error, waiting on the gcloud installer, the classic gcloud auth login vs application-default login trap, and discovering that gemini-3-flash-preview lives on the global endpoint.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 stages of scripts/vertex-pipeline.ts. Show how Vertex AI acts as both our Principal Security Reviewer (Stage 1), Staff QA Automation Engineer (Stage 2), and Site Reliability Engineer (Stage 3) before Cloud Run ships Stage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is not a canned screenshot—this is the actual output from Vertex AI reviewing our codebase. It caught a real concurrent write issue in storage.ts and noticed that our code switched to Google Places API while SPEC.md still mentioned Search Grounding.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B5363-7C6C-7B25-EFA3-3D4C21399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192FF-7292-73E4-9808-39BE5C383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7F1F31-4CDE-7627-4AF0-FDCCDBE62C40}"/>
              </a:ext>
            </a:extLst>
          </p:cNvPr>
          <p:cNvSpPr>
            <a:spLocks noGrp="1"/>
          </p:cNvSpPr>
          <p:nvPr>
            <p:ph type="body" idx="1"/>
          </p:nvPr>
        </p:nvSpPr>
        <p:spPr/>
        <p:txBody>
          <a:bodyPr/>
          <a:lstStyle/>
          <a:p>
            <a:r>
              <a:rPr lang="en-US" dirty="0"/>
              <a:t>Show how AICRM works in practice and foreshadow a fun twist later in the talk: when we evolved the app from pure Gemini Search Grounding to a faster 3-step Places + Scraper + Gemini pipeline, we forgot to update SPEC.md—and Vertex AI Code Review caught us red-handed!</a:t>
            </a:r>
          </a:p>
        </p:txBody>
      </p:sp>
      <p:sp>
        <p:nvSpPr>
          <p:cNvPr id="4" name="Slide Number Placeholder 3">
            <a:extLst>
              <a:ext uri="{FF2B5EF4-FFF2-40B4-BE49-F238E27FC236}">
                <a16:creationId xmlns:a16="http://schemas.microsoft.com/office/drawing/2014/main" id="{6A3D10F7-27B0-F1D6-CD1C-1AEDED2CD58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949665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first deploy took ~3 minutes because Google Cloud had to provision Artifact Registry and build from scratch, and how we optimized both the Vertex AI calls and Dockerfile for fast iterations.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live demo! Show the audience AICRM running, run npm run vertex:deploy so they see Vertex AI block the deploy on the critical finding, then fix it live and deploy to Cloud Run.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5CF6"/>
          </a:solidFill>
          <a:ln w="12700">
            <a:solidFill>
              <a:srgbClr val="8B5CF6"/>
            </a:solidFill>
            <a:prstDash val="solid"/>
          </a:ln>
        </p:spPr>
      </p:sp>
      <p:sp>
        <p:nvSpPr>
          <p:cNvPr id="3" name="Shape 1"/>
          <p:cNvSpPr/>
          <p:nvPr/>
        </p:nvSpPr>
        <p:spPr>
          <a:xfrm>
            <a:off x="731520" y="822960"/>
            <a:ext cx="3931920" cy="384048"/>
          </a:xfrm>
          <a:prstGeom prst="roundRect">
            <a:avLst>
              <a:gd name="adj" fmla="val 50000"/>
            </a:avLst>
          </a:prstGeom>
          <a:solidFill>
            <a:srgbClr val="1C1036"/>
          </a:solidFill>
          <a:ln w="15240">
            <a:solidFill>
              <a:srgbClr val="8B5CF6"/>
            </a:solidFill>
            <a:prstDash val="solid"/>
          </a:ln>
        </p:spPr>
      </p:sp>
      <p:sp>
        <p:nvSpPr>
          <p:cNvPr id="4" name="Text 2"/>
          <p:cNvSpPr/>
          <p:nvPr/>
        </p:nvSpPr>
        <p:spPr>
          <a:xfrm>
            <a:off x="731520" y="822960"/>
            <a:ext cx="3931920" cy="384048"/>
          </a:xfrm>
          <a:prstGeom prst="rect">
            <a:avLst/>
          </a:prstGeom>
          <a:noFill/>
          <a:ln/>
        </p:spPr>
        <p:txBody>
          <a:bodyPr wrap="square" rtlCol="0" anchor="ctr"/>
          <a:lstStyle/>
          <a:p>
            <a:pPr marL="0" indent="0" algn="ctr">
              <a:buNone/>
            </a:pPr>
            <a:r>
              <a:rPr lang="en-US" sz="950" b="1" dirty="0">
                <a:solidFill>
                  <a:srgbClr val="C084FC"/>
                </a:solidFill>
                <a:latin typeface="Segoe UI" pitchFamily="34" charset="0"/>
                <a:ea typeface="Segoe UI" pitchFamily="34" charset="-122"/>
                <a:cs typeface="Segoe UI" pitchFamily="34" charset="-120"/>
              </a:rPr>
              <a:t>GOOGLE DEVELOPER GROUP  •  WED, OCT 28, 2026</a:t>
            </a:r>
            <a:endParaRPr lang="en-US" sz="950" dirty="0"/>
          </a:p>
        </p:txBody>
      </p:sp>
      <p:sp>
        <p:nvSpPr>
          <p:cNvPr id="5" name="Text 3"/>
          <p:cNvSpPr/>
          <p:nvPr/>
        </p:nvSpPr>
        <p:spPr>
          <a:xfrm>
            <a:off x="731520" y="1508760"/>
            <a:ext cx="10789920" cy="1005840"/>
          </a:xfrm>
          <a:prstGeom prst="rect">
            <a:avLst/>
          </a:prstGeom>
          <a:noFill/>
          <a:ln/>
        </p:spPr>
        <p:txBody>
          <a:bodyPr wrap="square" rtlCol="0" anchor="ctr"/>
          <a:lstStyle/>
          <a:p>
            <a:pPr marL="0" indent="0">
              <a:buNone/>
            </a:pPr>
            <a:r>
              <a:rPr lang="en-US" sz="4400" b="1" dirty="0">
                <a:solidFill>
                  <a:srgbClr val="F8FAFC"/>
                </a:solidFill>
                <a:latin typeface="Segoe UI" pitchFamily="34" charset="0"/>
                <a:ea typeface="Segoe UI" pitchFamily="34" charset="-122"/>
                <a:cs typeface="Segoe UI" pitchFamily="34" charset="-120"/>
              </a:rPr>
              <a:t>Spec  →  Swarm  →  Software</a:t>
            </a:r>
            <a:endParaRPr lang="en-US" sz="4400" dirty="0"/>
          </a:p>
        </p:txBody>
      </p:sp>
      <p:sp>
        <p:nvSpPr>
          <p:cNvPr id="6" name="Text 4"/>
          <p:cNvSpPr/>
          <p:nvPr/>
        </p:nvSpPr>
        <p:spPr>
          <a:xfrm>
            <a:off x="731520" y="2560320"/>
            <a:ext cx="9875520" cy="822960"/>
          </a:xfrm>
          <a:prstGeom prst="rect">
            <a:avLst/>
          </a:prstGeom>
          <a:noFill/>
          <a:ln/>
        </p:spPr>
        <p:txBody>
          <a:bodyPr wrap="square" rtlCol="0" anchor="ctr"/>
          <a:lstStyle/>
          <a:p>
            <a:pPr marL="0" indent="0">
              <a:buNone/>
            </a:pPr>
            <a:r>
              <a:rPr lang="en-US" sz="1600" dirty="0">
                <a:solidFill>
                  <a:srgbClr val="E2E8F0"/>
                </a:solidFill>
                <a:latin typeface="Segoe UI" pitchFamily="34" charset="0"/>
                <a:ea typeface="Segoe UI" pitchFamily="34" charset="-122"/>
                <a:cs typeface="Segoe UI" pitchFamily="34" charset="-120"/>
              </a:rPr>
              <a:t>How we went from a Markdown Spec, built an app with a 4-Agent Coding Swarm,</a:t>
            </a:r>
            <a:endParaRPr lang="en-US" sz="1600" dirty="0"/>
          </a:p>
          <a:p>
            <a:pPr marL="0" indent="0">
              <a:buNone/>
            </a:pPr>
            <a:r>
              <a:rPr lang="en-US" sz="1600" dirty="0">
                <a:solidFill>
                  <a:srgbClr val="E2E8F0"/>
                </a:solidFill>
                <a:latin typeface="Segoe UI" pitchFamily="34" charset="0"/>
                <a:ea typeface="Segoe UI" pitchFamily="34" charset="-122"/>
                <a:cs typeface="Segoe UI" pitchFamily="34" charset="-120"/>
              </a:rPr>
              <a:t>and survived the trenches of Google Cloud Vertex AI &amp; Cloud Run deployment.</a:t>
            </a:r>
            <a:endParaRPr lang="en-US" sz="1600" dirty="0"/>
          </a:p>
        </p:txBody>
      </p:sp>
      <p:sp>
        <p:nvSpPr>
          <p:cNvPr id="7" name="Shape 5"/>
          <p:cNvSpPr/>
          <p:nvPr/>
        </p:nvSpPr>
        <p:spPr>
          <a:xfrm>
            <a:off x="731520" y="3886200"/>
            <a:ext cx="3429000" cy="2057400"/>
          </a:xfrm>
          <a:prstGeom prst="roundRect">
            <a:avLst>
              <a:gd name="adj" fmla="val 5333"/>
            </a:avLst>
          </a:prstGeom>
          <a:solidFill>
            <a:srgbClr val="130B24"/>
          </a:solidFill>
          <a:ln w="15240">
            <a:solidFill>
              <a:srgbClr val="8B5CF6"/>
            </a:solidFill>
            <a:prstDash val="solid"/>
          </a:ln>
        </p:spPr>
      </p:sp>
      <p:sp>
        <p:nvSpPr>
          <p:cNvPr id="8" name="Text 6"/>
          <p:cNvSpPr/>
          <p:nvPr/>
        </p:nvSpPr>
        <p:spPr>
          <a:xfrm>
            <a:off x="960120" y="4069080"/>
            <a:ext cx="2971800" cy="274320"/>
          </a:xfrm>
          <a:prstGeom prst="rect">
            <a:avLst/>
          </a:prstGeom>
          <a:noFill/>
          <a:ln/>
        </p:spPr>
        <p:txBody>
          <a:bodyPr wrap="square" rtlCol="0" anchor="ctr"/>
          <a:lstStyle/>
          <a:p>
            <a:pPr marL="0" indent="0">
              <a:buNone/>
            </a:pPr>
            <a:r>
              <a:rPr lang="en-US" sz="1000" b="1" kern="0" spc="150" dirty="0">
                <a:solidFill>
                  <a:srgbClr val="C084FC"/>
                </a:solidFill>
                <a:latin typeface="Segoe UI" pitchFamily="34" charset="0"/>
                <a:ea typeface="Segoe UI" pitchFamily="34" charset="-122"/>
                <a:cs typeface="Segoe UI" pitchFamily="34" charset="-120"/>
              </a:rPr>
              <a:t>01  THE SPEC</a:t>
            </a:r>
            <a:endParaRPr lang="en-US" sz="1000" dirty="0"/>
          </a:p>
        </p:txBody>
      </p:sp>
      <p:sp>
        <p:nvSpPr>
          <p:cNvPr id="9" name="Text 7"/>
          <p:cNvSpPr/>
          <p:nvPr/>
        </p:nvSpPr>
        <p:spPr>
          <a:xfrm>
            <a:off x="960120" y="4389120"/>
            <a:ext cx="2971800" cy="411480"/>
          </a:xfrm>
          <a:prstGeom prst="rect">
            <a:avLst/>
          </a:prstGeom>
          <a:noFill/>
          <a:ln/>
        </p:spPr>
        <p:txBody>
          <a:bodyPr wrap="square" rtlCol="0" anchor="ctr"/>
          <a:lstStyle/>
          <a:p>
            <a:pPr marL="0" indent="0">
              <a:buNone/>
            </a:pPr>
            <a:r>
              <a:rPr lang="en-US" sz="1550" b="1" dirty="0">
                <a:solidFill>
                  <a:srgbClr val="F8FAFC"/>
                </a:solidFill>
                <a:latin typeface="Segoe UI" pitchFamily="34" charset="0"/>
                <a:ea typeface="Segoe UI" pitchFamily="34" charset="-122"/>
                <a:cs typeface="Segoe UI" pitchFamily="34" charset="-120"/>
              </a:rPr>
              <a:t>SPEC.md Contract</a:t>
            </a:r>
            <a:endParaRPr lang="en-US" sz="1550" dirty="0"/>
          </a:p>
        </p:txBody>
      </p:sp>
      <p:sp>
        <p:nvSpPr>
          <p:cNvPr id="10" name="Text 8"/>
          <p:cNvSpPr/>
          <p:nvPr/>
        </p:nvSpPr>
        <p:spPr>
          <a:xfrm>
            <a:off x="960120" y="4846320"/>
            <a:ext cx="2971800" cy="868680"/>
          </a:xfrm>
          <a:prstGeom prst="rect">
            <a:avLst/>
          </a:prstGeom>
          <a:noFill/>
          <a:ln/>
        </p:spPr>
        <p:txBody>
          <a:bodyPr wrap="square" rtlCol="0" anchor="ctr"/>
          <a:lstStyle/>
          <a:p>
            <a:pPr marL="0" indent="0">
              <a:buNone/>
            </a:pPr>
            <a:r>
              <a:rPr lang="en-US" sz="1150" dirty="0">
                <a:solidFill>
                  <a:srgbClr val="94A3B8"/>
                </a:solidFill>
                <a:latin typeface="Segoe UI" pitchFamily="34" charset="0"/>
                <a:ea typeface="Segoe UI" pitchFamily="34" charset="-122"/>
                <a:cs typeface="Segoe UI" pitchFamily="34" charset="-120"/>
              </a:rPr>
              <a:t>Data models, 12 REST endpoints, atomic persistence &amp; strict acceptance criteria.</a:t>
            </a:r>
            <a:endParaRPr lang="en-US" sz="1150" dirty="0"/>
          </a:p>
        </p:txBody>
      </p:sp>
      <p:sp>
        <p:nvSpPr>
          <p:cNvPr id="11" name="Shape 9"/>
          <p:cNvSpPr/>
          <p:nvPr/>
        </p:nvSpPr>
        <p:spPr>
          <a:xfrm>
            <a:off x="4389120" y="3886200"/>
            <a:ext cx="3429000" cy="2057400"/>
          </a:xfrm>
          <a:prstGeom prst="roundRect">
            <a:avLst>
              <a:gd name="adj" fmla="val 5333"/>
            </a:avLst>
          </a:prstGeom>
          <a:solidFill>
            <a:srgbClr val="130B24"/>
          </a:solidFill>
          <a:ln w="15240">
            <a:solidFill>
              <a:srgbClr val="8B5CF6"/>
            </a:solidFill>
            <a:prstDash val="solid"/>
          </a:ln>
        </p:spPr>
      </p:sp>
      <p:sp>
        <p:nvSpPr>
          <p:cNvPr id="12" name="Text 10"/>
          <p:cNvSpPr/>
          <p:nvPr/>
        </p:nvSpPr>
        <p:spPr>
          <a:xfrm>
            <a:off x="4617720" y="4069080"/>
            <a:ext cx="2971800" cy="274320"/>
          </a:xfrm>
          <a:prstGeom prst="rect">
            <a:avLst/>
          </a:prstGeom>
          <a:noFill/>
          <a:ln/>
        </p:spPr>
        <p:txBody>
          <a:bodyPr wrap="square" rtlCol="0" anchor="ctr"/>
          <a:lstStyle/>
          <a:p>
            <a:pPr marL="0" indent="0">
              <a:buNone/>
            </a:pPr>
            <a:r>
              <a:rPr lang="en-US" sz="1000" b="1" kern="0" spc="150" dirty="0">
                <a:solidFill>
                  <a:srgbClr val="C084FC"/>
                </a:solidFill>
                <a:latin typeface="Segoe UI" pitchFamily="34" charset="0"/>
                <a:ea typeface="Segoe UI" pitchFamily="34" charset="-122"/>
                <a:cs typeface="Segoe UI" pitchFamily="34" charset="-120"/>
              </a:rPr>
              <a:t>02  THE SWARM</a:t>
            </a:r>
            <a:endParaRPr lang="en-US" sz="1000" dirty="0"/>
          </a:p>
        </p:txBody>
      </p:sp>
      <p:sp>
        <p:nvSpPr>
          <p:cNvPr id="13" name="Text 11"/>
          <p:cNvSpPr/>
          <p:nvPr/>
        </p:nvSpPr>
        <p:spPr>
          <a:xfrm>
            <a:off x="4617720" y="4389120"/>
            <a:ext cx="2971800" cy="411480"/>
          </a:xfrm>
          <a:prstGeom prst="rect">
            <a:avLst/>
          </a:prstGeom>
          <a:noFill/>
          <a:ln/>
        </p:spPr>
        <p:txBody>
          <a:bodyPr wrap="square" rtlCol="0" anchor="ctr"/>
          <a:lstStyle/>
          <a:p>
            <a:pPr marL="0" indent="0">
              <a:buNone/>
            </a:pPr>
            <a:r>
              <a:rPr lang="en-US" sz="1550" b="1" dirty="0">
                <a:solidFill>
                  <a:srgbClr val="F8FAFC"/>
                </a:solidFill>
                <a:latin typeface="Segoe UI" pitchFamily="34" charset="0"/>
                <a:ea typeface="Segoe UI" pitchFamily="34" charset="-122"/>
                <a:cs typeface="Segoe UI" pitchFamily="34" charset="-120"/>
              </a:rPr>
              <a:t>PO → Architect → Builder ↔ QA</a:t>
            </a:r>
            <a:endParaRPr lang="en-US" sz="1550" dirty="0"/>
          </a:p>
        </p:txBody>
      </p:sp>
      <p:sp>
        <p:nvSpPr>
          <p:cNvPr id="14" name="Text 12"/>
          <p:cNvSpPr/>
          <p:nvPr/>
        </p:nvSpPr>
        <p:spPr>
          <a:xfrm>
            <a:off x="4617720" y="4846320"/>
            <a:ext cx="2971800" cy="868680"/>
          </a:xfrm>
          <a:prstGeom prst="rect">
            <a:avLst/>
          </a:prstGeom>
          <a:noFill/>
          <a:ln/>
        </p:spPr>
        <p:txBody>
          <a:bodyPr wrap="square" rtlCol="0" anchor="ctr"/>
          <a:lstStyle/>
          <a:p>
            <a:pPr marL="0" indent="0">
              <a:buNone/>
            </a:pPr>
            <a:r>
              <a:rPr lang="en-US" sz="1150" dirty="0">
                <a:solidFill>
                  <a:srgbClr val="94A3B8"/>
                </a:solidFill>
                <a:latin typeface="Segoe UI" pitchFamily="34" charset="0"/>
                <a:ea typeface="Segoe UI" pitchFamily="34" charset="-122"/>
                <a:cs typeface="Segoe UI" pitchFamily="34" charset="-120"/>
              </a:rPr>
              <a:t>Autonomous 4-agent dev swarm with context budgets &amp; blocker-only QA gates.</a:t>
            </a:r>
            <a:endParaRPr lang="en-US" sz="1150" dirty="0"/>
          </a:p>
        </p:txBody>
      </p:sp>
      <p:sp>
        <p:nvSpPr>
          <p:cNvPr id="15" name="Shape 13"/>
          <p:cNvSpPr/>
          <p:nvPr/>
        </p:nvSpPr>
        <p:spPr>
          <a:xfrm>
            <a:off x="8046720" y="3886200"/>
            <a:ext cx="3429000" cy="2057400"/>
          </a:xfrm>
          <a:prstGeom prst="roundRect">
            <a:avLst>
              <a:gd name="adj" fmla="val 5333"/>
            </a:avLst>
          </a:prstGeom>
          <a:solidFill>
            <a:srgbClr val="130B24"/>
          </a:solidFill>
          <a:ln w="15240">
            <a:solidFill>
              <a:srgbClr val="8B5CF6"/>
            </a:solidFill>
            <a:prstDash val="solid"/>
          </a:ln>
        </p:spPr>
      </p:sp>
      <p:sp>
        <p:nvSpPr>
          <p:cNvPr id="16" name="Text 14"/>
          <p:cNvSpPr/>
          <p:nvPr/>
        </p:nvSpPr>
        <p:spPr>
          <a:xfrm>
            <a:off x="8275320" y="4069080"/>
            <a:ext cx="2971800" cy="274320"/>
          </a:xfrm>
          <a:prstGeom prst="rect">
            <a:avLst/>
          </a:prstGeom>
          <a:noFill/>
          <a:ln/>
        </p:spPr>
        <p:txBody>
          <a:bodyPr wrap="square" rtlCol="0" anchor="ctr"/>
          <a:lstStyle/>
          <a:p>
            <a:pPr marL="0" indent="0">
              <a:buNone/>
            </a:pPr>
            <a:r>
              <a:rPr lang="en-US" sz="1000" b="1" kern="0" spc="150" dirty="0">
                <a:solidFill>
                  <a:srgbClr val="C084FC"/>
                </a:solidFill>
                <a:latin typeface="Segoe UI" pitchFamily="34" charset="0"/>
                <a:ea typeface="Segoe UI" pitchFamily="34" charset="-122"/>
                <a:cs typeface="Segoe UI" pitchFamily="34" charset="-120"/>
              </a:rPr>
              <a:t>03  VERTEX AI</a:t>
            </a:r>
            <a:endParaRPr lang="en-US" sz="1000" dirty="0"/>
          </a:p>
        </p:txBody>
      </p:sp>
      <p:sp>
        <p:nvSpPr>
          <p:cNvPr id="17" name="Text 15"/>
          <p:cNvSpPr/>
          <p:nvPr/>
        </p:nvSpPr>
        <p:spPr>
          <a:xfrm>
            <a:off x="8275320" y="4389120"/>
            <a:ext cx="2971800" cy="411480"/>
          </a:xfrm>
          <a:prstGeom prst="rect">
            <a:avLst/>
          </a:prstGeom>
          <a:noFill/>
          <a:ln/>
        </p:spPr>
        <p:txBody>
          <a:bodyPr wrap="square" rtlCol="0" anchor="ctr"/>
          <a:lstStyle/>
          <a:p>
            <a:pPr marL="0" indent="0">
              <a:buNone/>
            </a:pPr>
            <a:r>
              <a:rPr lang="en-US" sz="1550" b="1" dirty="0">
                <a:solidFill>
                  <a:srgbClr val="F8FAFC"/>
                </a:solidFill>
                <a:latin typeface="Segoe UI" pitchFamily="34" charset="0"/>
                <a:ea typeface="Segoe UI" pitchFamily="34" charset="-122"/>
                <a:cs typeface="Segoe UI" pitchFamily="34" charset="-120"/>
              </a:rPr>
              <a:t>Review, Test Gen &amp; Cloud Run</a:t>
            </a:r>
            <a:endParaRPr lang="en-US" sz="1550" dirty="0"/>
          </a:p>
        </p:txBody>
      </p:sp>
      <p:sp>
        <p:nvSpPr>
          <p:cNvPr id="18" name="Text 16"/>
          <p:cNvSpPr/>
          <p:nvPr/>
        </p:nvSpPr>
        <p:spPr>
          <a:xfrm>
            <a:off x="8275320" y="4846320"/>
            <a:ext cx="2971800" cy="868680"/>
          </a:xfrm>
          <a:prstGeom prst="rect">
            <a:avLst/>
          </a:prstGeom>
          <a:noFill/>
          <a:ln/>
        </p:spPr>
        <p:txBody>
          <a:bodyPr wrap="square" rtlCol="0" anchor="ctr"/>
          <a:lstStyle/>
          <a:p>
            <a:pPr marL="0" indent="0">
              <a:buNone/>
            </a:pPr>
            <a:r>
              <a:rPr lang="en-US" sz="1150" dirty="0">
                <a:solidFill>
                  <a:srgbClr val="94A3B8"/>
                </a:solidFill>
                <a:latin typeface="Segoe UI" pitchFamily="34" charset="0"/>
                <a:ea typeface="Segoe UI" pitchFamily="34" charset="-122"/>
                <a:cs typeface="Segoe UI" pitchFamily="34" charset="-120"/>
              </a:rPr>
              <a:t>4-stage Vertex AI pipeline that audits code, writes tests, diagnoses bugs &amp; deploys.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2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THE PROBLEM &amp; THE PIPELINE</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Why Single-Prompt "Vibe Coding" Breaks on Real Software</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Moving from ad-hoc chat prompts to a repeatable Spec → Swarm → Vertex AI engineering pipeline.</a:t>
            </a:r>
            <a:endParaRPr lang="en-US" sz="1250" dirty="0"/>
          </a:p>
        </p:txBody>
      </p:sp>
      <p:sp>
        <p:nvSpPr>
          <p:cNvPr id="11" name="Shape 9"/>
          <p:cNvSpPr/>
          <p:nvPr/>
        </p:nvSpPr>
        <p:spPr>
          <a:xfrm>
            <a:off x="548640" y="1508760"/>
            <a:ext cx="5303520" cy="4572000"/>
          </a:xfrm>
          <a:prstGeom prst="roundRect">
            <a:avLst>
              <a:gd name="adj" fmla="val 2400"/>
            </a:avLst>
          </a:prstGeom>
          <a:solidFill>
            <a:srgbClr val="130B24"/>
          </a:solidFill>
          <a:ln w="15240">
            <a:solidFill>
              <a:srgbClr val="F43F5E"/>
            </a:solidFill>
            <a:prstDash val="solid"/>
          </a:ln>
        </p:spPr>
      </p:sp>
      <p:sp>
        <p:nvSpPr>
          <p:cNvPr id="12" name="Text 10"/>
          <p:cNvSpPr/>
          <p:nvPr/>
        </p:nvSpPr>
        <p:spPr>
          <a:xfrm>
            <a:off x="822960" y="1737360"/>
            <a:ext cx="4754880" cy="365760"/>
          </a:xfrm>
          <a:prstGeom prst="rect">
            <a:avLst/>
          </a:prstGeom>
          <a:noFill/>
          <a:ln/>
        </p:spPr>
        <p:txBody>
          <a:bodyPr wrap="square" rtlCol="0" anchor="ctr"/>
          <a:lstStyle/>
          <a:p>
            <a:pPr marL="0" indent="0">
              <a:buNone/>
            </a:pPr>
            <a:r>
              <a:rPr lang="en-US" sz="1600" b="1" dirty="0">
                <a:solidFill>
                  <a:srgbClr val="F43F5E"/>
                </a:solidFill>
                <a:latin typeface="Segoe UI" pitchFamily="34" charset="0"/>
                <a:ea typeface="Segoe UI" pitchFamily="34" charset="-122"/>
                <a:cs typeface="Segoe UI" pitchFamily="34" charset="-120"/>
              </a:rPr>
              <a:t>❌  Ad-Hoc Prompting ("Vibe Coding")</a:t>
            </a:r>
            <a:endParaRPr lang="en-US" sz="1600" dirty="0"/>
          </a:p>
        </p:txBody>
      </p:sp>
      <p:sp>
        <p:nvSpPr>
          <p:cNvPr id="13" name="Text 11"/>
          <p:cNvSpPr/>
          <p:nvPr/>
        </p:nvSpPr>
        <p:spPr>
          <a:xfrm>
            <a:off x="822960" y="2286000"/>
            <a:ext cx="4754880" cy="3474720"/>
          </a:xfrm>
          <a:prstGeom prst="rect">
            <a:avLst/>
          </a:prstGeom>
          <a:noFill/>
          <a:ln/>
        </p:spPr>
        <p:txBody>
          <a:bodyPr wrap="square" rtlCol="0" anchor="t"/>
          <a:lstStyle/>
          <a:p>
            <a:pPr marL="0" indent="0">
              <a:buNone/>
            </a:pPr>
            <a:r>
              <a:rPr lang="en-US" sz="1250" b="1" dirty="0">
                <a:solidFill>
                  <a:srgbClr val="F8FAFC"/>
                </a:solidFill>
                <a:latin typeface="Segoe UI" pitchFamily="34" charset="0"/>
                <a:ea typeface="Segoe UI" pitchFamily="34" charset="-122"/>
                <a:cs typeface="Segoe UI" pitchFamily="34" charset="-120"/>
              </a:rPr>
              <a:t>• Ambiguous Requirements: </a:t>
            </a:r>
            <a:r>
              <a:rPr lang="en-US" sz="1250" dirty="0">
                <a:solidFill>
                  <a:srgbClr val="E2E8F0"/>
                </a:solidFill>
                <a:latin typeface="Segoe UI" pitchFamily="34" charset="0"/>
                <a:ea typeface="Segoe UI" pitchFamily="34" charset="-122"/>
                <a:cs typeface="Segoe UI" pitchFamily="34" charset="-120"/>
              </a:rPr>
              <a:t>The model guesses your data schema and API routes differently on every turn.
</a:t>
            </a:r>
            <a:r>
              <a:rPr lang="en-US" sz="1250" b="1" dirty="0">
                <a:solidFill>
                  <a:srgbClr val="F8FAFC"/>
                </a:solidFill>
                <a:latin typeface="Segoe UI" pitchFamily="34" charset="0"/>
                <a:ea typeface="Segoe UI" pitchFamily="34" charset="-122"/>
                <a:cs typeface="Segoe UI" pitchFamily="34" charset="-120"/>
              </a:rPr>
              <a:t>• Context Window Bloat: </a:t>
            </a:r>
            <a:r>
              <a:rPr lang="en-US" sz="1250" dirty="0">
                <a:solidFill>
                  <a:srgbClr val="E2E8F0"/>
                </a:solidFill>
                <a:latin typeface="Segoe UI" pitchFamily="34" charset="0"/>
                <a:ea typeface="Segoe UI" pitchFamily="34" charset="-122"/>
                <a:cs typeface="Segoe UI" pitchFamily="34" charset="-120"/>
              </a:rPr>
              <a:t>One giant chat session mixes product decisions, architecture, coding, and debugging.
</a:t>
            </a:r>
            <a:r>
              <a:rPr lang="en-US" sz="1250" b="1" dirty="0">
                <a:solidFill>
                  <a:srgbClr val="F8FAFC"/>
                </a:solidFill>
                <a:latin typeface="Segoe UI" pitchFamily="34" charset="0"/>
                <a:ea typeface="Segoe UI" pitchFamily="34" charset="-122"/>
                <a:cs typeface="Segoe UI" pitchFamily="34" charset="-120"/>
              </a:rPr>
              <a:t>• Endless Nitpick Loops: </a:t>
            </a:r>
            <a:r>
              <a:rPr lang="en-US" sz="1250" dirty="0">
                <a:solidFill>
                  <a:srgbClr val="E2E8F0"/>
                </a:solidFill>
                <a:latin typeface="Segoe UI" pitchFamily="34" charset="0"/>
                <a:ea typeface="Segoe UI" pitchFamily="34" charset="-122"/>
                <a:cs typeface="Segoe UI" pitchFamily="34" charset="-120"/>
              </a:rPr>
              <a:t>Agents rewrite working code to fix imaginary style issues while breaking core endpoints.
</a:t>
            </a:r>
            <a:r>
              <a:rPr lang="en-US" sz="1250" b="1" dirty="0">
                <a:solidFill>
                  <a:srgbClr val="F8FAFC"/>
                </a:solidFill>
                <a:latin typeface="Segoe UI" pitchFamily="34" charset="0"/>
                <a:ea typeface="Segoe UI" pitchFamily="34" charset="-122"/>
                <a:cs typeface="Segoe UI" pitchFamily="34" charset="-120"/>
              </a:rPr>
              <a:t>• "It Works on My Machine": </a:t>
            </a:r>
            <a:r>
              <a:rPr lang="en-US" sz="1250" dirty="0">
                <a:solidFill>
                  <a:srgbClr val="E2E8F0"/>
                </a:solidFill>
                <a:latin typeface="Segoe UI" pitchFamily="34" charset="0"/>
                <a:ea typeface="Segoe UI" pitchFamily="34" charset="-122"/>
                <a:cs typeface="Segoe UI" pitchFamily="34" charset="-120"/>
              </a:rPr>
              <a:t>Zero automated security review, edge-case test generation, or deployment gating.</a:t>
            </a:r>
            <a:endParaRPr lang="en-US" sz="1250" dirty="0"/>
          </a:p>
        </p:txBody>
      </p:sp>
      <p:sp>
        <p:nvSpPr>
          <p:cNvPr id="14" name="Shape 12"/>
          <p:cNvSpPr/>
          <p:nvPr/>
        </p:nvSpPr>
        <p:spPr>
          <a:xfrm>
            <a:off x="6217920" y="1508760"/>
            <a:ext cx="5394960" cy="4572000"/>
          </a:xfrm>
          <a:prstGeom prst="roundRect">
            <a:avLst>
              <a:gd name="adj" fmla="val 2400"/>
            </a:avLst>
          </a:prstGeom>
          <a:solidFill>
            <a:srgbClr val="1C1036"/>
          </a:solidFill>
          <a:ln w="19050">
            <a:solidFill>
              <a:srgbClr val="A855F7"/>
            </a:solidFill>
            <a:prstDash val="solid"/>
          </a:ln>
        </p:spPr>
      </p:sp>
      <p:sp>
        <p:nvSpPr>
          <p:cNvPr id="15" name="Text 13"/>
          <p:cNvSpPr/>
          <p:nvPr/>
        </p:nvSpPr>
        <p:spPr>
          <a:xfrm>
            <a:off x="6492240" y="1737360"/>
            <a:ext cx="4846320" cy="365760"/>
          </a:xfrm>
          <a:prstGeom prst="rect">
            <a:avLst/>
          </a:prstGeom>
          <a:noFill/>
          <a:ln/>
        </p:spPr>
        <p:txBody>
          <a:bodyPr wrap="square" rtlCol="0" anchor="ctr"/>
          <a:lstStyle/>
          <a:p>
            <a:pPr marL="0" indent="0">
              <a:buNone/>
            </a:pPr>
            <a:r>
              <a:rPr lang="en-US" sz="1600" b="1" dirty="0">
                <a:solidFill>
                  <a:srgbClr val="C084FC"/>
                </a:solidFill>
                <a:latin typeface="Segoe UI" pitchFamily="34" charset="0"/>
                <a:ea typeface="Segoe UI" pitchFamily="34" charset="-122"/>
                <a:cs typeface="Segoe UI" pitchFamily="34" charset="-120"/>
              </a:rPr>
              <a:t>✅  Spec → Swarm → Vertex AI Pipeline</a:t>
            </a:r>
            <a:endParaRPr lang="en-US" sz="1600" dirty="0"/>
          </a:p>
        </p:txBody>
      </p:sp>
      <p:sp>
        <p:nvSpPr>
          <p:cNvPr id="16" name="Text 14"/>
          <p:cNvSpPr/>
          <p:nvPr/>
        </p:nvSpPr>
        <p:spPr>
          <a:xfrm>
            <a:off x="6492240" y="2286000"/>
            <a:ext cx="4846320" cy="3474720"/>
          </a:xfrm>
          <a:prstGeom prst="rect">
            <a:avLst/>
          </a:prstGeom>
          <a:noFill/>
          <a:ln/>
        </p:spPr>
        <p:txBody>
          <a:bodyPr wrap="square" rtlCol="0" anchor="t"/>
          <a:lstStyle/>
          <a:p>
            <a:pPr marL="0" indent="0">
              <a:buNone/>
            </a:pPr>
            <a:r>
              <a:rPr lang="en-US" sz="1250" b="1" dirty="0">
                <a:solidFill>
                  <a:srgbClr val="F8FAFC"/>
                </a:solidFill>
                <a:latin typeface="Segoe UI" pitchFamily="34" charset="0"/>
                <a:ea typeface="Segoe UI" pitchFamily="34" charset="-122"/>
                <a:cs typeface="Segoe UI" pitchFamily="34" charset="-120"/>
              </a:rPr>
              <a:t>1. Markdown Spec as Source of Truth: </a:t>
            </a:r>
            <a:r>
              <a:rPr lang="en-US" sz="1250" dirty="0">
                <a:solidFill>
                  <a:srgbClr val="E2E8F0"/>
                </a:solidFill>
                <a:latin typeface="Segoe UI" pitchFamily="34" charset="0"/>
                <a:ea typeface="Segoe UI" pitchFamily="34" charset="-122"/>
                <a:cs typeface="Segoe UI" pitchFamily="34" charset="-120"/>
              </a:rPr>
              <a:t>Explicit TypeScript interfaces, REST routes, and persistence rules in SPEC.md.
</a:t>
            </a:r>
            <a:r>
              <a:rPr lang="en-US" sz="1250" b="1" dirty="0">
                <a:solidFill>
                  <a:srgbClr val="F8FAFC"/>
                </a:solidFill>
                <a:latin typeface="Segoe UI" pitchFamily="34" charset="0"/>
                <a:ea typeface="Segoe UI" pitchFamily="34" charset="-122"/>
                <a:cs typeface="Segoe UI" pitchFamily="34" charset="-120"/>
              </a:rPr>
              <a:t>2. Role-Specialized 4-Agent Swarm: </a:t>
            </a:r>
            <a:r>
              <a:rPr lang="en-US" sz="1250" dirty="0">
                <a:solidFill>
                  <a:srgbClr val="E2E8F0"/>
                </a:solidFill>
                <a:latin typeface="Segoe UI" pitchFamily="34" charset="0"/>
                <a:ea typeface="Segoe UI" pitchFamily="34" charset="-122"/>
                <a:cs typeface="Segoe UI" pitchFamily="34" charset="-120"/>
              </a:rPr>
              <a:t>PO defines Work Packages → Architect maps exact file:line pointers → Builder codes → QA verifies.
</a:t>
            </a:r>
            <a:r>
              <a:rPr lang="en-US" sz="1250" b="1" dirty="0">
                <a:solidFill>
                  <a:srgbClr val="F8FAFC"/>
                </a:solidFill>
                <a:latin typeface="Segoe UI" pitchFamily="34" charset="0"/>
                <a:ea typeface="Segoe UI" pitchFamily="34" charset="-122"/>
                <a:cs typeface="Segoe UI" pitchFamily="34" charset="-120"/>
              </a:rPr>
              <a:t>3. Vertex AI Pre-Deployment Gate: </a:t>
            </a:r>
            <a:r>
              <a:rPr lang="en-US" sz="1250" dirty="0">
                <a:solidFill>
                  <a:srgbClr val="E2E8F0"/>
                </a:solidFill>
                <a:latin typeface="Segoe UI" pitchFamily="34" charset="0"/>
                <a:ea typeface="Segoe UI" pitchFamily="34" charset="-122"/>
                <a:cs typeface="Segoe UI" pitchFamily="34" charset="-120"/>
              </a:rPr>
              <a:t>Audits code against SPEC.md, auto-generates Vitest suites, and blocks bad deploys.
</a:t>
            </a:r>
            <a:r>
              <a:rPr lang="en-US" sz="1250" b="1" dirty="0">
                <a:solidFill>
                  <a:srgbClr val="F8FAFC"/>
                </a:solidFill>
                <a:latin typeface="Segoe UI" pitchFamily="34" charset="0"/>
                <a:ea typeface="Segoe UI" pitchFamily="34" charset="-122"/>
                <a:cs typeface="Segoe UI" pitchFamily="34" charset="-120"/>
              </a:rPr>
              <a:t>4. Serverless Cloud Run Delivery: </a:t>
            </a:r>
            <a:r>
              <a:rPr lang="en-US" sz="1250" dirty="0">
                <a:solidFill>
                  <a:srgbClr val="E2E8F0"/>
                </a:solidFill>
                <a:latin typeface="Segoe UI" pitchFamily="34" charset="0"/>
                <a:ea typeface="Segoe UI" pitchFamily="34" charset="-122"/>
                <a:cs typeface="Segoe UI" pitchFamily="34" charset="-120"/>
              </a:rPr>
              <a:t>One command packages and deploys the verified container live to Google Cloud Run.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3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 • WRITING THE SPECIFICATION</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How to Write a Spec That Agents Obey</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A great SPEC.md is short, unambiguous, and defines contracts rather than implementation prose.</a:t>
            </a:r>
            <a:endParaRPr lang="en-US" sz="1250" dirty="0"/>
          </a:p>
        </p:txBody>
      </p:sp>
      <p:sp>
        <p:nvSpPr>
          <p:cNvPr id="11" name="Shape 9"/>
          <p:cNvSpPr/>
          <p:nvPr/>
        </p:nvSpPr>
        <p:spPr>
          <a:xfrm>
            <a:off x="548640" y="1508760"/>
            <a:ext cx="5440680" cy="2103120"/>
          </a:xfrm>
          <a:prstGeom prst="roundRect">
            <a:avLst>
              <a:gd name="adj" fmla="val 4348"/>
            </a:avLst>
          </a:prstGeom>
          <a:solidFill>
            <a:srgbClr val="130B24"/>
          </a:solidFill>
          <a:ln w="15240">
            <a:solidFill>
              <a:srgbClr val="8B5CF6"/>
            </a:solidFill>
            <a:prstDash val="solid"/>
          </a:ln>
        </p:spPr>
      </p:sp>
      <p:sp>
        <p:nvSpPr>
          <p:cNvPr id="12" name="Shape 10"/>
          <p:cNvSpPr/>
          <p:nvPr/>
        </p:nvSpPr>
        <p:spPr>
          <a:xfrm>
            <a:off x="777240" y="1737360"/>
            <a:ext cx="594360" cy="411480"/>
          </a:xfrm>
          <a:prstGeom prst="roundRect">
            <a:avLst>
              <a:gd name="adj" fmla="val 17778"/>
            </a:avLst>
          </a:prstGeom>
          <a:solidFill>
            <a:srgbClr val="8B5CF6"/>
          </a:solidFill>
          <a:ln w="12700">
            <a:solidFill>
              <a:srgbClr val="8B5CF6"/>
            </a:solidFill>
            <a:prstDash val="solid"/>
          </a:ln>
        </p:spPr>
      </p:sp>
      <p:sp>
        <p:nvSpPr>
          <p:cNvPr id="13" name="Text 11"/>
          <p:cNvSpPr/>
          <p:nvPr/>
        </p:nvSpPr>
        <p:spPr>
          <a:xfrm>
            <a:off x="777240" y="1737360"/>
            <a:ext cx="594360" cy="411480"/>
          </a:xfrm>
          <a:prstGeom prst="rect">
            <a:avLst/>
          </a:prstGeom>
          <a:noFill/>
          <a:ln/>
        </p:spPr>
        <p:txBody>
          <a:bodyPr wrap="square" rtlCol="0" anchor="ctr"/>
          <a:lstStyle/>
          <a:p>
            <a:pPr marL="0" indent="0" algn="ctr">
              <a:buNone/>
            </a:pPr>
            <a:r>
              <a:rPr lang="en-US" sz="1300" b="1" dirty="0">
                <a:solidFill>
                  <a:srgbClr val="F8FAFC"/>
                </a:solidFill>
                <a:latin typeface="Segoe UI" pitchFamily="34" charset="0"/>
                <a:ea typeface="Segoe UI" pitchFamily="34" charset="-122"/>
                <a:cs typeface="Segoe UI" pitchFamily="34" charset="-120"/>
              </a:rPr>
              <a:t>01</a:t>
            </a:r>
            <a:endParaRPr lang="en-US" sz="1300" dirty="0"/>
          </a:p>
        </p:txBody>
      </p:sp>
      <p:sp>
        <p:nvSpPr>
          <p:cNvPr id="14" name="Text 12"/>
          <p:cNvSpPr/>
          <p:nvPr/>
        </p:nvSpPr>
        <p:spPr>
          <a:xfrm>
            <a:off x="1508760" y="1737360"/>
            <a:ext cx="4251960" cy="411480"/>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1-Paragraph Overview &amp; User Loop</a:t>
            </a:r>
            <a:endParaRPr lang="en-US" sz="1500" dirty="0"/>
          </a:p>
        </p:txBody>
      </p:sp>
      <p:sp>
        <p:nvSpPr>
          <p:cNvPr id="15" name="Text 13"/>
          <p:cNvSpPr/>
          <p:nvPr/>
        </p:nvSpPr>
        <p:spPr>
          <a:xfrm>
            <a:off x="777240" y="2286000"/>
            <a:ext cx="4983480" cy="1097280"/>
          </a:xfrm>
          <a:prstGeom prst="rect">
            <a:avLst/>
          </a:prstGeom>
          <a:noFill/>
          <a:ln/>
        </p:spPr>
        <p:txBody>
          <a:bodyPr wrap="square" rtlCol="0" anchor="t"/>
          <a:lstStyle/>
          <a:p>
            <a:pPr marL="0" indent="0">
              <a:buNone/>
            </a:pPr>
            <a:r>
              <a:rPr lang="en-US" sz="1200" dirty="0">
                <a:solidFill>
                  <a:srgbClr val="E2E8F0"/>
                </a:solidFill>
                <a:latin typeface="Segoe UI" pitchFamily="34" charset="0"/>
                <a:ea typeface="Segoe UI" pitchFamily="34" charset="-122"/>
                <a:cs typeface="Segoe UI" pitchFamily="34" charset="-120"/>
              </a:rPr>
              <a:t>Define who logs in, what action they trigger (e.g. "KC Plumbers within 25 miles"), and the exact outcome (20 structured leads saved to local storage).</a:t>
            </a:r>
            <a:endParaRPr lang="en-US" sz="1200" dirty="0"/>
          </a:p>
        </p:txBody>
      </p:sp>
      <p:sp>
        <p:nvSpPr>
          <p:cNvPr id="16" name="Shape 14"/>
          <p:cNvSpPr/>
          <p:nvPr/>
        </p:nvSpPr>
        <p:spPr>
          <a:xfrm>
            <a:off x="6172200" y="1508760"/>
            <a:ext cx="5440680" cy="2103120"/>
          </a:xfrm>
          <a:prstGeom prst="roundRect">
            <a:avLst>
              <a:gd name="adj" fmla="val 4348"/>
            </a:avLst>
          </a:prstGeom>
          <a:solidFill>
            <a:srgbClr val="130B24"/>
          </a:solidFill>
          <a:ln w="15240">
            <a:solidFill>
              <a:srgbClr val="8B5CF6"/>
            </a:solidFill>
            <a:prstDash val="solid"/>
          </a:ln>
        </p:spPr>
      </p:sp>
      <p:sp>
        <p:nvSpPr>
          <p:cNvPr id="17" name="Shape 15"/>
          <p:cNvSpPr/>
          <p:nvPr/>
        </p:nvSpPr>
        <p:spPr>
          <a:xfrm>
            <a:off x="6400800" y="1737360"/>
            <a:ext cx="594360" cy="411480"/>
          </a:xfrm>
          <a:prstGeom prst="roundRect">
            <a:avLst>
              <a:gd name="adj" fmla="val 17778"/>
            </a:avLst>
          </a:prstGeom>
          <a:solidFill>
            <a:srgbClr val="8B5CF6"/>
          </a:solidFill>
          <a:ln w="12700">
            <a:solidFill>
              <a:srgbClr val="8B5CF6"/>
            </a:solidFill>
            <a:prstDash val="solid"/>
          </a:ln>
        </p:spPr>
      </p:sp>
      <p:sp>
        <p:nvSpPr>
          <p:cNvPr id="18" name="Text 16"/>
          <p:cNvSpPr/>
          <p:nvPr/>
        </p:nvSpPr>
        <p:spPr>
          <a:xfrm>
            <a:off x="6400800" y="1737360"/>
            <a:ext cx="594360" cy="411480"/>
          </a:xfrm>
          <a:prstGeom prst="rect">
            <a:avLst/>
          </a:prstGeom>
          <a:noFill/>
          <a:ln/>
        </p:spPr>
        <p:txBody>
          <a:bodyPr wrap="square" rtlCol="0" anchor="ctr"/>
          <a:lstStyle/>
          <a:p>
            <a:pPr marL="0" indent="0" algn="ctr">
              <a:buNone/>
            </a:pPr>
            <a:r>
              <a:rPr lang="en-US" sz="1300" b="1" dirty="0">
                <a:solidFill>
                  <a:srgbClr val="F8FAFC"/>
                </a:solidFill>
                <a:latin typeface="Segoe UI" pitchFamily="34" charset="0"/>
                <a:ea typeface="Segoe UI" pitchFamily="34" charset="-122"/>
                <a:cs typeface="Segoe UI" pitchFamily="34" charset="-120"/>
              </a:rPr>
              <a:t>02</a:t>
            </a:r>
            <a:endParaRPr lang="en-US" sz="1300" dirty="0"/>
          </a:p>
        </p:txBody>
      </p:sp>
      <p:sp>
        <p:nvSpPr>
          <p:cNvPr id="19" name="Text 17"/>
          <p:cNvSpPr/>
          <p:nvPr/>
        </p:nvSpPr>
        <p:spPr>
          <a:xfrm>
            <a:off x="7132320" y="1737360"/>
            <a:ext cx="4251960" cy="411480"/>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Explicit Stack &amp; Non-Functional Rules</a:t>
            </a:r>
            <a:endParaRPr lang="en-US" sz="1500" dirty="0"/>
          </a:p>
        </p:txBody>
      </p:sp>
      <p:sp>
        <p:nvSpPr>
          <p:cNvPr id="20" name="Text 18"/>
          <p:cNvSpPr/>
          <p:nvPr/>
        </p:nvSpPr>
        <p:spPr>
          <a:xfrm>
            <a:off x="6400800" y="2286000"/>
            <a:ext cx="4983480" cy="1097280"/>
          </a:xfrm>
          <a:prstGeom prst="rect">
            <a:avLst/>
          </a:prstGeom>
          <a:noFill/>
          <a:ln/>
        </p:spPr>
        <p:txBody>
          <a:bodyPr wrap="square" rtlCol="0" anchor="t"/>
          <a:lstStyle/>
          <a:p>
            <a:pPr marL="0" indent="0">
              <a:buNone/>
            </a:pPr>
            <a:r>
              <a:rPr lang="en-US" sz="1200" dirty="0">
                <a:solidFill>
                  <a:srgbClr val="E2E8F0"/>
                </a:solidFill>
                <a:latin typeface="Segoe UI" pitchFamily="34" charset="0"/>
                <a:ea typeface="Segoe UI" pitchFamily="34" charset="-122"/>
                <a:cs typeface="Segoe UI" pitchFamily="34" charset="-120"/>
              </a:rPr>
              <a:t>Lock down versions &amp; invariants upfront: React 19, Vite, Tailwind, Express + TypeScript, and atomic file writes (write to .tmp then rename).</a:t>
            </a:r>
            <a:endParaRPr lang="en-US" sz="1200" dirty="0"/>
          </a:p>
        </p:txBody>
      </p:sp>
      <p:sp>
        <p:nvSpPr>
          <p:cNvPr id="21" name="Shape 19"/>
          <p:cNvSpPr/>
          <p:nvPr/>
        </p:nvSpPr>
        <p:spPr>
          <a:xfrm>
            <a:off x="548640" y="3840480"/>
            <a:ext cx="5440680" cy="2103120"/>
          </a:xfrm>
          <a:prstGeom prst="roundRect">
            <a:avLst>
              <a:gd name="adj" fmla="val 4348"/>
            </a:avLst>
          </a:prstGeom>
          <a:solidFill>
            <a:srgbClr val="130B24"/>
          </a:solidFill>
          <a:ln w="15240">
            <a:solidFill>
              <a:srgbClr val="8B5CF6"/>
            </a:solidFill>
            <a:prstDash val="solid"/>
          </a:ln>
        </p:spPr>
      </p:sp>
      <p:sp>
        <p:nvSpPr>
          <p:cNvPr id="22" name="Shape 20"/>
          <p:cNvSpPr/>
          <p:nvPr/>
        </p:nvSpPr>
        <p:spPr>
          <a:xfrm>
            <a:off x="777240" y="4069080"/>
            <a:ext cx="594360" cy="411480"/>
          </a:xfrm>
          <a:prstGeom prst="roundRect">
            <a:avLst>
              <a:gd name="adj" fmla="val 17778"/>
            </a:avLst>
          </a:prstGeom>
          <a:solidFill>
            <a:srgbClr val="8B5CF6"/>
          </a:solidFill>
          <a:ln w="12700">
            <a:solidFill>
              <a:srgbClr val="8B5CF6"/>
            </a:solidFill>
            <a:prstDash val="solid"/>
          </a:ln>
        </p:spPr>
      </p:sp>
      <p:sp>
        <p:nvSpPr>
          <p:cNvPr id="23" name="Text 21"/>
          <p:cNvSpPr/>
          <p:nvPr/>
        </p:nvSpPr>
        <p:spPr>
          <a:xfrm>
            <a:off x="777240" y="4069080"/>
            <a:ext cx="594360" cy="411480"/>
          </a:xfrm>
          <a:prstGeom prst="rect">
            <a:avLst/>
          </a:prstGeom>
          <a:noFill/>
          <a:ln/>
        </p:spPr>
        <p:txBody>
          <a:bodyPr wrap="square" rtlCol="0" anchor="ctr"/>
          <a:lstStyle/>
          <a:p>
            <a:pPr marL="0" indent="0" algn="ctr">
              <a:buNone/>
            </a:pPr>
            <a:r>
              <a:rPr lang="en-US" sz="1300" b="1" dirty="0">
                <a:solidFill>
                  <a:srgbClr val="F8FAFC"/>
                </a:solidFill>
                <a:latin typeface="Segoe UI" pitchFamily="34" charset="0"/>
                <a:ea typeface="Segoe UI" pitchFamily="34" charset="-122"/>
                <a:cs typeface="Segoe UI" pitchFamily="34" charset="-120"/>
              </a:rPr>
              <a:t>03</a:t>
            </a:r>
            <a:endParaRPr lang="en-US" sz="1300" dirty="0"/>
          </a:p>
        </p:txBody>
      </p:sp>
      <p:sp>
        <p:nvSpPr>
          <p:cNvPr id="24" name="Text 22"/>
          <p:cNvSpPr/>
          <p:nvPr/>
        </p:nvSpPr>
        <p:spPr>
          <a:xfrm>
            <a:off x="1508760" y="4069080"/>
            <a:ext cx="4251960" cy="411480"/>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Strict Data Models (Field-by-Field)</a:t>
            </a:r>
            <a:endParaRPr lang="en-US" sz="1500" dirty="0"/>
          </a:p>
        </p:txBody>
      </p:sp>
      <p:sp>
        <p:nvSpPr>
          <p:cNvPr id="25" name="Text 23"/>
          <p:cNvSpPr/>
          <p:nvPr/>
        </p:nvSpPr>
        <p:spPr>
          <a:xfrm>
            <a:off x="777240" y="4617720"/>
            <a:ext cx="4983480" cy="1097280"/>
          </a:xfrm>
          <a:prstGeom prst="rect">
            <a:avLst/>
          </a:prstGeom>
          <a:noFill/>
          <a:ln/>
        </p:spPr>
        <p:txBody>
          <a:bodyPr wrap="square" rtlCol="0" anchor="t"/>
          <a:lstStyle/>
          <a:p>
            <a:pPr marL="0" indent="0">
              <a:buNone/>
            </a:pPr>
            <a:r>
              <a:rPr lang="en-US" sz="1200" dirty="0">
                <a:solidFill>
                  <a:srgbClr val="E2E8F0"/>
                </a:solidFill>
                <a:latin typeface="Segoe UI" pitchFamily="34" charset="0"/>
                <a:ea typeface="Segoe UI" pitchFamily="34" charset="-122"/>
                <a:cs typeface="Segoe UI" pitchFamily="34" charset="-120"/>
              </a:rPr>
              <a:t>List every property &amp; type on Contact and LeadList (UUID v4, status union "New" | "Contacted" | "Qualified" | "Disqualified", ISO timestamps).</a:t>
            </a:r>
            <a:endParaRPr lang="en-US" sz="1200" dirty="0"/>
          </a:p>
        </p:txBody>
      </p:sp>
      <p:sp>
        <p:nvSpPr>
          <p:cNvPr id="26" name="Shape 24"/>
          <p:cNvSpPr/>
          <p:nvPr/>
        </p:nvSpPr>
        <p:spPr>
          <a:xfrm>
            <a:off x="6172200" y="3840480"/>
            <a:ext cx="5440680" cy="2103120"/>
          </a:xfrm>
          <a:prstGeom prst="roundRect">
            <a:avLst>
              <a:gd name="adj" fmla="val 4348"/>
            </a:avLst>
          </a:prstGeom>
          <a:solidFill>
            <a:srgbClr val="130B24"/>
          </a:solidFill>
          <a:ln w="15240">
            <a:solidFill>
              <a:srgbClr val="8B5CF6"/>
            </a:solidFill>
            <a:prstDash val="solid"/>
          </a:ln>
        </p:spPr>
      </p:sp>
      <p:sp>
        <p:nvSpPr>
          <p:cNvPr id="27" name="Shape 25"/>
          <p:cNvSpPr/>
          <p:nvPr/>
        </p:nvSpPr>
        <p:spPr>
          <a:xfrm>
            <a:off x="6400800" y="4069080"/>
            <a:ext cx="594360" cy="411480"/>
          </a:xfrm>
          <a:prstGeom prst="roundRect">
            <a:avLst>
              <a:gd name="adj" fmla="val 17778"/>
            </a:avLst>
          </a:prstGeom>
          <a:solidFill>
            <a:srgbClr val="8B5CF6"/>
          </a:solidFill>
          <a:ln w="12700">
            <a:solidFill>
              <a:srgbClr val="8B5CF6"/>
            </a:solidFill>
            <a:prstDash val="solid"/>
          </a:ln>
        </p:spPr>
      </p:sp>
      <p:sp>
        <p:nvSpPr>
          <p:cNvPr id="28" name="Text 26"/>
          <p:cNvSpPr/>
          <p:nvPr/>
        </p:nvSpPr>
        <p:spPr>
          <a:xfrm>
            <a:off x="6400800" y="4069080"/>
            <a:ext cx="594360" cy="411480"/>
          </a:xfrm>
          <a:prstGeom prst="rect">
            <a:avLst/>
          </a:prstGeom>
          <a:noFill/>
          <a:ln/>
        </p:spPr>
        <p:txBody>
          <a:bodyPr wrap="square" rtlCol="0" anchor="ctr"/>
          <a:lstStyle/>
          <a:p>
            <a:pPr marL="0" indent="0" algn="ctr">
              <a:buNone/>
            </a:pPr>
            <a:r>
              <a:rPr lang="en-US" sz="1300" b="1" dirty="0">
                <a:solidFill>
                  <a:srgbClr val="F8FAFC"/>
                </a:solidFill>
                <a:latin typeface="Segoe UI" pitchFamily="34" charset="0"/>
                <a:ea typeface="Segoe UI" pitchFamily="34" charset="-122"/>
                <a:cs typeface="Segoe UI" pitchFamily="34" charset="-120"/>
              </a:rPr>
              <a:t>04</a:t>
            </a:r>
            <a:endParaRPr lang="en-US" sz="1300" dirty="0"/>
          </a:p>
        </p:txBody>
      </p:sp>
      <p:sp>
        <p:nvSpPr>
          <p:cNvPr id="29" name="Text 27"/>
          <p:cNvSpPr/>
          <p:nvPr/>
        </p:nvSpPr>
        <p:spPr>
          <a:xfrm>
            <a:off x="7132320" y="4069080"/>
            <a:ext cx="4251960" cy="411480"/>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Complete REST API Contract Table</a:t>
            </a:r>
            <a:endParaRPr lang="en-US" sz="1500" dirty="0"/>
          </a:p>
        </p:txBody>
      </p:sp>
      <p:sp>
        <p:nvSpPr>
          <p:cNvPr id="30" name="Text 28"/>
          <p:cNvSpPr/>
          <p:nvPr/>
        </p:nvSpPr>
        <p:spPr>
          <a:xfrm>
            <a:off x="6400800" y="4617720"/>
            <a:ext cx="4983480" cy="1097280"/>
          </a:xfrm>
          <a:prstGeom prst="rect">
            <a:avLst/>
          </a:prstGeom>
          <a:noFill/>
          <a:ln/>
        </p:spPr>
        <p:txBody>
          <a:bodyPr wrap="square" rtlCol="0" anchor="t"/>
          <a:lstStyle/>
          <a:p>
            <a:pPr marL="0" indent="0">
              <a:buNone/>
            </a:pPr>
            <a:r>
              <a:rPr lang="en-US" sz="1200" dirty="0">
                <a:solidFill>
                  <a:srgbClr val="E2E8F0"/>
                </a:solidFill>
                <a:latin typeface="Segoe UI" pitchFamily="34" charset="0"/>
                <a:ea typeface="Segoe UI" pitchFamily="34" charset="-122"/>
                <a:cs typeface="Segoe UI" pitchFamily="34" charset="-120"/>
              </a:rPr>
              <a:t>Specify every HTTP method &amp; route (/api/auth/login, /api/lists/search, /api/lists/:id/append, /api/lists/:id/export) so frontend &amp; backend never drift.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514"/>
        </a:solidFill>
        <a:effectLst/>
      </p:bgPr>
    </p:bg>
    <p:spTree>
      <p:nvGrpSpPr>
        <p:cNvPr id="1" name="">
          <a:extLst>
            <a:ext uri="{FF2B5EF4-FFF2-40B4-BE49-F238E27FC236}">
              <a16:creationId xmlns:a16="http://schemas.microsoft.com/office/drawing/2014/main" id="{CAF81255-D4E7-5D9B-C671-21516B38A0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550B9D-D5A0-24FC-D516-E7CDE18C573B}"/>
              </a:ext>
            </a:extLst>
          </p:cNvPr>
          <p:cNvSpPr/>
          <p:nvPr/>
        </p:nvSpPr>
        <p:spPr>
          <a:xfrm>
            <a:off x="0" y="0"/>
            <a:ext cx="12192000" cy="73152"/>
          </a:xfrm>
          <a:prstGeom prst="rect">
            <a:avLst/>
          </a:prstGeom>
          <a:solidFill>
            <a:srgbClr val="8B5CF6"/>
          </a:solidFill>
          <a:ln w="12700">
            <a:solidFill>
              <a:srgbClr val="8B5CF6"/>
            </a:solidFill>
            <a:prstDash val="solid"/>
          </a:ln>
        </p:spPr>
      </p:sp>
      <p:sp>
        <p:nvSpPr>
          <p:cNvPr id="3" name="Shape 1">
            <a:extLst>
              <a:ext uri="{FF2B5EF4-FFF2-40B4-BE49-F238E27FC236}">
                <a16:creationId xmlns:a16="http://schemas.microsoft.com/office/drawing/2014/main" id="{BE682EC6-B4EF-64D2-D3DE-C0223CC3B21B}"/>
              </a:ext>
            </a:extLst>
          </p:cNvPr>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a:extLst>
              <a:ext uri="{FF2B5EF4-FFF2-40B4-BE49-F238E27FC236}">
                <a16:creationId xmlns:a16="http://schemas.microsoft.com/office/drawing/2014/main" id="{B980F7B8-DDB6-D744-CD75-779D39D15F0B}"/>
              </a:ext>
            </a:extLst>
          </p:cNvPr>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a:extLst>
              <a:ext uri="{FF2B5EF4-FFF2-40B4-BE49-F238E27FC236}">
                <a16:creationId xmlns:a16="http://schemas.microsoft.com/office/drawing/2014/main" id="{4CFF4FE9-3B30-D4F0-6F48-00DE466CF25A}"/>
              </a:ext>
            </a:extLst>
          </p:cNvPr>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a:extLst>
              <a:ext uri="{FF2B5EF4-FFF2-40B4-BE49-F238E27FC236}">
                <a16:creationId xmlns:a16="http://schemas.microsoft.com/office/drawing/2014/main" id="{40AED9E4-31AA-DF8C-C369-6BB1AA646702}"/>
              </a:ext>
            </a:extLst>
          </p:cNvPr>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a:extLst>
              <a:ext uri="{FF2B5EF4-FFF2-40B4-BE49-F238E27FC236}">
                <a16:creationId xmlns:a16="http://schemas.microsoft.com/office/drawing/2014/main" id="{0537CC1B-E315-EAAB-A674-5EF9EF17E138}"/>
              </a:ext>
            </a:extLst>
          </p:cNvPr>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4 / 12</a:t>
            </a:r>
            <a:endParaRPr lang="en-US" sz="900" dirty="0"/>
          </a:p>
        </p:txBody>
      </p:sp>
      <p:sp>
        <p:nvSpPr>
          <p:cNvPr id="8" name="Text 6">
            <a:extLst>
              <a:ext uri="{FF2B5EF4-FFF2-40B4-BE49-F238E27FC236}">
                <a16:creationId xmlns:a16="http://schemas.microsoft.com/office/drawing/2014/main" id="{BE4DF54F-A0B1-AD1D-8EDE-2317CC376BA8}"/>
              </a:ext>
            </a:extLst>
          </p:cNvPr>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 • THE APPLICATION WE BUILT</a:t>
            </a:r>
            <a:endParaRPr lang="en-US" sz="1000" dirty="0"/>
          </a:p>
        </p:txBody>
      </p:sp>
      <p:sp>
        <p:nvSpPr>
          <p:cNvPr id="9" name="Text 7">
            <a:extLst>
              <a:ext uri="{FF2B5EF4-FFF2-40B4-BE49-F238E27FC236}">
                <a16:creationId xmlns:a16="http://schemas.microsoft.com/office/drawing/2014/main" id="{744D9CB9-B66A-4FC1-EB8B-DD3A54ED5610}"/>
              </a:ext>
            </a:extLst>
          </p:cNvPr>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Pause…</a:t>
            </a:r>
            <a:endParaRPr lang="en-US" sz="2500" dirty="0"/>
          </a:p>
        </p:txBody>
      </p:sp>
      <p:sp>
        <p:nvSpPr>
          <p:cNvPr id="11" name="Shape 9">
            <a:extLst>
              <a:ext uri="{FF2B5EF4-FFF2-40B4-BE49-F238E27FC236}">
                <a16:creationId xmlns:a16="http://schemas.microsoft.com/office/drawing/2014/main" id="{3DECE75C-63C4-D7AE-F9CC-E667B8738E4C}"/>
              </a:ext>
            </a:extLst>
          </p:cNvPr>
          <p:cNvSpPr/>
          <p:nvPr/>
        </p:nvSpPr>
        <p:spPr>
          <a:xfrm>
            <a:off x="704556" y="1508760"/>
            <a:ext cx="11094720" cy="4572000"/>
          </a:xfrm>
          <a:prstGeom prst="roundRect">
            <a:avLst>
              <a:gd name="adj" fmla="val 2000"/>
            </a:avLst>
          </a:prstGeom>
          <a:solidFill>
            <a:srgbClr val="06030D"/>
          </a:solidFill>
          <a:ln w="19050">
            <a:solidFill>
              <a:srgbClr val="4C1D95"/>
            </a:solidFill>
            <a:prstDash val="solid"/>
          </a:ln>
        </p:spPr>
      </p:sp>
      <p:sp>
        <p:nvSpPr>
          <p:cNvPr id="26" name="TextBox 25">
            <a:extLst>
              <a:ext uri="{FF2B5EF4-FFF2-40B4-BE49-F238E27FC236}">
                <a16:creationId xmlns:a16="http://schemas.microsoft.com/office/drawing/2014/main" id="{A8093480-0017-6B55-05EE-FB7C6F252994}"/>
              </a:ext>
            </a:extLst>
          </p:cNvPr>
          <p:cNvSpPr txBox="1"/>
          <p:nvPr/>
        </p:nvSpPr>
        <p:spPr>
          <a:xfrm>
            <a:off x="838199" y="1901952"/>
            <a:ext cx="10961077" cy="4247317"/>
          </a:xfrm>
          <a:prstGeom prst="rect">
            <a:avLst/>
          </a:prstGeom>
          <a:noFill/>
        </p:spPr>
        <p:txBody>
          <a:bodyPr wrap="square" rtlCol="0">
            <a:spAutoFit/>
          </a:bodyPr>
          <a:lstStyle/>
          <a:p>
            <a:r>
              <a:rPr lang="en-US" sz="5400" dirty="0">
                <a:solidFill>
                  <a:schemeClr val="bg1"/>
                </a:solidFill>
              </a:rPr>
              <a:t>Look at the Spec</a:t>
            </a:r>
          </a:p>
          <a:p>
            <a:endParaRPr lang="en-US" sz="5400" dirty="0">
              <a:solidFill>
                <a:schemeClr val="bg1"/>
              </a:solidFill>
            </a:endParaRPr>
          </a:p>
          <a:p>
            <a:r>
              <a:rPr lang="en-US" sz="5400" dirty="0">
                <a:solidFill>
                  <a:schemeClr val="bg1"/>
                </a:solidFill>
              </a:rPr>
              <a:t>It’s super interesting…</a:t>
            </a:r>
          </a:p>
          <a:p>
            <a:endParaRPr lang="en-US" sz="5400" dirty="0">
              <a:solidFill>
                <a:schemeClr val="bg1"/>
              </a:solidFill>
            </a:endParaRPr>
          </a:p>
          <a:p>
            <a:r>
              <a:rPr lang="en-US" sz="5400" dirty="0">
                <a:solidFill>
                  <a:schemeClr val="bg1"/>
                </a:solidFill>
              </a:rPr>
              <a:t>And the site…</a:t>
            </a:r>
          </a:p>
        </p:txBody>
      </p:sp>
    </p:spTree>
    <p:extLst>
      <p:ext uri="{BB962C8B-B14F-4D97-AF65-F5344CB8AC3E}">
        <p14:creationId xmlns:p14="http://schemas.microsoft.com/office/powerpoint/2010/main" val="181188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4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 • THE APPLICATION WE BUILT</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Case Study: AICRM (AI Lead Generation &amp; Contact Manager)</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From initial SPEC.md to a 3-step Google Places + Web Scraper + Gemini Call-Script pipeline.</a:t>
            </a:r>
            <a:endParaRPr lang="en-US" sz="1250" dirty="0"/>
          </a:p>
        </p:txBody>
      </p:sp>
      <p:sp>
        <p:nvSpPr>
          <p:cNvPr id="11" name="Shape 9"/>
          <p:cNvSpPr/>
          <p:nvPr/>
        </p:nvSpPr>
        <p:spPr>
          <a:xfrm>
            <a:off x="548640" y="1508760"/>
            <a:ext cx="5669280" cy="4572000"/>
          </a:xfrm>
          <a:prstGeom prst="roundRect">
            <a:avLst>
              <a:gd name="adj" fmla="val 2000"/>
            </a:avLst>
          </a:prstGeom>
          <a:solidFill>
            <a:srgbClr val="06030D"/>
          </a:solidFill>
          <a:ln w="19050">
            <a:solidFill>
              <a:srgbClr val="4C1D95"/>
            </a:solidFill>
            <a:prstDash val="solid"/>
          </a:ln>
        </p:spPr>
      </p:sp>
      <p:sp>
        <p:nvSpPr>
          <p:cNvPr id="12" name="Text 10"/>
          <p:cNvSpPr/>
          <p:nvPr/>
        </p:nvSpPr>
        <p:spPr>
          <a:xfrm>
            <a:off x="777240" y="1645920"/>
            <a:ext cx="5212080" cy="320040"/>
          </a:xfrm>
          <a:prstGeom prst="rect">
            <a:avLst/>
          </a:prstGeom>
          <a:noFill/>
          <a:ln/>
        </p:spPr>
        <p:txBody>
          <a:bodyPr wrap="square" rtlCol="0" anchor="ctr"/>
          <a:lstStyle/>
          <a:p>
            <a:pPr marL="0" indent="0">
              <a:buNone/>
            </a:pPr>
            <a:r>
              <a:rPr lang="en-US" sz="1100" b="1" dirty="0">
                <a:solidFill>
                  <a:srgbClr val="C084FC"/>
                </a:solidFill>
                <a:latin typeface="Consolas" pitchFamily="34" charset="0"/>
                <a:ea typeface="Consolas" pitchFamily="34" charset="-122"/>
                <a:cs typeface="Consolas" pitchFamily="34" charset="-120"/>
              </a:rPr>
              <a:t>c:\Dev\AICRM\SPEC.md (Excerpt)</a:t>
            </a:r>
            <a:endParaRPr lang="en-US" sz="1100" dirty="0"/>
          </a:p>
        </p:txBody>
      </p:sp>
      <p:sp>
        <p:nvSpPr>
          <p:cNvPr id="13" name="Text 11"/>
          <p:cNvSpPr/>
          <p:nvPr/>
        </p:nvSpPr>
        <p:spPr>
          <a:xfrm>
            <a:off x="777240" y="2057400"/>
            <a:ext cx="5212080" cy="3749040"/>
          </a:xfrm>
          <a:prstGeom prst="rect">
            <a:avLst/>
          </a:prstGeom>
          <a:noFill/>
          <a:ln/>
        </p:spPr>
        <p:txBody>
          <a:bodyPr wrap="square" rtlCol="0" anchor="t"/>
          <a:lstStyle/>
          <a:p>
            <a:pPr marL="0" indent="0">
              <a:buNone/>
            </a:pPr>
            <a:r>
              <a:rPr lang="en-US" sz="1100" dirty="0">
                <a:solidFill>
                  <a:srgbClr val="E2E8F0"/>
                </a:solidFill>
                <a:latin typeface="Consolas" pitchFamily="34" charset="0"/>
                <a:ea typeface="Consolas" pitchFamily="34" charset="-122"/>
                <a:cs typeface="Consolas" pitchFamily="34" charset="-120"/>
              </a:rPr>
              <a:t>### Contact (Lead)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id: string (UUID v4)</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businessName, contactName, contactTitle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phone, email, website, address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description, sourceUrl, notes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status: 'New' | 'Contacted' | 'Qualified' | 'Disqualified'</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REST API Specification</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POST /api/auth/login       (JWT Auth)</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POST /api/lists/search     (Find 20 Leads)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POST /api/lists/:id/append (Add 20 Non-Duplicates)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GET  /api/lists/:id/export (CSV Export)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PATCH /api/lists/:id/contacts/:contactId</a:t>
            </a:r>
            <a:endParaRPr lang="en-US" sz="1100" dirty="0"/>
          </a:p>
        </p:txBody>
      </p:sp>
      <p:sp>
        <p:nvSpPr>
          <p:cNvPr id="14" name="Shape 12"/>
          <p:cNvSpPr/>
          <p:nvPr/>
        </p:nvSpPr>
        <p:spPr>
          <a:xfrm>
            <a:off x="6446520" y="1508760"/>
            <a:ext cx="5166360" cy="1417320"/>
          </a:xfrm>
          <a:prstGeom prst="roundRect">
            <a:avLst>
              <a:gd name="adj" fmla="val 6452"/>
            </a:avLst>
          </a:prstGeom>
          <a:solidFill>
            <a:srgbClr val="130B24"/>
          </a:solidFill>
          <a:ln w="15240">
            <a:solidFill>
              <a:srgbClr val="8B5CF6"/>
            </a:solidFill>
            <a:prstDash val="solid"/>
          </a:ln>
        </p:spPr>
      </p:sp>
      <p:sp>
        <p:nvSpPr>
          <p:cNvPr id="15" name="Text 13"/>
          <p:cNvSpPr/>
          <p:nvPr/>
        </p:nvSpPr>
        <p:spPr>
          <a:xfrm>
            <a:off x="6675120" y="1645920"/>
            <a:ext cx="4663440" cy="256032"/>
          </a:xfrm>
          <a:prstGeom prst="rect">
            <a:avLst/>
          </a:prstGeom>
          <a:noFill/>
          <a:ln/>
        </p:spPr>
        <p:txBody>
          <a:bodyPr wrap="square" rtlCol="0" anchor="ctr"/>
          <a:lstStyle/>
          <a:p>
            <a:pPr marL="0" indent="0">
              <a:buNone/>
            </a:pPr>
            <a:r>
              <a:rPr lang="en-US" sz="950" b="1" dirty="0">
                <a:solidFill>
                  <a:srgbClr val="C084FC"/>
                </a:solidFill>
                <a:latin typeface="Segoe UI" pitchFamily="34" charset="0"/>
                <a:ea typeface="Segoe UI" pitchFamily="34" charset="-122"/>
                <a:cs typeface="Segoe UI" pitchFamily="34" charset="-120"/>
              </a:rPr>
              <a:t>STEP 1 • DISCOVERY (&lt; 1 sec)</a:t>
            </a:r>
            <a:endParaRPr lang="en-US" sz="950" dirty="0"/>
          </a:p>
        </p:txBody>
      </p:sp>
      <p:sp>
        <p:nvSpPr>
          <p:cNvPr id="16" name="Text 14"/>
          <p:cNvSpPr/>
          <p:nvPr/>
        </p:nvSpPr>
        <p:spPr>
          <a:xfrm>
            <a:off x="6675120" y="1901952"/>
            <a:ext cx="466344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Google Places API (New) Text Search</a:t>
            </a:r>
            <a:endParaRPr lang="en-US" sz="1400" dirty="0"/>
          </a:p>
        </p:txBody>
      </p:sp>
      <p:sp>
        <p:nvSpPr>
          <p:cNvPr id="17" name="Text 15"/>
          <p:cNvSpPr/>
          <p:nvPr/>
        </p:nvSpPr>
        <p:spPr>
          <a:xfrm>
            <a:off x="6675120" y="2240280"/>
            <a:ext cx="4663440" cy="594360"/>
          </a:xfrm>
          <a:prstGeom prst="rect">
            <a:avLst/>
          </a:prstGeom>
          <a:noFill/>
          <a:ln/>
        </p:spPr>
        <p:txBody>
          <a:bodyPr wrap="square" rtlCol="0" anchor="ctr"/>
          <a:lstStyle/>
          <a:p>
            <a:pPr marL="0" indent="0">
              <a:buNone/>
            </a:pPr>
            <a:r>
              <a:rPr lang="en-US" sz="1100" dirty="0">
                <a:solidFill>
                  <a:srgbClr val="94A3B8"/>
                </a:solidFill>
                <a:latin typeface="Segoe UI" pitchFamily="34" charset="0"/>
                <a:ea typeface="Segoe UI" pitchFamily="34" charset="-122"/>
                <a:cs typeface="Segoe UI" pitchFamily="34" charset="-120"/>
              </a:rPr>
              <a:t>Finds 20 real local businesses matching criteria with verified addresses, Google Maps URLs, and deduplication.</a:t>
            </a:r>
            <a:endParaRPr lang="en-US" sz="1100" dirty="0"/>
          </a:p>
        </p:txBody>
      </p:sp>
      <p:sp>
        <p:nvSpPr>
          <p:cNvPr id="18" name="Shape 16"/>
          <p:cNvSpPr/>
          <p:nvPr/>
        </p:nvSpPr>
        <p:spPr>
          <a:xfrm>
            <a:off x="6446520" y="3081528"/>
            <a:ext cx="5166360" cy="1417320"/>
          </a:xfrm>
          <a:prstGeom prst="roundRect">
            <a:avLst>
              <a:gd name="adj" fmla="val 6452"/>
            </a:avLst>
          </a:prstGeom>
          <a:solidFill>
            <a:srgbClr val="130B24"/>
          </a:solidFill>
          <a:ln w="15240">
            <a:solidFill>
              <a:srgbClr val="8B5CF6"/>
            </a:solidFill>
            <a:prstDash val="solid"/>
          </a:ln>
        </p:spPr>
      </p:sp>
      <p:sp>
        <p:nvSpPr>
          <p:cNvPr id="19" name="Text 17"/>
          <p:cNvSpPr/>
          <p:nvPr/>
        </p:nvSpPr>
        <p:spPr>
          <a:xfrm>
            <a:off x="6675120" y="3218688"/>
            <a:ext cx="4663440" cy="256032"/>
          </a:xfrm>
          <a:prstGeom prst="rect">
            <a:avLst/>
          </a:prstGeom>
          <a:noFill/>
          <a:ln/>
        </p:spPr>
        <p:txBody>
          <a:bodyPr wrap="square" rtlCol="0" anchor="ctr"/>
          <a:lstStyle/>
          <a:p>
            <a:pPr marL="0" indent="0">
              <a:buNone/>
            </a:pPr>
            <a:r>
              <a:rPr lang="en-US" sz="950" b="1" dirty="0">
                <a:solidFill>
                  <a:srgbClr val="C084FC"/>
                </a:solidFill>
                <a:latin typeface="Segoe UI" pitchFamily="34" charset="0"/>
                <a:ea typeface="Segoe UI" pitchFamily="34" charset="-122"/>
                <a:cs typeface="Segoe UI" pitchFamily="34" charset="-120"/>
              </a:rPr>
              <a:t>STEP 2 • ENRICHMENT</a:t>
            </a:r>
            <a:endParaRPr lang="en-US" sz="950" dirty="0"/>
          </a:p>
        </p:txBody>
      </p:sp>
      <p:sp>
        <p:nvSpPr>
          <p:cNvPr id="20" name="Text 18"/>
          <p:cNvSpPr/>
          <p:nvPr/>
        </p:nvSpPr>
        <p:spPr>
          <a:xfrm>
            <a:off x="6675120" y="3474720"/>
            <a:ext cx="466344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Places Details + Live Website Scraper</a:t>
            </a:r>
            <a:endParaRPr lang="en-US" sz="1400" dirty="0"/>
          </a:p>
        </p:txBody>
      </p:sp>
      <p:sp>
        <p:nvSpPr>
          <p:cNvPr id="21" name="Text 19"/>
          <p:cNvSpPr/>
          <p:nvPr/>
        </p:nvSpPr>
        <p:spPr>
          <a:xfrm>
            <a:off x="6675120" y="3813048"/>
            <a:ext cx="4663440" cy="594360"/>
          </a:xfrm>
          <a:prstGeom prst="rect">
            <a:avLst/>
          </a:prstGeom>
          <a:noFill/>
          <a:ln/>
        </p:spPr>
        <p:txBody>
          <a:bodyPr wrap="square" rtlCol="0" anchor="ctr"/>
          <a:lstStyle/>
          <a:p>
            <a:pPr marL="0" indent="0">
              <a:buNone/>
            </a:pPr>
            <a:r>
              <a:rPr lang="en-US" sz="1100" dirty="0">
                <a:solidFill>
                  <a:srgbClr val="94A3B8"/>
                </a:solidFill>
                <a:latin typeface="Segoe UI" pitchFamily="34" charset="0"/>
                <a:ea typeface="Segoe UI" pitchFamily="34" charset="-122"/>
                <a:cs typeface="Segoe UI" pitchFamily="34" charset="-120"/>
              </a:rPr>
              <a:t>Fetches phone numbers, official URLs, and scrapes business websites for public email addresses &amp; meta descriptions.</a:t>
            </a:r>
            <a:endParaRPr lang="en-US" sz="1100" dirty="0"/>
          </a:p>
        </p:txBody>
      </p:sp>
      <p:sp>
        <p:nvSpPr>
          <p:cNvPr id="22" name="Shape 20"/>
          <p:cNvSpPr/>
          <p:nvPr/>
        </p:nvSpPr>
        <p:spPr>
          <a:xfrm>
            <a:off x="6446520" y="4654296"/>
            <a:ext cx="5166360" cy="1417320"/>
          </a:xfrm>
          <a:prstGeom prst="roundRect">
            <a:avLst>
              <a:gd name="adj" fmla="val 6452"/>
            </a:avLst>
          </a:prstGeom>
          <a:solidFill>
            <a:srgbClr val="130B24"/>
          </a:solidFill>
          <a:ln w="15240">
            <a:solidFill>
              <a:srgbClr val="8B5CF6"/>
            </a:solidFill>
            <a:prstDash val="solid"/>
          </a:ln>
        </p:spPr>
      </p:sp>
      <p:sp>
        <p:nvSpPr>
          <p:cNvPr id="23" name="Text 21"/>
          <p:cNvSpPr/>
          <p:nvPr/>
        </p:nvSpPr>
        <p:spPr>
          <a:xfrm>
            <a:off x="6675120" y="4791456"/>
            <a:ext cx="4663440" cy="256032"/>
          </a:xfrm>
          <a:prstGeom prst="rect">
            <a:avLst/>
          </a:prstGeom>
          <a:noFill/>
          <a:ln/>
        </p:spPr>
        <p:txBody>
          <a:bodyPr wrap="square" rtlCol="0" anchor="ctr"/>
          <a:lstStyle/>
          <a:p>
            <a:pPr marL="0" indent="0">
              <a:buNone/>
            </a:pPr>
            <a:r>
              <a:rPr lang="en-US" sz="950" b="1" dirty="0">
                <a:solidFill>
                  <a:srgbClr val="C084FC"/>
                </a:solidFill>
                <a:latin typeface="Segoe UI" pitchFamily="34" charset="0"/>
                <a:ea typeface="Segoe UI" pitchFamily="34" charset="-122"/>
                <a:cs typeface="Segoe UI" pitchFamily="34" charset="-120"/>
              </a:rPr>
              <a:t>STEP 3 • AI GENERATION</a:t>
            </a:r>
            <a:endParaRPr lang="en-US" sz="950" dirty="0"/>
          </a:p>
        </p:txBody>
      </p:sp>
      <p:sp>
        <p:nvSpPr>
          <p:cNvPr id="24" name="Text 22"/>
          <p:cNvSpPr/>
          <p:nvPr/>
        </p:nvSpPr>
        <p:spPr>
          <a:xfrm>
            <a:off x="6675120" y="5047488"/>
            <a:ext cx="466344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Gemini Cold-Call Script + Lead Scoring</a:t>
            </a:r>
            <a:endParaRPr lang="en-US" sz="1400" dirty="0"/>
          </a:p>
        </p:txBody>
      </p:sp>
      <p:sp>
        <p:nvSpPr>
          <p:cNvPr id="25" name="Text 23"/>
          <p:cNvSpPr/>
          <p:nvPr/>
        </p:nvSpPr>
        <p:spPr>
          <a:xfrm>
            <a:off x="6675120" y="5385816"/>
            <a:ext cx="4663440" cy="594360"/>
          </a:xfrm>
          <a:prstGeom prst="rect">
            <a:avLst/>
          </a:prstGeom>
          <a:noFill/>
          <a:ln/>
        </p:spPr>
        <p:txBody>
          <a:bodyPr wrap="square" rtlCol="0" anchor="ctr"/>
          <a:lstStyle/>
          <a:p>
            <a:pPr marL="0" indent="0">
              <a:buNone/>
            </a:pPr>
            <a:r>
              <a:rPr lang="en-US" sz="1100" dirty="0">
                <a:solidFill>
                  <a:srgbClr val="94A3B8"/>
                </a:solidFill>
                <a:latin typeface="Segoe UI" pitchFamily="34" charset="0"/>
                <a:ea typeface="Segoe UI" pitchFamily="34" charset="-122"/>
                <a:cs typeface="Segoe UI" pitchFamily="34" charset="-120"/>
              </a:rPr>
              <a:t>Generates tailored B2B cold-call scripts (pattern interrupt, value hook, objection pivot) &amp; scores leads 0–100.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5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 • MULTI-AGENT SWARM ARCHITECTURE</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How We Built the 4-Agent Coding Swarm (dev-swarm)</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Turning a single primary agent into an Orchestrator coordinating 4 specialized subagents.</a:t>
            </a:r>
            <a:endParaRPr lang="en-US" sz="1250" dirty="0"/>
          </a:p>
        </p:txBody>
      </p:sp>
      <p:sp>
        <p:nvSpPr>
          <p:cNvPr id="11" name="Shape 9"/>
          <p:cNvSpPr/>
          <p:nvPr/>
        </p:nvSpPr>
        <p:spPr>
          <a:xfrm>
            <a:off x="548640" y="1554480"/>
            <a:ext cx="2651760" cy="3154680"/>
          </a:xfrm>
          <a:prstGeom prst="roundRect">
            <a:avLst>
              <a:gd name="adj" fmla="val 4138"/>
            </a:avLst>
          </a:prstGeom>
          <a:solidFill>
            <a:srgbClr val="130B24"/>
          </a:solidFill>
          <a:ln w="16510">
            <a:solidFill>
              <a:srgbClr val="A855F7"/>
            </a:solidFill>
            <a:prstDash val="solid"/>
          </a:ln>
        </p:spPr>
      </p:sp>
      <p:sp>
        <p:nvSpPr>
          <p:cNvPr id="12" name="Text 10"/>
          <p:cNvSpPr/>
          <p:nvPr/>
        </p:nvSpPr>
        <p:spPr>
          <a:xfrm>
            <a:off x="731520" y="1737360"/>
            <a:ext cx="2286000" cy="347472"/>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1. PO AGENT</a:t>
            </a:r>
            <a:endParaRPr lang="en-US" sz="1350" dirty="0"/>
          </a:p>
        </p:txBody>
      </p:sp>
      <p:sp>
        <p:nvSpPr>
          <p:cNvPr id="13" name="Shape 11"/>
          <p:cNvSpPr/>
          <p:nvPr/>
        </p:nvSpPr>
        <p:spPr>
          <a:xfrm>
            <a:off x="731520" y="2148840"/>
            <a:ext cx="2286000" cy="292608"/>
          </a:xfrm>
          <a:prstGeom prst="roundRect">
            <a:avLst>
              <a:gd name="adj" fmla="val 25000"/>
            </a:avLst>
          </a:prstGeom>
          <a:solidFill>
            <a:srgbClr val="1C1036"/>
          </a:solidFill>
          <a:ln w="12700">
            <a:solidFill>
              <a:srgbClr val="4C1D95"/>
            </a:solidFill>
            <a:prstDash val="solid"/>
          </a:ln>
        </p:spPr>
      </p:sp>
      <p:sp>
        <p:nvSpPr>
          <p:cNvPr id="14" name="Text 12"/>
          <p:cNvSpPr/>
          <p:nvPr/>
        </p:nvSpPr>
        <p:spPr>
          <a:xfrm>
            <a:off x="731520" y="2148840"/>
            <a:ext cx="2286000" cy="292608"/>
          </a:xfrm>
          <a:prstGeom prst="rect">
            <a:avLst/>
          </a:prstGeom>
          <a:noFill/>
          <a:ln/>
        </p:spPr>
        <p:txBody>
          <a:bodyPr wrap="square" rtlCol="0" anchor="ctr"/>
          <a:lstStyle/>
          <a:p>
            <a:pPr marL="0" indent="0" algn="ctr">
              <a:buNone/>
            </a:pPr>
            <a:r>
              <a:rPr lang="en-US" sz="950" b="1" dirty="0">
                <a:solidFill>
                  <a:srgbClr val="C084FC"/>
                </a:solidFill>
                <a:latin typeface="Segoe UI" pitchFamily="34" charset="0"/>
                <a:ea typeface="Segoe UI" pitchFamily="34" charset="-122"/>
                <a:cs typeface="Segoe UI" pitchFamily="34" charset="-120"/>
              </a:rPr>
              <a:t>Read-Only • Spec &amp; WPs</a:t>
            </a:r>
            <a:endParaRPr lang="en-US" sz="950" dirty="0"/>
          </a:p>
        </p:txBody>
      </p:sp>
      <p:sp>
        <p:nvSpPr>
          <p:cNvPr id="15" name="Text 13"/>
          <p:cNvSpPr/>
          <p:nvPr/>
        </p:nvSpPr>
        <p:spPr>
          <a:xfrm>
            <a:off x="731520" y="2606040"/>
            <a:ext cx="2286000" cy="1920240"/>
          </a:xfrm>
          <a:prstGeom prst="rect">
            <a:avLst/>
          </a:prstGeom>
          <a:noFill/>
          <a:ln/>
        </p:spPr>
        <p:txBody>
          <a:bodyPr wrap="square" rtlCol="0" anchor="t"/>
          <a:lstStyle/>
          <a:p>
            <a:pPr marL="0" indent="0">
              <a:buNone/>
            </a:pPr>
            <a:r>
              <a:rPr lang="en-US" sz="1100" dirty="0">
                <a:solidFill>
                  <a:srgbClr val="E2E8F0"/>
                </a:solidFill>
                <a:latin typeface="Segoe UI" pitchFamily="34" charset="0"/>
                <a:ea typeface="Segoe UI" pitchFamily="34" charset="-122"/>
                <a:cs typeface="Segoe UI" pitchFamily="34" charset="-120"/>
              </a:rPr>
              <a:t>Reads high-level repo context, interviews user (or runs autonomous), and outputs max 4 Work Packages (WP-1..WP-4) with max 6 Acceptance Criteria (AC-1..AC-6).</a:t>
            </a:r>
            <a:endParaRPr lang="en-US" sz="1100" dirty="0"/>
          </a:p>
        </p:txBody>
      </p:sp>
      <p:sp>
        <p:nvSpPr>
          <p:cNvPr id="16" name="Shape 14"/>
          <p:cNvSpPr/>
          <p:nvPr/>
        </p:nvSpPr>
        <p:spPr>
          <a:xfrm>
            <a:off x="3364992" y="1554480"/>
            <a:ext cx="2651760" cy="3154680"/>
          </a:xfrm>
          <a:prstGeom prst="roundRect">
            <a:avLst>
              <a:gd name="adj" fmla="val 4138"/>
            </a:avLst>
          </a:prstGeom>
          <a:solidFill>
            <a:srgbClr val="130B24"/>
          </a:solidFill>
          <a:ln w="16510">
            <a:solidFill>
              <a:srgbClr val="A855F7"/>
            </a:solidFill>
            <a:prstDash val="solid"/>
          </a:ln>
        </p:spPr>
      </p:sp>
      <p:sp>
        <p:nvSpPr>
          <p:cNvPr id="17" name="Text 15"/>
          <p:cNvSpPr/>
          <p:nvPr/>
        </p:nvSpPr>
        <p:spPr>
          <a:xfrm>
            <a:off x="3547872" y="1737360"/>
            <a:ext cx="2286000" cy="347472"/>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2. ARCHITECT AGENT</a:t>
            </a:r>
            <a:endParaRPr lang="en-US" sz="1350" dirty="0"/>
          </a:p>
        </p:txBody>
      </p:sp>
      <p:sp>
        <p:nvSpPr>
          <p:cNvPr id="18" name="Shape 16"/>
          <p:cNvSpPr/>
          <p:nvPr/>
        </p:nvSpPr>
        <p:spPr>
          <a:xfrm>
            <a:off x="3547872" y="2148840"/>
            <a:ext cx="2286000" cy="292608"/>
          </a:xfrm>
          <a:prstGeom prst="roundRect">
            <a:avLst>
              <a:gd name="adj" fmla="val 25000"/>
            </a:avLst>
          </a:prstGeom>
          <a:solidFill>
            <a:srgbClr val="1C1036"/>
          </a:solidFill>
          <a:ln w="12700">
            <a:solidFill>
              <a:srgbClr val="4C1D95"/>
            </a:solidFill>
            <a:prstDash val="solid"/>
          </a:ln>
        </p:spPr>
      </p:sp>
      <p:sp>
        <p:nvSpPr>
          <p:cNvPr id="19" name="Text 17"/>
          <p:cNvSpPr/>
          <p:nvPr/>
        </p:nvSpPr>
        <p:spPr>
          <a:xfrm>
            <a:off x="3547872" y="2148840"/>
            <a:ext cx="2286000" cy="292608"/>
          </a:xfrm>
          <a:prstGeom prst="rect">
            <a:avLst/>
          </a:prstGeom>
          <a:noFill/>
          <a:ln/>
        </p:spPr>
        <p:txBody>
          <a:bodyPr wrap="square" rtlCol="0" anchor="ctr"/>
          <a:lstStyle/>
          <a:p>
            <a:pPr marL="0" indent="0" algn="ctr">
              <a:buNone/>
            </a:pPr>
            <a:r>
              <a:rPr lang="en-US" sz="950" b="1" dirty="0">
                <a:solidFill>
                  <a:srgbClr val="C084FC"/>
                </a:solidFill>
                <a:latin typeface="Segoe UI" pitchFamily="34" charset="0"/>
                <a:ea typeface="Segoe UI" pitchFamily="34" charset="-122"/>
                <a:cs typeface="Segoe UI" pitchFamily="34" charset="-120"/>
              </a:rPr>
              <a:t>Read-Only • Blueprint</a:t>
            </a:r>
            <a:endParaRPr lang="en-US" sz="950" dirty="0"/>
          </a:p>
        </p:txBody>
      </p:sp>
      <p:sp>
        <p:nvSpPr>
          <p:cNvPr id="20" name="Text 18"/>
          <p:cNvSpPr/>
          <p:nvPr/>
        </p:nvSpPr>
        <p:spPr>
          <a:xfrm>
            <a:off x="3547872" y="2606040"/>
            <a:ext cx="2286000" cy="1920240"/>
          </a:xfrm>
          <a:prstGeom prst="rect">
            <a:avLst/>
          </a:prstGeom>
          <a:noFill/>
          <a:ln/>
        </p:spPr>
        <p:txBody>
          <a:bodyPr wrap="square" rtlCol="0" anchor="t"/>
          <a:lstStyle/>
          <a:p>
            <a:pPr marL="0" indent="0">
              <a:buNone/>
            </a:pPr>
            <a:r>
              <a:rPr lang="en-US" sz="1100" dirty="0">
                <a:solidFill>
                  <a:srgbClr val="E2E8F0"/>
                </a:solidFill>
                <a:latin typeface="Segoe UI" pitchFamily="34" charset="0"/>
                <a:ea typeface="Segoe UI" pitchFamily="34" charset="-122"/>
                <a:cs typeface="Segoe UI" pitchFamily="34" charset="-120"/>
              </a:rPr>
              <a:t>Scans the codebase ONCE and produces a Technical Blueprint with exact file:line pointers so downstream agents never waste tokens searching.</a:t>
            </a:r>
            <a:endParaRPr lang="en-US" sz="1100" dirty="0"/>
          </a:p>
        </p:txBody>
      </p:sp>
      <p:sp>
        <p:nvSpPr>
          <p:cNvPr id="21" name="Shape 19"/>
          <p:cNvSpPr/>
          <p:nvPr/>
        </p:nvSpPr>
        <p:spPr>
          <a:xfrm>
            <a:off x="6181344" y="1554480"/>
            <a:ext cx="2651760" cy="3154680"/>
          </a:xfrm>
          <a:prstGeom prst="roundRect">
            <a:avLst>
              <a:gd name="adj" fmla="val 4138"/>
            </a:avLst>
          </a:prstGeom>
          <a:solidFill>
            <a:srgbClr val="130B24"/>
          </a:solidFill>
          <a:ln w="16510">
            <a:solidFill>
              <a:srgbClr val="A855F7"/>
            </a:solidFill>
            <a:prstDash val="solid"/>
          </a:ln>
        </p:spPr>
      </p:sp>
      <p:sp>
        <p:nvSpPr>
          <p:cNvPr id="22" name="Text 20"/>
          <p:cNvSpPr/>
          <p:nvPr/>
        </p:nvSpPr>
        <p:spPr>
          <a:xfrm>
            <a:off x="6364224" y="1737360"/>
            <a:ext cx="2286000" cy="347472"/>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3. BUILDER AGENT</a:t>
            </a:r>
            <a:endParaRPr lang="en-US" sz="1350" dirty="0"/>
          </a:p>
        </p:txBody>
      </p:sp>
      <p:sp>
        <p:nvSpPr>
          <p:cNvPr id="23" name="Shape 21"/>
          <p:cNvSpPr/>
          <p:nvPr/>
        </p:nvSpPr>
        <p:spPr>
          <a:xfrm>
            <a:off x="6364224" y="2148840"/>
            <a:ext cx="2286000" cy="292608"/>
          </a:xfrm>
          <a:prstGeom prst="roundRect">
            <a:avLst>
              <a:gd name="adj" fmla="val 25000"/>
            </a:avLst>
          </a:prstGeom>
          <a:solidFill>
            <a:srgbClr val="1C1036"/>
          </a:solidFill>
          <a:ln w="12700">
            <a:solidFill>
              <a:srgbClr val="4C1D95"/>
            </a:solidFill>
            <a:prstDash val="solid"/>
          </a:ln>
        </p:spPr>
      </p:sp>
      <p:sp>
        <p:nvSpPr>
          <p:cNvPr id="24" name="Text 22"/>
          <p:cNvSpPr/>
          <p:nvPr/>
        </p:nvSpPr>
        <p:spPr>
          <a:xfrm>
            <a:off x="6364224" y="2148840"/>
            <a:ext cx="2286000" cy="292608"/>
          </a:xfrm>
          <a:prstGeom prst="rect">
            <a:avLst/>
          </a:prstGeom>
          <a:noFill/>
          <a:ln/>
        </p:spPr>
        <p:txBody>
          <a:bodyPr wrap="square" rtlCol="0" anchor="ctr"/>
          <a:lstStyle/>
          <a:p>
            <a:pPr marL="0" indent="0" algn="ctr">
              <a:buNone/>
            </a:pPr>
            <a:r>
              <a:rPr lang="en-US" sz="950" b="1" dirty="0">
                <a:solidFill>
                  <a:srgbClr val="C084FC"/>
                </a:solidFill>
                <a:latin typeface="Segoe UI" pitchFamily="34" charset="0"/>
                <a:ea typeface="Segoe UI" pitchFamily="34" charset="-122"/>
                <a:cs typeface="Segoe UI" pitchFamily="34" charset="-120"/>
              </a:rPr>
              <a:t>Write-Enabled • Code</a:t>
            </a:r>
            <a:endParaRPr lang="en-US" sz="950" dirty="0"/>
          </a:p>
        </p:txBody>
      </p:sp>
      <p:sp>
        <p:nvSpPr>
          <p:cNvPr id="25" name="Text 23"/>
          <p:cNvSpPr/>
          <p:nvPr/>
        </p:nvSpPr>
        <p:spPr>
          <a:xfrm>
            <a:off x="6364224" y="2606040"/>
            <a:ext cx="2286000" cy="1920240"/>
          </a:xfrm>
          <a:prstGeom prst="rect">
            <a:avLst/>
          </a:prstGeom>
          <a:noFill/>
          <a:ln/>
        </p:spPr>
        <p:txBody>
          <a:bodyPr wrap="square" rtlCol="0" anchor="t"/>
          <a:lstStyle/>
          <a:p>
            <a:pPr marL="0" indent="0">
              <a:buNone/>
            </a:pPr>
            <a:r>
              <a:rPr lang="en-US" sz="1100" dirty="0">
                <a:solidFill>
                  <a:srgbClr val="E2E8F0"/>
                </a:solidFill>
                <a:latin typeface="Segoe UI" pitchFamily="34" charset="0"/>
                <a:ea typeface="Segoe UI" pitchFamily="34" charset="-122"/>
                <a:cs typeface="Segoe UI" pitchFamily="34" charset="-120"/>
              </a:rPr>
              <a:t>Single persistent builder instance (warm context) that implements ALL Work Packages (WP-1..WP-M) and verifies clean compilation before QA.</a:t>
            </a:r>
            <a:endParaRPr lang="en-US" sz="1100" dirty="0"/>
          </a:p>
        </p:txBody>
      </p:sp>
      <p:sp>
        <p:nvSpPr>
          <p:cNvPr id="26" name="Shape 24"/>
          <p:cNvSpPr/>
          <p:nvPr/>
        </p:nvSpPr>
        <p:spPr>
          <a:xfrm>
            <a:off x="8997696" y="1554480"/>
            <a:ext cx="2651760" cy="3154680"/>
          </a:xfrm>
          <a:prstGeom prst="roundRect">
            <a:avLst>
              <a:gd name="adj" fmla="val 4138"/>
            </a:avLst>
          </a:prstGeom>
          <a:solidFill>
            <a:srgbClr val="130B24"/>
          </a:solidFill>
          <a:ln w="16510">
            <a:solidFill>
              <a:srgbClr val="A855F7"/>
            </a:solidFill>
            <a:prstDash val="solid"/>
          </a:ln>
        </p:spPr>
      </p:sp>
      <p:sp>
        <p:nvSpPr>
          <p:cNvPr id="27" name="Text 25"/>
          <p:cNvSpPr/>
          <p:nvPr/>
        </p:nvSpPr>
        <p:spPr>
          <a:xfrm>
            <a:off x="9180576" y="1737360"/>
            <a:ext cx="2286000" cy="347472"/>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4. QA AGENT</a:t>
            </a:r>
            <a:endParaRPr lang="en-US" sz="1350" dirty="0"/>
          </a:p>
        </p:txBody>
      </p:sp>
      <p:sp>
        <p:nvSpPr>
          <p:cNvPr id="28" name="Shape 26"/>
          <p:cNvSpPr/>
          <p:nvPr/>
        </p:nvSpPr>
        <p:spPr>
          <a:xfrm>
            <a:off x="9180576" y="2148840"/>
            <a:ext cx="2286000" cy="292608"/>
          </a:xfrm>
          <a:prstGeom prst="roundRect">
            <a:avLst>
              <a:gd name="adj" fmla="val 25000"/>
            </a:avLst>
          </a:prstGeom>
          <a:solidFill>
            <a:srgbClr val="1C1036"/>
          </a:solidFill>
          <a:ln w="12700">
            <a:solidFill>
              <a:srgbClr val="4C1D95"/>
            </a:solidFill>
            <a:prstDash val="solid"/>
          </a:ln>
        </p:spPr>
      </p:sp>
      <p:sp>
        <p:nvSpPr>
          <p:cNvPr id="29" name="Text 27"/>
          <p:cNvSpPr/>
          <p:nvPr/>
        </p:nvSpPr>
        <p:spPr>
          <a:xfrm>
            <a:off x="9180576" y="2148840"/>
            <a:ext cx="2286000" cy="292608"/>
          </a:xfrm>
          <a:prstGeom prst="rect">
            <a:avLst/>
          </a:prstGeom>
          <a:noFill/>
          <a:ln/>
        </p:spPr>
        <p:txBody>
          <a:bodyPr wrap="square" rtlCol="0" anchor="ctr"/>
          <a:lstStyle/>
          <a:p>
            <a:pPr marL="0" indent="0" algn="ctr">
              <a:buNone/>
            </a:pPr>
            <a:r>
              <a:rPr lang="en-US" sz="950" b="1" dirty="0">
                <a:solidFill>
                  <a:srgbClr val="C084FC"/>
                </a:solidFill>
                <a:latin typeface="Segoe UI" pitchFamily="34" charset="0"/>
                <a:ea typeface="Segoe UI" pitchFamily="34" charset="-122"/>
                <a:cs typeface="Segoe UI" pitchFamily="34" charset="-120"/>
              </a:rPr>
              <a:t>Write-Enabled • Gate</a:t>
            </a:r>
            <a:endParaRPr lang="en-US" sz="950" dirty="0"/>
          </a:p>
        </p:txBody>
      </p:sp>
      <p:sp>
        <p:nvSpPr>
          <p:cNvPr id="30" name="Text 28"/>
          <p:cNvSpPr/>
          <p:nvPr/>
        </p:nvSpPr>
        <p:spPr>
          <a:xfrm>
            <a:off x="9180576" y="2606040"/>
            <a:ext cx="2286000" cy="1920240"/>
          </a:xfrm>
          <a:prstGeom prst="rect">
            <a:avLst/>
          </a:prstGeom>
          <a:noFill/>
          <a:ln/>
        </p:spPr>
        <p:txBody>
          <a:bodyPr wrap="square" rtlCol="0" anchor="t"/>
          <a:lstStyle/>
          <a:p>
            <a:pPr marL="0" indent="0">
              <a:buNone/>
            </a:pPr>
            <a:r>
              <a:rPr lang="en-US" sz="1100" dirty="0">
                <a:solidFill>
                  <a:srgbClr val="E2E8F0"/>
                </a:solidFill>
                <a:latin typeface="Segoe UI" pitchFamily="34" charset="0"/>
                <a:ea typeface="Segoe UI" pitchFamily="34" charset="-122"/>
                <a:cs typeface="Segoe UI" pitchFamily="34" charset="-120"/>
              </a:rPr>
              <a:t>Runs ONCE at the end. Writes focused tests mapped to AC-1..AC-6 and issues VERDICT: PASS or FAIL (max 2 fix loops with Builder).</a:t>
            </a:r>
            <a:endParaRPr lang="en-US" sz="1100" dirty="0"/>
          </a:p>
        </p:txBody>
      </p:sp>
      <p:sp>
        <p:nvSpPr>
          <p:cNvPr id="31" name="Shape 29"/>
          <p:cNvSpPr/>
          <p:nvPr/>
        </p:nvSpPr>
        <p:spPr>
          <a:xfrm>
            <a:off x="548640" y="4937760"/>
            <a:ext cx="11091672" cy="1234440"/>
          </a:xfrm>
          <a:prstGeom prst="roundRect">
            <a:avLst>
              <a:gd name="adj" fmla="val 7407"/>
            </a:avLst>
          </a:prstGeom>
          <a:solidFill>
            <a:srgbClr val="1C1036"/>
          </a:solidFill>
          <a:ln w="12700">
            <a:solidFill>
              <a:srgbClr val="8B5CF6"/>
            </a:solidFill>
            <a:prstDash val="solid"/>
          </a:ln>
        </p:spPr>
      </p:sp>
      <p:sp>
        <p:nvSpPr>
          <p:cNvPr id="32" name="Text 30"/>
          <p:cNvSpPr/>
          <p:nvPr/>
        </p:nvSpPr>
        <p:spPr>
          <a:xfrm>
            <a:off x="777240" y="5047488"/>
            <a:ext cx="10607040" cy="256032"/>
          </a:xfrm>
          <a:prstGeom prst="rect">
            <a:avLst/>
          </a:prstGeom>
          <a:noFill/>
          <a:ln/>
        </p:spPr>
        <p:txBody>
          <a:bodyPr wrap="square" rtlCol="0" anchor="ctr"/>
          <a:lstStyle/>
          <a:p>
            <a:pPr marL="0" indent="0">
              <a:buNone/>
            </a:pPr>
            <a:r>
              <a:rPr lang="en-US" sz="1000" b="1" kern="0" spc="150" dirty="0">
                <a:solidFill>
                  <a:srgbClr val="C084FC"/>
                </a:solidFill>
                <a:latin typeface="Segoe UI" pitchFamily="34" charset="0"/>
                <a:ea typeface="Segoe UI" pitchFamily="34" charset="-122"/>
                <a:cs typeface="Segoe UI" pitchFamily="34" charset="-120"/>
              </a:rPr>
              <a:t>THREE SWARM EXECUTION MODES</a:t>
            </a:r>
            <a:endParaRPr lang="en-US" sz="1000" dirty="0"/>
          </a:p>
        </p:txBody>
      </p:sp>
      <p:sp>
        <p:nvSpPr>
          <p:cNvPr id="33" name="Text 31"/>
          <p:cNvSpPr/>
          <p:nvPr/>
        </p:nvSpPr>
        <p:spPr>
          <a:xfrm>
            <a:off x="777240" y="5376672"/>
            <a:ext cx="10607040" cy="594360"/>
          </a:xfrm>
          <a:prstGeom prst="rect">
            <a:avLst/>
          </a:prstGeom>
          <a:noFill/>
          <a:ln/>
        </p:spPr>
        <p:txBody>
          <a:bodyPr wrap="square" rtlCol="0" anchor="ctr"/>
          <a:lstStyle/>
          <a:p>
            <a:pPr marL="0" indent="0">
              <a:buNone/>
            </a:pPr>
            <a:r>
              <a:rPr lang="en-US" sz="1150" b="1" dirty="0">
                <a:solidFill>
                  <a:srgbClr val="F8FAFC"/>
                </a:solidFill>
                <a:latin typeface="Segoe UI" pitchFamily="34" charset="0"/>
                <a:ea typeface="Segoe UI" pitchFamily="34" charset="-122"/>
                <a:cs typeface="Segoe UI" pitchFamily="34" charset="-120"/>
              </a:rPr>
              <a:t>Mode A (Interactive): </a:t>
            </a:r>
            <a:r>
              <a:rPr lang="en-US" sz="1150" dirty="0">
                <a:solidFill>
                  <a:srgbClr val="E2E8F0"/>
                </a:solidFill>
                <a:latin typeface="Segoe UI" pitchFamily="34" charset="0"/>
                <a:ea typeface="Segoe UI" pitchFamily="34" charset="-122"/>
                <a:cs typeface="Segoe UI" pitchFamily="34" charset="-120"/>
              </a:rPr>
              <a:t>PO interviews user → Sign-off → Auto build     |     </a:t>
            </a:r>
            <a:r>
              <a:rPr lang="en-US" sz="1150" b="1" dirty="0">
                <a:solidFill>
                  <a:srgbClr val="F8FAFC"/>
                </a:solidFill>
                <a:latin typeface="Segoe UI" pitchFamily="34" charset="0"/>
                <a:ea typeface="Segoe UI" pitchFamily="34" charset="-122"/>
                <a:cs typeface="Segoe UI" pitchFamily="34" charset="-120"/>
              </a:rPr>
              <a:t>Mode B (Most Auto): </a:t>
            </a:r>
            <a:r>
              <a:rPr lang="en-US" sz="1150" dirty="0">
                <a:solidFill>
                  <a:srgbClr val="E2E8F0"/>
                </a:solidFill>
                <a:latin typeface="Segoe UI" pitchFamily="34" charset="0"/>
                <a:ea typeface="Segoe UI" pitchFamily="34" charset="-122"/>
                <a:cs typeface="Segoe UI" pitchFamily="34" charset="-120"/>
              </a:rPr>
              <a:t>1-shot PO spec → 1 sign-off → Auto build     |     </a:t>
            </a:r>
            <a:r>
              <a:rPr lang="en-US" sz="1150" b="1" dirty="0">
                <a:solidFill>
                  <a:srgbClr val="F8FAFC"/>
                </a:solidFill>
                <a:latin typeface="Segoe UI" pitchFamily="34" charset="0"/>
                <a:ea typeface="Segoe UI" pitchFamily="34" charset="-122"/>
                <a:cs typeface="Segoe UI" pitchFamily="34" charset="-120"/>
              </a:rPr>
              <a:t>Mode C (Full Auto): </a:t>
            </a:r>
            <a:r>
              <a:rPr lang="en-US" sz="1150" dirty="0">
                <a:solidFill>
                  <a:srgbClr val="E2E8F0"/>
                </a:solidFill>
                <a:latin typeface="Segoe UI" pitchFamily="34" charset="0"/>
                <a:ea typeface="Segoe UI" pitchFamily="34" charset="-122"/>
                <a:cs typeface="Segoe UI" pitchFamily="34" charset="-120"/>
              </a:rPr>
              <a:t>Zero stops from PO to Final QA delivery.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514"/>
        </a:solidFill>
        <a:effectLst/>
      </p:bgPr>
    </p:bg>
    <p:spTree>
      <p:nvGrpSpPr>
        <p:cNvPr id="1" name="">
          <a:extLst>
            <a:ext uri="{FF2B5EF4-FFF2-40B4-BE49-F238E27FC236}">
              <a16:creationId xmlns:a16="http://schemas.microsoft.com/office/drawing/2014/main" id="{898A0726-7E61-CB9D-1EC9-0E0773DDDB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EDECD4-F3D9-71DE-6ADB-16E02B216ADF}"/>
              </a:ext>
            </a:extLst>
          </p:cNvPr>
          <p:cNvSpPr/>
          <p:nvPr/>
        </p:nvSpPr>
        <p:spPr>
          <a:xfrm>
            <a:off x="0" y="0"/>
            <a:ext cx="12192000" cy="73152"/>
          </a:xfrm>
          <a:prstGeom prst="rect">
            <a:avLst/>
          </a:prstGeom>
          <a:solidFill>
            <a:srgbClr val="8B5CF6"/>
          </a:solidFill>
          <a:ln w="12700">
            <a:solidFill>
              <a:srgbClr val="8B5CF6"/>
            </a:solidFill>
            <a:prstDash val="solid"/>
          </a:ln>
        </p:spPr>
      </p:sp>
      <p:sp>
        <p:nvSpPr>
          <p:cNvPr id="3" name="Shape 1">
            <a:extLst>
              <a:ext uri="{FF2B5EF4-FFF2-40B4-BE49-F238E27FC236}">
                <a16:creationId xmlns:a16="http://schemas.microsoft.com/office/drawing/2014/main" id="{0D3184A5-925C-394D-E209-0DC286022C70}"/>
              </a:ext>
            </a:extLst>
          </p:cNvPr>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a:extLst>
              <a:ext uri="{FF2B5EF4-FFF2-40B4-BE49-F238E27FC236}">
                <a16:creationId xmlns:a16="http://schemas.microsoft.com/office/drawing/2014/main" id="{2C4B0E56-4BFF-3B95-FF22-6D240CA31F7C}"/>
              </a:ext>
            </a:extLst>
          </p:cNvPr>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a:extLst>
              <a:ext uri="{FF2B5EF4-FFF2-40B4-BE49-F238E27FC236}">
                <a16:creationId xmlns:a16="http://schemas.microsoft.com/office/drawing/2014/main" id="{9A64E978-B690-C6F0-0F74-3E73128BC24C}"/>
              </a:ext>
            </a:extLst>
          </p:cNvPr>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a:extLst>
              <a:ext uri="{FF2B5EF4-FFF2-40B4-BE49-F238E27FC236}">
                <a16:creationId xmlns:a16="http://schemas.microsoft.com/office/drawing/2014/main" id="{F6D95F9C-63CD-01A0-E891-2FAB78345944}"/>
              </a:ext>
            </a:extLst>
          </p:cNvPr>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a:extLst>
              <a:ext uri="{FF2B5EF4-FFF2-40B4-BE49-F238E27FC236}">
                <a16:creationId xmlns:a16="http://schemas.microsoft.com/office/drawing/2014/main" id="{D614A2E7-3378-DE4D-4A8A-1EC9F97BA564}"/>
              </a:ext>
            </a:extLst>
          </p:cNvPr>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4 / 12</a:t>
            </a:r>
            <a:endParaRPr lang="en-US" sz="900" dirty="0"/>
          </a:p>
        </p:txBody>
      </p:sp>
      <p:sp>
        <p:nvSpPr>
          <p:cNvPr id="8" name="Text 6">
            <a:extLst>
              <a:ext uri="{FF2B5EF4-FFF2-40B4-BE49-F238E27FC236}">
                <a16:creationId xmlns:a16="http://schemas.microsoft.com/office/drawing/2014/main" id="{9247E4AC-58B9-B48B-D0F4-C9872FBB1C5F}"/>
              </a:ext>
            </a:extLst>
          </p:cNvPr>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 • THE APPLICATION WE BUILT</a:t>
            </a:r>
            <a:endParaRPr lang="en-US" sz="1000" dirty="0"/>
          </a:p>
        </p:txBody>
      </p:sp>
      <p:sp>
        <p:nvSpPr>
          <p:cNvPr id="9" name="Text 7">
            <a:extLst>
              <a:ext uri="{FF2B5EF4-FFF2-40B4-BE49-F238E27FC236}">
                <a16:creationId xmlns:a16="http://schemas.microsoft.com/office/drawing/2014/main" id="{1BFBB7A5-71E1-16C0-EE85-ECC1FD043CBC}"/>
              </a:ext>
            </a:extLst>
          </p:cNvPr>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Pause…</a:t>
            </a:r>
            <a:endParaRPr lang="en-US" sz="2500" dirty="0"/>
          </a:p>
        </p:txBody>
      </p:sp>
      <p:sp>
        <p:nvSpPr>
          <p:cNvPr id="11" name="Shape 9">
            <a:extLst>
              <a:ext uri="{FF2B5EF4-FFF2-40B4-BE49-F238E27FC236}">
                <a16:creationId xmlns:a16="http://schemas.microsoft.com/office/drawing/2014/main" id="{7564A86E-B386-179E-FBAB-B0630A160A2D}"/>
              </a:ext>
            </a:extLst>
          </p:cNvPr>
          <p:cNvSpPr/>
          <p:nvPr/>
        </p:nvSpPr>
        <p:spPr>
          <a:xfrm>
            <a:off x="704556" y="1508760"/>
            <a:ext cx="11094720" cy="4572000"/>
          </a:xfrm>
          <a:prstGeom prst="roundRect">
            <a:avLst>
              <a:gd name="adj" fmla="val 2000"/>
            </a:avLst>
          </a:prstGeom>
          <a:solidFill>
            <a:srgbClr val="06030D"/>
          </a:solidFill>
          <a:ln w="19050">
            <a:solidFill>
              <a:srgbClr val="4C1D95"/>
            </a:solidFill>
            <a:prstDash val="solid"/>
          </a:ln>
        </p:spPr>
      </p:sp>
      <p:sp>
        <p:nvSpPr>
          <p:cNvPr id="26" name="TextBox 25">
            <a:extLst>
              <a:ext uri="{FF2B5EF4-FFF2-40B4-BE49-F238E27FC236}">
                <a16:creationId xmlns:a16="http://schemas.microsoft.com/office/drawing/2014/main" id="{169AADF3-C7DC-96CA-E352-66355C7529EA}"/>
              </a:ext>
            </a:extLst>
          </p:cNvPr>
          <p:cNvSpPr txBox="1"/>
          <p:nvPr/>
        </p:nvSpPr>
        <p:spPr>
          <a:xfrm>
            <a:off x="838199" y="1901952"/>
            <a:ext cx="10961077" cy="923330"/>
          </a:xfrm>
          <a:prstGeom prst="rect">
            <a:avLst/>
          </a:prstGeom>
          <a:noFill/>
        </p:spPr>
        <p:txBody>
          <a:bodyPr wrap="square" rtlCol="0">
            <a:spAutoFit/>
          </a:bodyPr>
          <a:lstStyle/>
          <a:p>
            <a:r>
              <a:rPr lang="en-US" sz="5400" dirty="0">
                <a:solidFill>
                  <a:schemeClr val="bg1"/>
                </a:solidFill>
              </a:rPr>
              <a:t>Chris will now complain about swarms</a:t>
            </a:r>
          </a:p>
        </p:txBody>
      </p:sp>
    </p:spTree>
    <p:extLst>
      <p:ext uri="{BB962C8B-B14F-4D97-AF65-F5344CB8AC3E}">
        <p14:creationId xmlns:p14="http://schemas.microsoft.com/office/powerpoint/2010/main" val="667529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6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 • SWARM GUARDRAILS</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How We Stopped the Swarm from Burning Tokens &amp; Looping Forever</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Six hard engineering rules we baked into SKILL.md after watching early agent swarms go off the rails.</a:t>
            </a:r>
            <a:endParaRPr lang="en-US" sz="1250" dirty="0"/>
          </a:p>
        </p:txBody>
      </p:sp>
      <p:sp>
        <p:nvSpPr>
          <p:cNvPr id="11" name="Shape 9"/>
          <p:cNvSpPr/>
          <p:nvPr/>
        </p:nvSpPr>
        <p:spPr>
          <a:xfrm>
            <a:off x="548640" y="1508760"/>
            <a:ext cx="5440680" cy="1389888"/>
          </a:xfrm>
          <a:prstGeom prst="roundRect">
            <a:avLst>
              <a:gd name="adj" fmla="val 6579"/>
            </a:avLst>
          </a:prstGeom>
          <a:solidFill>
            <a:srgbClr val="130B24"/>
          </a:solidFill>
          <a:ln w="12700">
            <a:solidFill>
              <a:srgbClr val="8B5CF6"/>
            </a:solidFill>
            <a:prstDash val="solid"/>
          </a:ln>
        </p:spPr>
      </p:sp>
      <p:sp>
        <p:nvSpPr>
          <p:cNvPr id="12" name="Text 10"/>
          <p:cNvSpPr/>
          <p:nvPr/>
        </p:nvSpPr>
        <p:spPr>
          <a:xfrm>
            <a:off x="777240" y="1673352"/>
            <a:ext cx="4983480" cy="320040"/>
          </a:xfrm>
          <a:prstGeom prst="rect">
            <a:avLst/>
          </a:prstGeom>
          <a:noFill/>
          <a:ln/>
        </p:spPr>
        <p:txBody>
          <a:bodyPr wrap="square" rtlCol="0" anchor="ctr"/>
          <a:lstStyle/>
          <a:p>
            <a:pPr marL="0" indent="0">
              <a:buNone/>
            </a:pPr>
            <a:r>
              <a:rPr lang="en-US" sz="1350" b="1" dirty="0">
                <a:solidFill>
                  <a:srgbClr val="C084FC"/>
                </a:solidFill>
                <a:latin typeface="Segoe UI" pitchFamily="34" charset="0"/>
                <a:ea typeface="Segoe UI" pitchFamily="34" charset="-122"/>
                <a:cs typeface="Segoe UI" pitchFamily="34" charset="-120"/>
              </a:rPr>
              <a:t>1. Explore Once, Pass Exact file:line Pointers</a:t>
            </a:r>
            <a:endParaRPr lang="en-US" sz="1350" dirty="0"/>
          </a:p>
        </p:txBody>
      </p:sp>
      <p:sp>
        <p:nvSpPr>
          <p:cNvPr id="13" name="Text 11"/>
          <p:cNvSpPr/>
          <p:nvPr/>
        </p:nvSpPr>
        <p:spPr>
          <a:xfrm>
            <a:off x="777240" y="2020824"/>
            <a:ext cx="4983480" cy="7772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Architect scans the repo once. Builder &amp; QA are forbidden from broad repo searches—they only touch the exact files &amp; lines in the blueprint.</a:t>
            </a:r>
            <a:endParaRPr lang="en-US" sz="1100" dirty="0"/>
          </a:p>
        </p:txBody>
      </p:sp>
      <p:sp>
        <p:nvSpPr>
          <p:cNvPr id="14" name="Shape 12"/>
          <p:cNvSpPr/>
          <p:nvPr/>
        </p:nvSpPr>
        <p:spPr>
          <a:xfrm>
            <a:off x="6172200" y="1508760"/>
            <a:ext cx="5440680" cy="1389888"/>
          </a:xfrm>
          <a:prstGeom prst="roundRect">
            <a:avLst>
              <a:gd name="adj" fmla="val 6579"/>
            </a:avLst>
          </a:prstGeom>
          <a:solidFill>
            <a:srgbClr val="130B24"/>
          </a:solidFill>
          <a:ln w="12700">
            <a:solidFill>
              <a:srgbClr val="8B5CF6"/>
            </a:solidFill>
            <a:prstDash val="solid"/>
          </a:ln>
        </p:spPr>
      </p:sp>
      <p:sp>
        <p:nvSpPr>
          <p:cNvPr id="15" name="Text 13"/>
          <p:cNvSpPr/>
          <p:nvPr/>
        </p:nvSpPr>
        <p:spPr>
          <a:xfrm>
            <a:off x="6400800" y="1673352"/>
            <a:ext cx="4983480" cy="320040"/>
          </a:xfrm>
          <a:prstGeom prst="rect">
            <a:avLst/>
          </a:prstGeom>
          <a:noFill/>
          <a:ln/>
        </p:spPr>
        <p:txBody>
          <a:bodyPr wrap="square" rtlCol="0" anchor="ctr"/>
          <a:lstStyle/>
          <a:p>
            <a:pPr marL="0" indent="0">
              <a:buNone/>
            </a:pPr>
            <a:r>
              <a:rPr lang="en-US" sz="1350" b="1" dirty="0">
                <a:solidFill>
                  <a:srgbClr val="C084FC"/>
                </a:solidFill>
                <a:latin typeface="Segoe UI" pitchFamily="34" charset="0"/>
                <a:ea typeface="Segoe UI" pitchFamily="34" charset="-122"/>
                <a:cs typeface="Segoe UI" pitchFamily="34" charset="-120"/>
              </a:rPr>
              <a:t>2. Single Persistent Builder Instance</a:t>
            </a:r>
            <a:endParaRPr lang="en-US" sz="1350" dirty="0"/>
          </a:p>
        </p:txBody>
      </p:sp>
      <p:sp>
        <p:nvSpPr>
          <p:cNvPr id="16" name="Text 14"/>
          <p:cNvSpPr/>
          <p:nvPr/>
        </p:nvSpPr>
        <p:spPr>
          <a:xfrm>
            <a:off x="6400800" y="2020824"/>
            <a:ext cx="4983480" cy="7772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Never spawn parallel builders that overwrite each other. Keep 1 builder-agent alive via send_message so its context stays warm.</a:t>
            </a:r>
            <a:endParaRPr lang="en-US" sz="1100" dirty="0"/>
          </a:p>
        </p:txBody>
      </p:sp>
      <p:sp>
        <p:nvSpPr>
          <p:cNvPr id="17" name="Shape 15"/>
          <p:cNvSpPr/>
          <p:nvPr/>
        </p:nvSpPr>
        <p:spPr>
          <a:xfrm>
            <a:off x="548640" y="3081528"/>
            <a:ext cx="5440680" cy="1389888"/>
          </a:xfrm>
          <a:prstGeom prst="roundRect">
            <a:avLst>
              <a:gd name="adj" fmla="val 6579"/>
            </a:avLst>
          </a:prstGeom>
          <a:solidFill>
            <a:srgbClr val="130B24"/>
          </a:solidFill>
          <a:ln w="12700">
            <a:solidFill>
              <a:srgbClr val="8B5CF6"/>
            </a:solidFill>
            <a:prstDash val="solid"/>
          </a:ln>
        </p:spPr>
      </p:sp>
      <p:sp>
        <p:nvSpPr>
          <p:cNvPr id="18" name="Text 16"/>
          <p:cNvSpPr/>
          <p:nvPr/>
        </p:nvSpPr>
        <p:spPr>
          <a:xfrm>
            <a:off x="777240" y="3246120"/>
            <a:ext cx="4983480" cy="320040"/>
          </a:xfrm>
          <a:prstGeom prst="rect">
            <a:avLst/>
          </a:prstGeom>
          <a:noFill/>
          <a:ln/>
        </p:spPr>
        <p:txBody>
          <a:bodyPr wrap="square" rtlCol="0" anchor="ctr"/>
          <a:lstStyle/>
          <a:p>
            <a:pPr marL="0" indent="0">
              <a:buNone/>
            </a:pPr>
            <a:r>
              <a:rPr lang="en-US" sz="1350" b="1" dirty="0">
                <a:solidFill>
                  <a:srgbClr val="C084FC"/>
                </a:solidFill>
                <a:latin typeface="Segoe UI" pitchFamily="34" charset="0"/>
                <a:ea typeface="Segoe UI" pitchFamily="34" charset="-122"/>
                <a:cs typeface="Segoe UI" pitchFamily="34" charset="-120"/>
              </a:rPr>
              <a:t>3. No QA Until 100% of Dev Work Is Done</a:t>
            </a:r>
            <a:endParaRPr lang="en-US" sz="1350" dirty="0"/>
          </a:p>
        </p:txBody>
      </p:sp>
      <p:sp>
        <p:nvSpPr>
          <p:cNvPr id="19" name="Text 17"/>
          <p:cNvSpPr/>
          <p:nvPr/>
        </p:nvSpPr>
        <p:spPr>
          <a:xfrm>
            <a:off x="777240" y="3593592"/>
            <a:ext cx="4983480" cy="7772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Running QA after partial work packages wastes half your tokens. Builder must finish all WPs and compile cleanly before QA wakes up.</a:t>
            </a:r>
            <a:endParaRPr lang="en-US" sz="1100" dirty="0"/>
          </a:p>
        </p:txBody>
      </p:sp>
      <p:sp>
        <p:nvSpPr>
          <p:cNvPr id="20" name="Shape 18"/>
          <p:cNvSpPr/>
          <p:nvPr/>
        </p:nvSpPr>
        <p:spPr>
          <a:xfrm>
            <a:off x="6172200" y="3081528"/>
            <a:ext cx="5440680" cy="1389888"/>
          </a:xfrm>
          <a:prstGeom prst="roundRect">
            <a:avLst>
              <a:gd name="adj" fmla="val 6579"/>
            </a:avLst>
          </a:prstGeom>
          <a:solidFill>
            <a:srgbClr val="130B24"/>
          </a:solidFill>
          <a:ln w="12700">
            <a:solidFill>
              <a:srgbClr val="8B5CF6"/>
            </a:solidFill>
            <a:prstDash val="solid"/>
          </a:ln>
        </p:spPr>
      </p:sp>
      <p:sp>
        <p:nvSpPr>
          <p:cNvPr id="21" name="Text 19"/>
          <p:cNvSpPr/>
          <p:nvPr/>
        </p:nvSpPr>
        <p:spPr>
          <a:xfrm>
            <a:off x="6400800" y="3246120"/>
            <a:ext cx="4983480" cy="320040"/>
          </a:xfrm>
          <a:prstGeom prst="rect">
            <a:avLst/>
          </a:prstGeom>
          <a:noFill/>
          <a:ln/>
        </p:spPr>
        <p:txBody>
          <a:bodyPr wrap="square" rtlCol="0" anchor="ctr"/>
          <a:lstStyle/>
          <a:p>
            <a:pPr marL="0" indent="0">
              <a:buNone/>
            </a:pPr>
            <a:r>
              <a:rPr lang="en-US" sz="1350" b="1" dirty="0">
                <a:solidFill>
                  <a:srgbClr val="C084FC"/>
                </a:solidFill>
                <a:latin typeface="Segoe UI" pitchFamily="34" charset="0"/>
                <a:ea typeface="Segoe UI" pitchFamily="34" charset="-122"/>
                <a:cs typeface="Segoe UI" pitchFamily="34" charset="-120"/>
              </a:rPr>
              <a:t>4. Compact Handoffs (Max 350 Words)</a:t>
            </a:r>
            <a:endParaRPr lang="en-US" sz="1350" dirty="0"/>
          </a:p>
        </p:txBody>
      </p:sp>
      <p:sp>
        <p:nvSpPr>
          <p:cNvPr id="22" name="Text 20"/>
          <p:cNvSpPr/>
          <p:nvPr/>
        </p:nvSpPr>
        <p:spPr>
          <a:xfrm>
            <a:off x="6400800" y="3593592"/>
            <a:ext cx="4983480" cy="7772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Pass concise bullet points and file:line references between agents—never paste entire source files or chat transcripts into prompts.</a:t>
            </a:r>
            <a:endParaRPr lang="en-US" sz="1100" dirty="0"/>
          </a:p>
        </p:txBody>
      </p:sp>
      <p:sp>
        <p:nvSpPr>
          <p:cNvPr id="23" name="Shape 21"/>
          <p:cNvSpPr/>
          <p:nvPr/>
        </p:nvSpPr>
        <p:spPr>
          <a:xfrm>
            <a:off x="548640" y="4654296"/>
            <a:ext cx="5440680" cy="1389888"/>
          </a:xfrm>
          <a:prstGeom prst="roundRect">
            <a:avLst>
              <a:gd name="adj" fmla="val 6579"/>
            </a:avLst>
          </a:prstGeom>
          <a:solidFill>
            <a:srgbClr val="130B24"/>
          </a:solidFill>
          <a:ln w="12700">
            <a:solidFill>
              <a:srgbClr val="8B5CF6"/>
            </a:solidFill>
            <a:prstDash val="solid"/>
          </a:ln>
        </p:spPr>
      </p:sp>
      <p:sp>
        <p:nvSpPr>
          <p:cNvPr id="24" name="Text 22"/>
          <p:cNvSpPr/>
          <p:nvPr/>
        </p:nvSpPr>
        <p:spPr>
          <a:xfrm>
            <a:off x="777240" y="4818888"/>
            <a:ext cx="4983480" cy="320040"/>
          </a:xfrm>
          <a:prstGeom prst="rect">
            <a:avLst/>
          </a:prstGeom>
          <a:noFill/>
          <a:ln/>
        </p:spPr>
        <p:txBody>
          <a:bodyPr wrap="square" rtlCol="0" anchor="ctr"/>
          <a:lstStyle/>
          <a:p>
            <a:pPr marL="0" indent="0">
              <a:buNone/>
            </a:pPr>
            <a:r>
              <a:rPr lang="en-US" sz="1350" b="1" dirty="0">
                <a:solidFill>
                  <a:srgbClr val="C084FC"/>
                </a:solidFill>
                <a:latin typeface="Segoe UI" pitchFamily="34" charset="0"/>
                <a:ea typeface="Segoe UI" pitchFamily="34" charset="-122"/>
                <a:cs typeface="Segoe UI" pitchFamily="34" charset="-120"/>
              </a:rPr>
              <a:t>5. Blocker-Only QA Gate (P0/P1 Only)</a:t>
            </a:r>
            <a:endParaRPr lang="en-US" sz="1350" dirty="0"/>
          </a:p>
        </p:txBody>
      </p:sp>
      <p:sp>
        <p:nvSpPr>
          <p:cNvPr id="25" name="Text 23"/>
          <p:cNvSpPr/>
          <p:nvPr/>
        </p:nvSpPr>
        <p:spPr>
          <a:xfrm>
            <a:off x="777240" y="5166360"/>
            <a:ext cx="4983480" cy="7772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QA can only FAIL a build for broken compilation, failing tests, or an unmet Acceptance Criterion—never for code style nitpicks.</a:t>
            </a:r>
            <a:endParaRPr lang="en-US" sz="1100" dirty="0"/>
          </a:p>
        </p:txBody>
      </p:sp>
      <p:sp>
        <p:nvSpPr>
          <p:cNvPr id="26" name="Shape 24"/>
          <p:cNvSpPr/>
          <p:nvPr/>
        </p:nvSpPr>
        <p:spPr>
          <a:xfrm>
            <a:off x="6172200" y="4654296"/>
            <a:ext cx="5440680" cy="1389888"/>
          </a:xfrm>
          <a:prstGeom prst="roundRect">
            <a:avLst>
              <a:gd name="adj" fmla="val 6579"/>
            </a:avLst>
          </a:prstGeom>
          <a:solidFill>
            <a:srgbClr val="130B24"/>
          </a:solidFill>
          <a:ln w="12700">
            <a:solidFill>
              <a:srgbClr val="8B5CF6"/>
            </a:solidFill>
            <a:prstDash val="solid"/>
          </a:ln>
        </p:spPr>
      </p:sp>
      <p:sp>
        <p:nvSpPr>
          <p:cNvPr id="27" name="Text 25"/>
          <p:cNvSpPr/>
          <p:nvPr/>
        </p:nvSpPr>
        <p:spPr>
          <a:xfrm>
            <a:off x="6400800" y="4818888"/>
            <a:ext cx="4983480" cy="320040"/>
          </a:xfrm>
          <a:prstGeom prst="rect">
            <a:avLst/>
          </a:prstGeom>
          <a:noFill/>
          <a:ln/>
        </p:spPr>
        <p:txBody>
          <a:bodyPr wrap="square" rtlCol="0" anchor="ctr"/>
          <a:lstStyle/>
          <a:p>
            <a:pPr marL="0" indent="0">
              <a:buNone/>
            </a:pPr>
            <a:r>
              <a:rPr lang="en-US" sz="1350" b="1" dirty="0">
                <a:solidFill>
                  <a:srgbClr val="C084FC"/>
                </a:solidFill>
                <a:latin typeface="Segoe UI" pitchFamily="34" charset="0"/>
                <a:ea typeface="Segoe UI" pitchFamily="34" charset="-122"/>
                <a:cs typeface="Segoe UI" pitchFamily="34" charset="-120"/>
              </a:rPr>
              <a:t>6. No Moving Goalposts (Max 2 Fix Loops)</a:t>
            </a:r>
            <a:endParaRPr lang="en-US" sz="1350" dirty="0"/>
          </a:p>
        </p:txBody>
      </p:sp>
      <p:sp>
        <p:nvSpPr>
          <p:cNvPr id="28" name="Text 26"/>
          <p:cNvSpPr/>
          <p:nvPr/>
        </p:nvSpPr>
        <p:spPr>
          <a:xfrm>
            <a:off x="6400800" y="5166360"/>
            <a:ext cx="4983480" cy="7772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On re-review, QA may only verify the specific BUG-X items from Iteration 1 and is forbidden from inventing brand-new objections.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7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III • ENTERPRISE AI INFRASTRUCTURE</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Why We Moved to Google Cloud Vertex AI for Pre-Deployment</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What Vertex AI + Cloud Run gives you that a basic AI Studio key cannot.</a:t>
            </a:r>
            <a:endParaRPr lang="en-US" sz="1250" dirty="0"/>
          </a:p>
        </p:txBody>
      </p:sp>
      <p:sp>
        <p:nvSpPr>
          <p:cNvPr id="11" name="Shape 9"/>
          <p:cNvSpPr/>
          <p:nvPr/>
        </p:nvSpPr>
        <p:spPr>
          <a:xfrm>
            <a:off x="548640" y="1508760"/>
            <a:ext cx="5760720" cy="1005840"/>
          </a:xfrm>
          <a:prstGeom prst="roundRect">
            <a:avLst>
              <a:gd name="adj" fmla="val 7273"/>
            </a:avLst>
          </a:prstGeom>
          <a:solidFill>
            <a:srgbClr val="130B24"/>
          </a:solidFill>
          <a:ln w="12700">
            <a:solidFill>
              <a:srgbClr val="8B5CF6"/>
            </a:solidFill>
            <a:prstDash val="solid"/>
          </a:ln>
        </p:spPr>
      </p:sp>
      <p:sp>
        <p:nvSpPr>
          <p:cNvPr id="12" name="Text 10"/>
          <p:cNvSpPr/>
          <p:nvPr/>
        </p:nvSpPr>
        <p:spPr>
          <a:xfrm>
            <a:off x="777240" y="1618488"/>
            <a:ext cx="5303520" cy="292608"/>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Keyless IAM Authentication</a:t>
            </a:r>
            <a:endParaRPr lang="en-US" sz="1350" dirty="0"/>
          </a:p>
        </p:txBody>
      </p:sp>
      <p:sp>
        <p:nvSpPr>
          <p:cNvPr id="13" name="Text 11"/>
          <p:cNvSpPr/>
          <p:nvPr/>
        </p:nvSpPr>
        <p:spPr>
          <a:xfrm>
            <a:off x="777240" y="1920240"/>
            <a:ext cx="5303520" cy="502920"/>
          </a:xfrm>
          <a:prstGeom prst="rect">
            <a:avLst/>
          </a:prstGeom>
          <a:noFill/>
          <a:ln/>
        </p:spPr>
        <p:txBody>
          <a:bodyPr wrap="square" rtlCol="0" anchor="ctr"/>
          <a:lstStyle/>
          <a:p>
            <a:pPr marL="0" indent="0">
              <a:buNone/>
            </a:pPr>
            <a:r>
              <a:rPr lang="en-US" sz="1080" dirty="0">
                <a:solidFill>
                  <a:srgbClr val="94A3B8"/>
                </a:solidFill>
                <a:latin typeface="Segoe UI" pitchFamily="34" charset="0"/>
                <a:ea typeface="Segoe UI" pitchFamily="34" charset="-122"/>
                <a:cs typeface="Segoe UI" pitchFamily="34" charset="-120"/>
              </a:rPr>
              <a:t>No leaked API keys in production. Local dev uses Application Default Credentials (ADC), and Cloud Run uses its built-in Service Account identity automatically.</a:t>
            </a:r>
            <a:endParaRPr lang="en-US" sz="1080" dirty="0"/>
          </a:p>
        </p:txBody>
      </p:sp>
      <p:sp>
        <p:nvSpPr>
          <p:cNvPr id="14" name="Shape 12"/>
          <p:cNvSpPr/>
          <p:nvPr/>
        </p:nvSpPr>
        <p:spPr>
          <a:xfrm>
            <a:off x="548640" y="2651760"/>
            <a:ext cx="5760720" cy="1005840"/>
          </a:xfrm>
          <a:prstGeom prst="roundRect">
            <a:avLst>
              <a:gd name="adj" fmla="val 7273"/>
            </a:avLst>
          </a:prstGeom>
          <a:solidFill>
            <a:srgbClr val="130B24"/>
          </a:solidFill>
          <a:ln w="12700">
            <a:solidFill>
              <a:srgbClr val="8B5CF6"/>
            </a:solidFill>
            <a:prstDash val="solid"/>
          </a:ln>
        </p:spPr>
      </p:sp>
      <p:sp>
        <p:nvSpPr>
          <p:cNvPr id="15" name="Text 13"/>
          <p:cNvSpPr/>
          <p:nvPr/>
        </p:nvSpPr>
        <p:spPr>
          <a:xfrm>
            <a:off x="777240" y="2761488"/>
            <a:ext cx="5303520" cy="292608"/>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Unified GCP Billing &amp; Credits</a:t>
            </a:r>
            <a:endParaRPr lang="en-US" sz="1350" dirty="0"/>
          </a:p>
        </p:txBody>
      </p:sp>
      <p:sp>
        <p:nvSpPr>
          <p:cNvPr id="16" name="Text 14"/>
          <p:cNvSpPr/>
          <p:nvPr/>
        </p:nvSpPr>
        <p:spPr>
          <a:xfrm>
            <a:off x="777240" y="3063240"/>
            <a:ext cx="5303520" cy="502920"/>
          </a:xfrm>
          <a:prstGeom prst="rect">
            <a:avLst/>
          </a:prstGeom>
          <a:noFill/>
          <a:ln/>
        </p:spPr>
        <p:txBody>
          <a:bodyPr wrap="square" rtlCol="0" anchor="ctr"/>
          <a:lstStyle/>
          <a:p>
            <a:pPr marL="0" indent="0">
              <a:buNone/>
            </a:pPr>
            <a:r>
              <a:rPr lang="en-US" sz="1080" dirty="0">
                <a:solidFill>
                  <a:srgbClr val="94A3B8"/>
                </a:solidFill>
                <a:latin typeface="Segoe UI" pitchFamily="34" charset="0"/>
                <a:ea typeface="Segoe UI" pitchFamily="34" charset="-122"/>
                <a:cs typeface="Segoe UI" pitchFamily="34" charset="-120"/>
              </a:rPr>
              <a:t>One Google Cloud billing account covers Vertex AI model calls, Cloud Build, and serverless Cloud Run hosting (scales to $0 when idle).</a:t>
            </a:r>
            <a:endParaRPr lang="en-US" sz="1080" dirty="0"/>
          </a:p>
        </p:txBody>
      </p:sp>
      <p:sp>
        <p:nvSpPr>
          <p:cNvPr id="17" name="Shape 15"/>
          <p:cNvSpPr/>
          <p:nvPr/>
        </p:nvSpPr>
        <p:spPr>
          <a:xfrm>
            <a:off x="548640" y="3794760"/>
            <a:ext cx="5760720" cy="1005840"/>
          </a:xfrm>
          <a:prstGeom prst="roundRect">
            <a:avLst>
              <a:gd name="adj" fmla="val 7273"/>
            </a:avLst>
          </a:prstGeom>
          <a:solidFill>
            <a:srgbClr val="130B24"/>
          </a:solidFill>
          <a:ln w="12700">
            <a:solidFill>
              <a:srgbClr val="8B5CF6"/>
            </a:solidFill>
            <a:prstDash val="solid"/>
          </a:ln>
        </p:spPr>
      </p:sp>
      <p:sp>
        <p:nvSpPr>
          <p:cNvPr id="18" name="Text 16"/>
          <p:cNvSpPr/>
          <p:nvPr/>
        </p:nvSpPr>
        <p:spPr>
          <a:xfrm>
            <a:off x="777240" y="3904488"/>
            <a:ext cx="5303520" cy="292608"/>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Zero Data Training Guarantee</a:t>
            </a:r>
            <a:endParaRPr lang="en-US" sz="1350" dirty="0"/>
          </a:p>
        </p:txBody>
      </p:sp>
      <p:sp>
        <p:nvSpPr>
          <p:cNvPr id="19" name="Text 17"/>
          <p:cNvSpPr/>
          <p:nvPr/>
        </p:nvSpPr>
        <p:spPr>
          <a:xfrm>
            <a:off x="777240" y="4206240"/>
            <a:ext cx="5303520" cy="502920"/>
          </a:xfrm>
          <a:prstGeom prst="rect">
            <a:avLst/>
          </a:prstGeom>
          <a:noFill/>
          <a:ln/>
        </p:spPr>
        <p:txBody>
          <a:bodyPr wrap="square" rtlCol="0" anchor="ctr"/>
          <a:lstStyle/>
          <a:p>
            <a:pPr marL="0" indent="0">
              <a:buNone/>
            </a:pPr>
            <a:r>
              <a:rPr lang="en-US" sz="1080" dirty="0">
                <a:solidFill>
                  <a:srgbClr val="94A3B8"/>
                </a:solidFill>
                <a:latin typeface="Segoe UI" pitchFamily="34" charset="0"/>
                <a:ea typeface="Segoe UI" pitchFamily="34" charset="-122"/>
                <a:cs typeface="Segoe UI" pitchFamily="34" charset="-120"/>
              </a:rPr>
              <a:t>Your proprietary source code (sent during AI Code Review) and customer CRM leads are contractually never used to train Google models.</a:t>
            </a:r>
            <a:endParaRPr lang="en-US" sz="1080" dirty="0"/>
          </a:p>
        </p:txBody>
      </p:sp>
      <p:sp>
        <p:nvSpPr>
          <p:cNvPr id="20" name="Shape 18"/>
          <p:cNvSpPr/>
          <p:nvPr/>
        </p:nvSpPr>
        <p:spPr>
          <a:xfrm>
            <a:off x="548640" y="4937760"/>
            <a:ext cx="5760720" cy="1005840"/>
          </a:xfrm>
          <a:prstGeom prst="roundRect">
            <a:avLst>
              <a:gd name="adj" fmla="val 7273"/>
            </a:avLst>
          </a:prstGeom>
          <a:solidFill>
            <a:srgbClr val="130B24"/>
          </a:solidFill>
          <a:ln w="12700">
            <a:solidFill>
              <a:srgbClr val="8B5CF6"/>
            </a:solidFill>
            <a:prstDash val="solid"/>
          </a:ln>
        </p:spPr>
      </p:sp>
      <p:sp>
        <p:nvSpPr>
          <p:cNvPr id="21" name="Text 19"/>
          <p:cNvSpPr/>
          <p:nvPr/>
        </p:nvSpPr>
        <p:spPr>
          <a:xfrm>
            <a:off x="777240" y="5047488"/>
            <a:ext cx="5303520" cy="292608"/>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1-Line SDK Switch (@google/genai)</a:t>
            </a:r>
            <a:endParaRPr lang="en-US" sz="1350" dirty="0"/>
          </a:p>
        </p:txBody>
      </p:sp>
      <p:sp>
        <p:nvSpPr>
          <p:cNvPr id="22" name="Text 20"/>
          <p:cNvSpPr/>
          <p:nvPr/>
        </p:nvSpPr>
        <p:spPr>
          <a:xfrm>
            <a:off x="777240" y="5349240"/>
            <a:ext cx="5303520" cy="502920"/>
          </a:xfrm>
          <a:prstGeom prst="rect">
            <a:avLst/>
          </a:prstGeom>
          <a:noFill/>
          <a:ln/>
        </p:spPr>
        <p:txBody>
          <a:bodyPr wrap="square" rtlCol="0" anchor="ctr"/>
          <a:lstStyle/>
          <a:p>
            <a:pPr marL="0" indent="0">
              <a:buNone/>
            </a:pPr>
            <a:r>
              <a:rPr lang="en-US" sz="1080" dirty="0">
                <a:solidFill>
                  <a:srgbClr val="94A3B8"/>
                </a:solidFill>
                <a:latin typeface="Segoe UI" pitchFamily="34" charset="0"/>
                <a:ea typeface="Segoe UI" pitchFamily="34" charset="-122"/>
                <a:cs typeface="Segoe UI" pitchFamily="34" charset="-120"/>
              </a:rPr>
              <a:t>The exact same GoogleGenAI SDK switches from AI Studio to Vertex AI by passing { vertexai: true, project, location }.</a:t>
            </a:r>
            <a:endParaRPr lang="en-US" sz="1080" dirty="0"/>
          </a:p>
        </p:txBody>
      </p:sp>
      <p:sp>
        <p:nvSpPr>
          <p:cNvPr id="23" name="Shape 21"/>
          <p:cNvSpPr/>
          <p:nvPr/>
        </p:nvSpPr>
        <p:spPr>
          <a:xfrm>
            <a:off x="6583680" y="1508760"/>
            <a:ext cx="5029200" cy="4434840"/>
          </a:xfrm>
          <a:prstGeom prst="roundRect">
            <a:avLst>
              <a:gd name="adj" fmla="val 2062"/>
            </a:avLst>
          </a:prstGeom>
          <a:solidFill>
            <a:srgbClr val="06030D"/>
          </a:solidFill>
          <a:ln w="17780">
            <a:solidFill>
              <a:srgbClr val="A855F7"/>
            </a:solidFill>
            <a:prstDash val="solid"/>
          </a:ln>
        </p:spPr>
      </p:sp>
      <p:sp>
        <p:nvSpPr>
          <p:cNvPr id="24" name="Text 22"/>
          <p:cNvSpPr/>
          <p:nvPr/>
        </p:nvSpPr>
        <p:spPr>
          <a:xfrm>
            <a:off x="6812280" y="1691640"/>
            <a:ext cx="4572000" cy="320040"/>
          </a:xfrm>
          <a:prstGeom prst="rect">
            <a:avLst/>
          </a:prstGeom>
          <a:noFill/>
          <a:ln/>
        </p:spPr>
        <p:txBody>
          <a:bodyPr wrap="square" rtlCol="0" anchor="ctr"/>
          <a:lstStyle/>
          <a:p>
            <a:pPr marL="0" indent="0">
              <a:buNone/>
            </a:pPr>
            <a:r>
              <a:rPr lang="en-US" sz="1150" b="1" dirty="0">
                <a:solidFill>
                  <a:srgbClr val="C084FC"/>
                </a:solidFill>
                <a:latin typeface="Consolas" pitchFamily="34" charset="0"/>
                <a:ea typeface="Consolas" pitchFamily="34" charset="-122"/>
                <a:cs typeface="Consolas" pitchFamily="34" charset="-120"/>
              </a:rPr>
              <a:t>scripts/vertex-client.ts</a:t>
            </a:r>
            <a:endParaRPr lang="en-US" sz="1150" dirty="0"/>
          </a:p>
        </p:txBody>
      </p:sp>
      <p:sp>
        <p:nvSpPr>
          <p:cNvPr id="25" name="Text 23"/>
          <p:cNvSpPr/>
          <p:nvPr/>
        </p:nvSpPr>
        <p:spPr>
          <a:xfrm>
            <a:off x="6812280" y="2103120"/>
            <a:ext cx="4572000" cy="3657600"/>
          </a:xfrm>
          <a:prstGeom prst="rect">
            <a:avLst/>
          </a:prstGeom>
          <a:noFill/>
          <a:ln/>
        </p:spPr>
        <p:txBody>
          <a:bodyPr wrap="square" rtlCol="0" anchor="t"/>
          <a:lstStyle/>
          <a:p>
            <a:pPr marL="0" indent="0">
              <a:buNone/>
            </a:pPr>
            <a:r>
              <a:rPr lang="en-US" sz="1050" dirty="0">
                <a:solidFill>
                  <a:srgbClr val="E2E8F0"/>
                </a:solidFill>
                <a:latin typeface="Consolas" pitchFamily="34" charset="0"/>
                <a:ea typeface="Consolas" pitchFamily="34" charset="-122"/>
                <a:cs typeface="Consolas" pitchFamily="34" charset="-120"/>
              </a:rPr>
              <a:t>import { GoogleGenAI } from '@google/genai';</a:t>
            </a:r>
            <a:endParaRPr lang="en-US" sz="1050" dirty="0"/>
          </a:p>
          <a:p>
            <a:pPr marL="0" indent="0">
              <a:buNone/>
            </a:pP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Connects directly to Google Cloud Vertex AI</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const client = new GoogleGenAI({</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vertexai: true,</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project: 'gen-lang-client-0251338670',</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location: 'global',</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buNone/>
            </a:pP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const response = await client.models.generateContent({</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model: 'gemini-3-flash-preview',</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contents: prompt,</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config: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responseMimeType: 'application/json',</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responseSchema: reviewSchema,</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thinkingConfig: { thinkingBudget: 0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514"/>
        </a:solidFill>
        <a:effectLst/>
      </p:bgPr>
    </p:bg>
    <p:spTree>
      <p:nvGrpSpPr>
        <p:cNvPr id="1" name="">
          <a:extLst>
            <a:ext uri="{FF2B5EF4-FFF2-40B4-BE49-F238E27FC236}">
              <a16:creationId xmlns:a16="http://schemas.microsoft.com/office/drawing/2014/main" id="{4EF62612-5FFD-BBB4-EAD5-3F944215CB0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1D7ADC-70AA-9BD4-DCF2-E6C00AA1C301}"/>
              </a:ext>
            </a:extLst>
          </p:cNvPr>
          <p:cNvSpPr/>
          <p:nvPr/>
        </p:nvSpPr>
        <p:spPr>
          <a:xfrm>
            <a:off x="0" y="0"/>
            <a:ext cx="12192000" cy="73152"/>
          </a:xfrm>
          <a:prstGeom prst="rect">
            <a:avLst/>
          </a:prstGeom>
          <a:solidFill>
            <a:srgbClr val="8B5CF6"/>
          </a:solidFill>
          <a:ln w="12700">
            <a:solidFill>
              <a:srgbClr val="8B5CF6"/>
            </a:solidFill>
            <a:prstDash val="solid"/>
          </a:ln>
        </p:spPr>
      </p:sp>
      <p:sp>
        <p:nvSpPr>
          <p:cNvPr id="3" name="Shape 1">
            <a:extLst>
              <a:ext uri="{FF2B5EF4-FFF2-40B4-BE49-F238E27FC236}">
                <a16:creationId xmlns:a16="http://schemas.microsoft.com/office/drawing/2014/main" id="{41BAA4B2-64B3-82A5-5A14-CEFFF8939BEE}"/>
              </a:ext>
            </a:extLst>
          </p:cNvPr>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a:extLst>
              <a:ext uri="{FF2B5EF4-FFF2-40B4-BE49-F238E27FC236}">
                <a16:creationId xmlns:a16="http://schemas.microsoft.com/office/drawing/2014/main" id="{293FED3F-9330-A5DE-02F1-B716F1511954}"/>
              </a:ext>
            </a:extLst>
          </p:cNvPr>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a:extLst>
              <a:ext uri="{FF2B5EF4-FFF2-40B4-BE49-F238E27FC236}">
                <a16:creationId xmlns:a16="http://schemas.microsoft.com/office/drawing/2014/main" id="{878D2B93-E57F-7A72-9F6B-C92288F818C8}"/>
              </a:ext>
            </a:extLst>
          </p:cNvPr>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a:extLst>
              <a:ext uri="{FF2B5EF4-FFF2-40B4-BE49-F238E27FC236}">
                <a16:creationId xmlns:a16="http://schemas.microsoft.com/office/drawing/2014/main" id="{799D1DC1-60D5-CB7F-B1D9-29B187FC4B15}"/>
              </a:ext>
            </a:extLst>
          </p:cNvPr>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a:extLst>
              <a:ext uri="{FF2B5EF4-FFF2-40B4-BE49-F238E27FC236}">
                <a16:creationId xmlns:a16="http://schemas.microsoft.com/office/drawing/2014/main" id="{48F66C95-BEC5-03C4-BEB2-BA0BA79FA43F}"/>
              </a:ext>
            </a:extLst>
          </p:cNvPr>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4 / 12</a:t>
            </a:r>
            <a:endParaRPr lang="en-US" sz="900" dirty="0"/>
          </a:p>
        </p:txBody>
      </p:sp>
      <p:sp>
        <p:nvSpPr>
          <p:cNvPr id="8" name="Text 6">
            <a:extLst>
              <a:ext uri="{FF2B5EF4-FFF2-40B4-BE49-F238E27FC236}">
                <a16:creationId xmlns:a16="http://schemas.microsoft.com/office/drawing/2014/main" id="{5D9C5363-58F6-AB30-9DAD-C65AF81DFDA9}"/>
              </a:ext>
            </a:extLst>
          </p:cNvPr>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 • THE APPLICATION WE BUILT</a:t>
            </a:r>
            <a:endParaRPr lang="en-US" sz="1000" dirty="0"/>
          </a:p>
        </p:txBody>
      </p:sp>
      <p:sp>
        <p:nvSpPr>
          <p:cNvPr id="9" name="Text 7">
            <a:extLst>
              <a:ext uri="{FF2B5EF4-FFF2-40B4-BE49-F238E27FC236}">
                <a16:creationId xmlns:a16="http://schemas.microsoft.com/office/drawing/2014/main" id="{484D5EE4-EC3F-8CD4-4228-E18FCE1F0F92}"/>
              </a:ext>
            </a:extLst>
          </p:cNvPr>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Pause…</a:t>
            </a:r>
            <a:endParaRPr lang="en-US" sz="2500" dirty="0"/>
          </a:p>
        </p:txBody>
      </p:sp>
      <p:sp>
        <p:nvSpPr>
          <p:cNvPr id="11" name="Shape 9">
            <a:extLst>
              <a:ext uri="{FF2B5EF4-FFF2-40B4-BE49-F238E27FC236}">
                <a16:creationId xmlns:a16="http://schemas.microsoft.com/office/drawing/2014/main" id="{528588F6-0BD0-DF11-AC66-BC55B563CB40}"/>
              </a:ext>
            </a:extLst>
          </p:cNvPr>
          <p:cNvSpPr/>
          <p:nvPr/>
        </p:nvSpPr>
        <p:spPr>
          <a:xfrm>
            <a:off x="704556" y="1508760"/>
            <a:ext cx="11094720" cy="4572000"/>
          </a:xfrm>
          <a:prstGeom prst="roundRect">
            <a:avLst>
              <a:gd name="adj" fmla="val 2000"/>
            </a:avLst>
          </a:prstGeom>
          <a:solidFill>
            <a:srgbClr val="06030D"/>
          </a:solidFill>
          <a:ln w="19050">
            <a:solidFill>
              <a:srgbClr val="4C1D95"/>
            </a:solidFill>
            <a:prstDash val="solid"/>
          </a:ln>
        </p:spPr>
      </p:sp>
      <p:sp>
        <p:nvSpPr>
          <p:cNvPr id="26" name="TextBox 25">
            <a:extLst>
              <a:ext uri="{FF2B5EF4-FFF2-40B4-BE49-F238E27FC236}">
                <a16:creationId xmlns:a16="http://schemas.microsoft.com/office/drawing/2014/main" id="{D146FEB5-7765-EF16-26A8-05C5782F22AF}"/>
              </a:ext>
            </a:extLst>
          </p:cNvPr>
          <p:cNvSpPr txBox="1"/>
          <p:nvPr/>
        </p:nvSpPr>
        <p:spPr>
          <a:xfrm>
            <a:off x="838199" y="1901952"/>
            <a:ext cx="10961077" cy="923330"/>
          </a:xfrm>
          <a:prstGeom prst="rect">
            <a:avLst/>
          </a:prstGeom>
          <a:noFill/>
        </p:spPr>
        <p:txBody>
          <a:bodyPr wrap="square" rtlCol="0">
            <a:spAutoFit/>
          </a:bodyPr>
          <a:lstStyle/>
          <a:p>
            <a:r>
              <a:rPr lang="en-US" sz="5400" dirty="0">
                <a:solidFill>
                  <a:schemeClr val="bg1"/>
                </a:solidFill>
              </a:rPr>
              <a:t>Now, we show how the swarm works</a:t>
            </a:r>
          </a:p>
        </p:txBody>
      </p:sp>
    </p:spTree>
    <p:extLst>
      <p:ext uri="{BB962C8B-B14F-4D97-AF65-F5344CB8AC3E}">
        <p14:creationId xmlns:p14="http://schemas.microsoft.com/office/powerpoint/2010/main" val="3411280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8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III • REAL-WORLD WAR STORIES</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The "Fun" with Setting Up Vertex AI (What the Docs Don’t Tell You)</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Every real cloud migration has plot twists—here are the 4 bosses we fought and beat.</a:t>
            </a:r>
            <a:endParaRPr lang="en-US" sz="1250" dirty="0"/>
          </a:p>
        </p:txBody>
      </p:sp>
      <p:sp>
        <p:nvSpPr>
          <p:cNvPr id="11" name="Shape 9"/>
          <p:cNvSpPr/>
          <p:nvPr/>
        </p:nvSpPr>
        <p:spPr>
          <a:xfrm>
            <a:off x="548640" y="1508760"/>
            <a:ext cx="5440680" cy="2148840"/>
          </a:xfrm>
          <a:prstGeom prst="roundRect">
            <a:avLst>
              <a:gd name="adj" fmla="val 4255"/>
            </a:avLst>
          </a:prstGeom>
          <a:solidFill>
            <a:srgbClr val="130B24"/>
          </a:solidFill>
          <a:ln w="15240">
            <a:solidFill>
              <a:srgbClr val="A855F7"/>
            </a:solidFill>
            <a:prstDash val="solid"/>
          </a:ln>
        </p:spPr>
      </p:sp>
      <p:sp>
        <p:nvSpPr>
          <p:cNvPr id="12" name="Text 10"/>
          <p:cNvSpPr/>
          <p:nvPr/>
        </p:nvSpPr>
        <p:spPr>
          <a:xfrm>
            <a:off x="777240" y="1673352"/>
            <a:ext cx="4937760" cy="237744"/>
          </a:xfrm>
          <a:prstGeom prst="rect">
            <a:avLst/>
          </a:prstGeom>
          <a:noFill/>
          <a:ln/>
        </p:spPr>
        <p:txBody>
          <a:bodyPr wrap="square" rtlCol="0" anchor="ctr"/>
          <a:lstStyle/>
          <a:p>
            <a:pPr marL="0" indent="0">
              <a:buNone/>
            </a:pPr>
            <a:r>
              <a:rPr lang="en-US" sz="950" b="1" kern="0" spc="120" dirty="0">
                <a:solidFill>
                  <a:srgbClr val="F59E0B"/>
                </a:solidFill>
                <a:latin typeface="Segoe UI" pitchFamily="34" charset="0"/>
                <a:ea typeface="Segoe UI" pitchFamily="34" charset="-122"/>
                <a:cs typeface="Segoe UI" pitchFamily="34" charset="-120"/>
              </a:rPr>
              <a:t>BOSS #1 • HTTP 402</a:t>
            </a:r>
            <a:endParaRPr lang="en-US" sz="950" dirty="0"/>
          </a:p>
        </p:txBody>
      </p:sp>
      <p:sp>
        <p:nvSpPr>
          <p:cNvPr id="13" name="Text 11"/>
          <p:cNvSpPr/>
          <p:nvPr/>
        </p:nvSpPr>
        <p:spPr>
          <a:xfrm>
            <a:off x="777240" y="1920240"/>
            <a:ext cx="493776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"Your prepayment credits are depleted"</a:t>
            </a:r>
            <a:endParaRPr lang="en-US" sz="1400" dirty="0"/>
          </a:p>
        </p:txBody>
      </p:sp>
      <p:sp>
        <p:nvSpPr>
          <p:cNvPr id="14" name="Text 12"/>
          <p:cNvSpPr/>
          <p:nvPr/>
        </p:nvSpPr>
        <p:spPr>
          <a:xfrm>
            <a:off x="777240" y="2286000"/>
            <a:ext cx="4983480" cy="1234440"/>
          </a:xfrm>
          <a:prstGeom prst="rect">
            <a:avLst/>
          </a:prstGeom>
          <a:noFill/>
          <a:ln/>
        </p:spPr>
        <p:txBody>
          <a:bodyPr wrap="square" rtlCol="0" anchor="t"/>
          <a:lstStyle/>
          <a:p>
            <a:pPr marL="0" indent="0">
              <a:buNone/>
            </a:pPr>
            <a:r>
              <a:rPr lang="en-US" sz="1100" b="1" dirty="0">
                <a:solidFill>
                  <a:srgbClr val="F43F5E"/>
                </a:solidFill>
                <a:latin typeface="Segoe UI" pitchFamily="34" charset="0"/>
                <a:ea typeface="Segoe UI" pitchFamily="34" charset="-122"/>
                <a:cs typeface="Segoe UI" pitchFamily="34" charset="-120"/>
              </a:rPr>
              <a:t>Trap: </a:t>
            </a:r>
            <a:r>
              <a:rPr lang="en-US" sz="1100" dirty="0">
                <a:solidFill>
                  <a:srgbClr val="E2E8F0"/>
                </a:solidFill>
                <a:latin typeface="Segoe UI" pitchFamily="34" charset="0"/>
                <a:ea typeface="Segoe UI" pitchFamily="34" charset="-122"/>
                <a:cs typeface="Segoe UI" pitchFamily="34" charset="-120"/>
              </a:rPr>
              <a:t>Our original AI Studio API key suddenly died mid-test with a 402 Resource Exhausted error.
</a:t>
            </a:r>
            <a:r>
              <a:rPr lang="en-US" sz="1100" b="1" dirty="0">
                <a:solidFill>
                  <a:srgbClr val="10B981"/>
                </a:solidFill>
                <a:latin typeface="Segoe UI" pitchFamily="34" charset="0"/>
                <a:ea typeface="Segoe UI" pitchFamily="34" charset="-122"/>
                <a:cs typeface="Segoe UI" pitchFamily="34" charset="-120"/>
              </a:rPr>
              <a:t>Fix: </a:t>
            </a:r>
            <a:r>
              <a:rPr lang="en-US" sz="1100" dirty="0">
                <a:solidFill>
                  <a:srgbClr val="E2E8F0"/>
                </a:solidFill>
                <a:latin typeface="Segoe UI" pitchFamily="34" charset="0"/>
                <a:ea typeface="Segoe UI" pitchFamily="34" charset="-122"/>
                <a:cs typeface="Segoe UI" pitchFamily="34" charset="-120"/>
              </a:rPr>
              <a:t>Switched to Vertex AI (USE_VERTEX_AI=true) backed by Google Cloud billing instead of prepaid AI Studio credits.</a:t>
            </a:r>
            <a:endParaRPr lang="en-US" sz="1100" dirty="0"/>
          </a:p>
        </p:txBody>
      </p:sp>
      <p:sp>
        <p:nvSpPr>
          <p:cNvPr id="15" name="Shape 13"/>
          <p:cNvSpPr/>
          <p:nvPr/>
        </p:nvSpPr>
        <p:spPr>
          <a:xfrm>
            <a:off x="6172200" y="1508760"/>
            <a:ext cx="5440680" cy="2148840"/>
          </a:xfrm>
          <a:prstGeom prst="roundRect">
            <a:avLst>
              <a:gd name="adj" fmla="val 4255"/>
            </a:avLst>
          </a:prstGeom>
          <a:solidFill>
            <a:srgbClr val="130B24"/>
          </a:solidFill>
          <a:ln w="15240">
            <a:solidFill>
              <a:srgbClr val="A855F7"/>
            </a:solidFill>
            <a:prstDash val="solid"/>
          </a:ln>
        </p:spPr>
      </p:sp>
      <p:sp>
        <p:nvSpPr>
          <p:cNvPr id="16" name="Text 14"/>
          <p:cNvSpPr/>
          <p:nvPr/>
        </p:nvSpPr>
        <p:spPr>
          <a:xfrm>
            <a:off x="6400800" y="1673352"/>
            <a:ext cx="4937760" cy="237744"/>
          </a:xfrm>
          <a:prstGeom prst="rect">
            <a:avLst/>
          </a:prstGeom>
          <a:noFill/>
          <a:ln/>
        </p:spPr>
        <p:txBody>
          <a:bodyPr wrap="square" rtlCol="0" anchor="ctr"/>
          <a:lstStyle/>
          <a:p>
            <a:pPr marL="0" indent="0">
              <a:buNone/>
            </a:pPr>
            <a:r>
              <a:rPr lang="en-US" sz="950" b="1" kern="0" spc="120" dirty="0">
                <a:solidFill>
                  <a:srgbClr val="F59E0B"/>
                </a:solidFill>
                <a:latin typeface="Segoe UI" pitchFamily="34" charset="0"/>
                <a:ea typeface="Segoe UI" pitchFamily="34" charset="-122"/>
                <a:cs typeface="Segoe UI" pitchFamily="34" charset="-120"/>
              </a:rPr>
              <a:t>BOSS #2 • THE CLI</a:t>
            </a:r>
            <a:endParaRPr lang="en-US" sz="950" dirty="0"/>
          </a:p>
        </p:txBody>
      </p:sp>
      <p:sp>
        <p:nvSpPr>
          <p:cNvPr id="17" name="Text 15"/>
          <p:cNvSpPr/>
          <p:nvPr/>
        </p:nvSpPr>
        <p:spPr>
          <a:xfrm>
            <a:off x="6400800" y="1920240"/>
            <a:ext cx="493776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The 8-Minute gcloud SDK Install</a:t>
            </a:r>
            <a:endParaRPr lang="en-US" sz="1400" dirty="0"/>
          </a:p>
        </p:txBody>
      </p:sp>
      <p:sp>
        <p:nvSpPr>
          <p:cNvPr id="18" name="Text 16"/>
          <p:cNvSpPr/>
          <p:nvPr/>
        </p:nvSpPr>
        <p:spPr>
          <a:xfrm>
            <a:off x="6400800" y="2286000"/>
            <a:ext cx="4983480" cy="1234440"/>
          </a:xfrm>
          <a:prstGeom prst="rect">
            <a:avLst/>
          </a:prstGeom>
          <a:noFill/>
          <a:ln/>
        </p:spPr>
        <p:txBody>
          <a:bodyPr wrap="square" rtlCol="0" anchor="t"/>
          <a:lstStyle/>
          <a:p>
            <a:pPr marL="0" indent="0">
              <a:buNone/>
            </a:pPr>
            <a:r>
              <a:rPr lang="en-US" sz="1100" b="1" dirty="0">
                <a:solidFill>
                  <a:srgbClr val="F43F5E"/>
                </a:solidFill>
                <a:latin typeface="Segoe UI" pitchFamily="34" charset="0"/>
                <a:ea typeface="Segoe UI" pitchFamily="34" charset="-122"/>
                <a:cs typeface="Segoe UI" pitchFamily="34" charset="-120"/>
              </a:rPr>
              <a:t>Trap: </a:t>
            </a:r>
            <a:r>
              <a:rPr lang="en-US" sz="1100" dirty="0">
                <a:solidFill>
                  <a:srgbClr val="E2E8F0"/>
                </a:solidFill>
                <a:latin typeface="Segoe UI" pitchFamily="34" charset="0"/>
                <a:ea typeface="Segoe UI" pitchFamily="34" charset="-122"/>
                <a:cs typeface="Segoe UI" pitchFamily="34" charset="-120"/>
              </a:rPr>
              <a:t>winget install Google.CloudSDK downloads an embedded Python runtime + thousands of files while looking frozen.
</a:t>
            </a:r>
            <a:r>
              <a:rPr lang="en-US" sz="1100" b="1" dirty="0">
                <a:solidFill>
                  <a:srgbClr val="10B981"/>
                </a:solidFill>
                <a:latin typeface="Segoe UI" pitchFamily="34" charset="0"/>
                <a:ea typeface="Segoe UI" pitchFamily="34" charset="-122"/>
                <a:cs typeface="Segoe UI" pitchFamily="34" charset="-120"/>
              </a:rPr>
              <a:t>Fix: </a:t>
            </a:r>
            <a:r>
              <a:rPr lang="en-US" sz="1100" dirty="0">
                <a:solidFill>
                  <a:srgbClr val="E2E8F0"/>
                </a:solidFill>
                <a:latin typeface="Segoe UI" pitchFamily="34" charset="0"/>
                <a:ea typeface="Segoe UI" pitchFamily="34" charset="-122"/>
                <a:cs typeface="Segoe UI" pitchFamily="34" charset="-120"/>
              </a:rPr>
              <a:t>Installed the SDK and configured scripts/vertex-pipeline.ts to auto-detect gcloud.cmd on Windows.</a:t>
            </a:r>
            <a:endParaRPr lang="en-US" sz="1100" dirty="0"/>
          </a:p>
        </p:txBody>
      </p:sp>
      <p:sp>
        <p:nvSpPr>
          <p:cNvPr id="19" name="Shape 17"/>
          <p:cNvSpPr/>
          <p:nvPr/>
        </p:nvSpPr>
        <p:spPr>
          <a:xfrm>
            <a:off x="548640" y="3840480"/>
            <a:ext cx="5440680" cy="2148840"/>
          </a:xfrm>
          <a:prstGeom prst="roundRect">
            <a:avLst>
              <a:gd name="adj" fmla="val 4255"/>
            </a:avLst>
          </a:prstGeom>
          <a:solidFill>
            <a:srgbClr val="130B24"/>
          </a:solidFill>
          <a:ln w="15240">
            <a:solidFill>
              <a:srgbClr val="A855F7"/>
            </a:solidFill>
            <a:prstDash val="solid"/>
          </a:ln>
        </p:spPr>
      </p:sp>
      <p:sp>
        <p:nvSpPr>
          <p:cNvPr id="20" name="Text 18"/>
          <p:cNvSpPr/>
          <p:nvPr/>
        </p:nvSpPr>
        <p:spPr>
          <a:xfrm>
            <a:off x="777240" y="4005072"/>
            <a:ext cx="4937760" cy="237744"/>
          </a:xfrm>
          <a:prstGeom prst="rect">
            <a:avLst/>
          </a:prstGeom>
          <a:noFill/>
          <a:ln/>
        </p:spPr>
        <p:txBody>
          <a:bodyPr wrap="square" rtlCol="0" anchor="ctr"/>
          <a:lstStyle/>
          <a:p>
            <a:pPr marL="0" indent="0">
              <a:buNone/>
            </a:pPr>
            <a:r>
              <a:rPr lang="en-US" sz="950" b="1" kern="0" spc="120" dirty="0">
                <a:solidFill>
                  <a:srgbClr val="F59E0B"/>
                </a:solidFill>
                <a:latin typeface="Segoe UI" pitchFamily="34" charset="0"/>
                <a:ea typeface="Segoe UI" pitchFamily="34" charset="-122"/>
                <a:cs typeface="Segoe UI" pitchFamily="34" charset="-120"/>
              </a:rPr>
              <a:t>BOSS #3 • AUTH TRAP</a:t>
            </a:r>
            <a:endParaRPr lang="en-US" sz="950" dirty="0"/>
          </a:p>
        </p:txBody>
      </p:sp>
      <p:sp>
        <p:nvSpPr>
          <p:cNvPr id="21" name="Text 19"/>
          <p:cNvSpPr/>
          <p:nvPr/>
        </p:nvSpPr>
        <p:spPr>
          <a:xfrm>
            <a:off x="777240" y="4251960"/>
            <a:ext cx="493776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gcloud auth login != Application Default Credentials</a:t>
            </a:r>
            <a:endParaRPr lang="en-US" sz="1400" dirty="0"/>
          </a:p>
        </p:txBody>
      </p:sp>
      <p:sp>
        <p:nvSpPr>
          <p:cNvPr id="22" name="Text 20"/>
          <p:cNvSpPr/>
          <p:nvPr/>
        </p:nvSpPr>
        <p:spPr>
          <a:xfrm>
            <a:off x="777240" y="4617720"/>
            <a:ext cx="4983480" cy="1234440"/>
          </a:xfrm>
          <a:prstGeom prst="rect">
            <a:avLst/>
          </a:prstGeom>
          <a:noFill/>
          <a:ln/>
        </p:spPr>
        <p:txBody>
          <a:bodyPr wrap="square" rtlCol="0" anchor="t"/>
          <a:lstStyle/>
          <a:p>
            <a:pPr marL="0" indent="0">
              <a:buNone/>
            </a:pPr>
            <a:r>
              <a:rPr lang="en-US" sz="1100" b="1" dirty="0">
                <a:solidFill>
                  <a:srgbClr val="F43F5E"/>
                </a:solidFill>
                <a:latin typeface="Segoe UI" pitchFamily="34" charset="0"/>
                <a:ea typeface="Segoe UI" pitchFamily="34" charset="-122"/>
                <a:cs typeface="Segoe UI" pitchFamily="34" charset="-120"/>
              </a:rPr>
              <a:t>Trap: </a:t>
            </a:r>
            <a:r>
              <a:rPr lang="en-US" sz="1100" dirty="0">
                <a:solidFill>
                  <a:srgbClr val="E2E8F0"/>
                </a:solidFill>
                <a:latin typeface="Segoe UI" pitchFamily="34" charset="0"/>
                <a:ea typeface="Segoe UI" pitchFamily="34" charset="-122"/>
                <a:cs typeface="Segoe UI" pitchFamily="34" charset="-120"/>
              </a:rPr>
              <a:t>Ran gcloud auth login, felt great, ran Node.js... and hit "Could not load the default credentials"!
</a:t>
            </a:r>
            <a:r>
              <a:rPr lang="en-US" sz="1100" b="1" dirty="0">
                <a:solidFill>
                  <a:srgbClr val="10B981"/>
                </a:solidFill>
                <a:latin typeface="Segoe UI" pitchFamily="34" charset="0"/>
                <a:ea typeface="Segoe UI" pitchFamily="34" charset="-122"/>
                <a:cs typeface="Segoe UI" pitchFamily="34" charset="-120"/>
              </a:rPr>
              <a:t>Fix: </a:t>
            </a:r>
            <a:r>
              <a:rPr lang="en-US" sz="1100" dirty="0">
                <a:solidFill>
                  <a:srgbClr val="E2E8F0"/>
                </a:solidFill>
                <a:latin typeface="Segoe UI" pitchFamily="34" charset="0"/>
                <a:ea typeface="Segoe UI" pitchFamily="34" charset="-122"/>
                <a:cs typeface="Segoe UI" pitchFamily="34" charset="-120"/>
              </a:rPr>
              <a:t>gcloud auth login only logs in the CLI. Node SDKs require: gcloud auth application-default login.</a:t>
            </a:r>
            <a:endParaRPr lang="en-US" sz="1100" dirty="0"/>
          </a:p>
        </p:txBody>
      </p:sp>
      <p:sp>
        <p:nvSpPr>
          <p:cNvPr id="23" name="Shape 21"/>
          <p:cNvSpPr/>
          <p:nvPr/>
        </p:nvSpPr>
        <p:spPr>
          <a:xfrm>
            <a:off x="6172200" y="3840480"/>
            <a:ext cx="5440680" cy="2148840"/>
          </a:xfrm>
          <a:prstGeom prst="roundRect">
            <a:avLst>
              <a:gd name="adj" fmla="val 4255"/>
            </a:avLst>
          </a:prstGeom>
          <a:solidFill>
            <a:srgbClr val="130B24"/>
          </a:solidFill>
          <a:ln w="15240">
            <a:solidFill>
              <a:srgbClr val="A855F7"/>
            </a:solidFill>
            <a:prstDash val="solid"/>
          </a:ln>
        </p:spPr>
      </p:sp>
      <p:sp>
        <p:nvSpPr>
          <p:cNvPr id="24" name="Text 22"/>
          <p:cNvSpPr/>
          <p:nvPr/>
        </p:nvSpPr>
        <p:spPr>
          <a:xfrm>
            <a:off x="6400800" y="4005072"/>
            <a:ext cx="4937760" cy="237744"/>
          </a:xfrm>
          <a:prstGeom prst="rect">
            <a:avLst/>
          </a:prstGeom>
          <a:noFill/>
          <a:ln/>
        </p:spPr>
        <p:txBody>
          <a:bodyPr wrap="square" rtlCol="0" anchor="ctr"/>
          <a:lstStyle/>
          <a:p>
            <a:pPr marL="0" indent="0">
              <a:buNone/>
            </a:pPr>
            <a:r>
              <a:rPr lang="en-US" sz="950" b="1" kern="0" spc="120" dirty="0">
                <a:solidFill>
                  <a:srgbClr val="F59E0B"/>
                </a:solidFill>
                <a:latin typeface="Segoe UI" pitchFamily="34" charset="0"/>
                <a:ea typeface="Segoe UI" pitchFamily="34" charset="-122"/>
                <a:cs typeface="Segoe UI" pitchFamily="34" charset="-120"/>
              </a:rPr>
              <a:t>BOSS #4 • HTTP 404</a:t>
            </a:r>
            <a:endParaRPr lang="en-US" sz="950" dirty="0"/>
          </a:p>
        </p:txBody>
      </p:sp>
      <p:sp>
        <p:nvSpPr>
          <p:cNvPr id="25" name="Text 23"/>
          <p:cNvSpPr/>
          <p:nvPr/>
        </p:nvSpPr>
        <p:spPr>
          <a:xfrm>
            <a:off x="6400800" y="4251960"/>
            <a:ext cx="493776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The Region &amp; Model Name Plot Twist</a:t>
            </a:r>
            <a:endParaRPr lang="en-US" sz="1400" dirty="0"/>
          </a:p>
        </p:txBody>
      </p:sp>
      <p:sp>
        <p:nvSpPr>
          <p:cNvPr id="26" name="Text 24"/>
          <p:cNvSpPr/>
          <p:nvPr/>
        </p:nvSpPr>
        <p:spPr>
          <a:xfrm>
            <a:off x="6400800" y="4617720"/>
            <a:ext cx="4983480" cy="1234440"/>
          </a:xfrm>
          <a:prstGeom prst="rect">
            <a:avLst/>
          </a:prstGeom>
          <a:noFill/>
          <a:ln/>
        </p:spPr>
        <p:txBody>
          <a:bodyPr wrap="square" rtlCol="0" anchor="t"/>
          <a:lstStyle/>
          <a:p>
            <a:pPr marL="0" indent="0">
              <a:buNone/>
            </a:pPr>
            <a:r>
              <a:rPr lang="en-US" sz="1100" b="1" dirty="0">
                <a:solidFill>
                  <a:srgbClr val="F43F5E"/>
                </a:solidFill>
                <a:latin typeface="Segoe UI" pitchFamily="34" charset="0"/>
                <a:ea typeface="Segoe UI" pitchFamily="34" charset="-122"/>
                <a:cs typeface="Segoe UI" pitchFamily="34" charset="-120"/>
              </a:rPr>
              <a:t>Trap: </a:t>
            </a:r>
            <a:r>
              <a:rPr lang="en-US" sz="1100" dirty="0">
                <a:solidFill>
                  <a:srgbClr val="E2E8F0"/>
                </a:solidFill>
                <a:latin typeface="Segoe UI" pitchFamily="34" charset="0"/>
                <a:ea typeface="Segoe UI" pitchFamily="34" charset="-122"/>
                <a:cs typeface="Segoe UI" pitchFamily="34" charset="-120"/>
              </a:rPr>
              <a:t>us-central1 + gemini-2.5-flash threw 404 Publisher Model Not Found on our project!
</a:t>
            </a:r>
            <a:r>
              <a:rPr lang="en-US" sz="1100" b="1" dirty="0">
                <a:solidFill>
                  <a:srgbClr val="10B981"/>
                </a:solidFill>
                <a:latin typeface="Segoe UI" pitchFamily="34" charset="0"/>
                <a:ea typeface="Segoe UI" pitchFamily="34" charset="-122"/>
                <a:cs typeface="Segoe UI" pitchFamily="34" charset="-120"/>
              </a:rPr>
              <a:t>Fix: </a:t>
            </a:r>
            <a:r>
              <a:rPr lang="en-US" sz="1100" dirty="0">
                <a:solidFill>
                  <a:srgbClr val="E2E8F0"/>
                </a:solidFill>
                <a:latin typeface="Segoe UI" pitchFamily="34" charset="0"/>
                <a:ea typeface="Segoe UI" pitchFamily="34" charset="-122"/>
                <a:cs typeface="Segoe UI" pitchFamily="34" charset="-120"/>
              </a:rPr>
              <a:t>Probed Vertex endpoints automatically and discovered our project uses location: "global" + "gemini-3-flash-preview"!</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9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III • AUTOMATED RELEASE ENGINEERING</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One Command: Review → Generate Tests → Diagnose → Deploy</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How npm run vertex:deploy orchestrates Vertex AI and Google Cloud Run.</a:t>
            </a:r>
            <a:endParaRPr lang="en-US" sz="1250" dirty="0"/>
          </a:p>
        </p:txBody>
      </p:sp>
      <p:sp>
        <p:nvSpPr>
          <p:cNvPr id="11" name="Shape 9"/>
          <p:cNvSpPr/>
          <p:nvPr/>
        </p:nvSpPr>
        <p:spPr>
          <a:xfrm>
            <a:off x="548640" y="1554480"/>
            <a:ext cx="2651760" cy="4480560"/>
          </a:xfrm>
          <a:prstGeom prst="roundRect">
            <a:avLst>
              <a:gd name="adj" fmla="val 4138"/>
            </a:avLst>
          </a:prstGeom>
          <a:solidFill>
            <a:srgbClr val="130B24"/>
          </a:solidFill>
          <a:ln w="16510">
            <a:solidFill>
              <a:srgbClr val="8B5CF6"/>
            </a:solidFill>
            <a:prstDash val="solid"/>
          </a:ln>
        </p:spPr>
      </p:sp>
      <p:sp>
        <p:nvSpPr>
          <p:cNvPr id="12" name="Shape 10"/>
          <p:cNvSpPr/>
          <p:nvPr/>
        </p:nvSpPr>
        <p:spPr>
          <a:xfrm>
            <a:off x="731520" y="1737360"/>
            <a:ext cx="1005840" cy="274320"/>
          </a:xfrm>
          <a:prstGeom prst="roundRect">
            <a:avLst>
              <a:gd name="adj" fmla="val 20000"/>
            </a:avLst>
          </a:prstGeom>
          <a:solidFill>
            <a:srgbClr val="8B5CF6"/>
          </a:solidFill>
          <a:ln w="12700">
            <a:solidFill>
              <a:srgbClr val="8B5CF6"/>
            </a:solidFill>
            <a:prstDash val="solid"/>
          </a:ln>
        </p:spPr>
      </p:sp>
      <p:sp>
        <p:nvSpPr>
          <p:cNvPr id="13" name="Text 11"/>
          <p:cNvSpPr/>
          <p:nvPr/>
        </p:nvSpPr>
        <p:spPr>
          <a:xfrm>
            <a:off x="731520" y="1737360"/>
            <a:ext cx="1005840" cy="274320"/>
          </a:xfrm>
          <a:prstGeom prst="rect">
            <a:avLst/>
          </a:prstGeom>
          <a:noFill/>
          <a:ln/>
        </p:spPr>
        <p:txBody>
          <a:bodyPr wrap="square" rtlCol="0" anchor="ctr"/>
          <a:lstStyle/>
          <a:p>
            <a:pPr marL="0" indent="0" algn="ctr">
              <a:buNone/>
            </a:pPr>
            <a:r>
              <a:rPr lang="en-US" sz="950" b="1" dirty="0">
                <a:solidFill>
                  <a:srgbClr val="F8FAFC"/>
                </a:solidFill>
                <a:latin typeface="Segoe UI" pitchFamily="34" charset="0"/>
                <a:ea typeface="Segoe UI" pitchFamily="34" charset="-122"/>
                <a:cs typeface="Segoe UI" pitchFamily="34" charset="-120"/>
              </a:rPr>
              <a:t>STAGE 1</a:t>
            </a:r>
            <a:endParaRPr lang="en-US" sz="950" dirty="0"/>
          </a:p>
        </p:txBody>
      </p:sp>
      <p:sp>
        <p:nvSpPr>
          <p:cNvPr id="14" name="Text 12"/>
          <p:cNvSpPr/>
          <p:nvPr/>
        </p:nvSpPr>
        <p:spPr>
          <a:xfrm>
            <a:off x="731520" y="2121408"/>
            <a:ext cx="2286000" cy="347472"/>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AI Code Review</a:t>
            </a:r>
            <a:endParaRPr lang="en-US" sz="1500" dirty="0"/>
          </a:p>
        </p:txBody>
      </p:sp>
      <p:sp>
        <p:nvSpPr>
          <p:cNvPr id="15" name="Text 13"/>
          <p:cNvSpPr/>
          <p:nvPr/>
        </p:nvSpPr>
        <p:spPr>
          <a:xfrm>
            <a:off x="731520" y="2468880"/>
            <a:ext cx="2286000" cy="256032"/>
          </a:xfrm>
          <a:prstGeom prst="rect">
            <a:avLst/>
          </a:prstGeom>
          <a:noFill/>
          <a:ln/>
        </p:spPr>
        <p:txBody>
          <a:bodyPr wrap="square" rtlCol="0" anchor="ctr"/>
          <a:lstStyle/>
          <a:p>
            <a:pPr marL="0" indent="0">
              <a:buNone/>
            </a:pPr>
            <a:r>
              <a:rPr lang="en-US" sz="1000" dirty="0">
                <a:solidFill>
                  <a:srgbClr val="C084FC"/>
                </a:solidFill>
                <a:latin typeface="Consolas" pitchFamily="34" charset="0"/>
                <a:ea typeface="Consolas" pitchFamily="34" charset="-122"/>
                <a:cs typeface="Consolas" pitchFamily="34" charset="-120"/>
              </a:rPr>
              <a:t>scripts/ai-review.ts</a:t>
            </a:r>
            <a:endParaRPr lang="en-US" sz="1000" dirty="0"/>
          </a:p>
        </p:txBody>
      </p:sp>
      <p:sp>
        <p:nvSpPr>
          <p:cNvPr id="16" name="Text 14"/>
          <p:cNvSpPr/>
          <p:nvPr/>
        </p:nvSpPr>
        <p:spPr>
          <a:xfrm>
            <a:off x="731520" y="2880360"/>
            <a:ext cx="2286000" cy="2926080"/>
          </a:xfrm>
          <a:prstGeom prst="rect">
            <a:avLst/>
          </a:prstGeom>
          <a:noFill/>
          <a:ln/>
        </p:spPr>
        <p:txBody>
          <a:bodyPr wrap="square" rtlCol="0" anchor="t"/>
          <a:lstStyle/>
          <a:p>
            <a:pPr marL="0" indent="0">
              <a:buNone/>
            </a:pPr>
            <a:r>
              <a:rPr lang="en-US" sz="1080" dirty="0">
                <a:solidFill>
                  <a:srgbClr val="E2E8F0"/>
                </a:solidFill>
                <a:latin typeface="Segoe UI" pitchFamily="34" charset="0"/>
                <a:ea typeface="Segoe UI" pitchFamily="34" charset="-122"/>
                <a:cs typeface="Segoe UI" pitchFamily="34" charset="-120"/>
              </a:rPr>
              <a:t>• Bundles server/src, client/src &amp; SPEC.md</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Audits security, race conditions &amp; spec compliance</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Outputs readiness score (0–100) + reports/code-review.md</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Blocks deploy on CRITICAL findings</a:t>
            </a:r>
            <a:endParaRPr lang="en-US" sz="1080" dirty="0"/>
          </a:p>
        </p:txBody>
      </p:sp>
      <p:sp>
        <p:nvSpPr>
          <p:cNvPr id="17" name="Shape 15"/>
          <p:cNvSpPr/>
          <p:nvPr/>
        </p:nvSpPr>
        <p:spPr>
          <a:xfrm>
            <a:off x="3364992" y="1554480"/>
            <a:ext cx="2651760" cy="4480560"/>
          </a:xfrm>
          <a:prstGeom prst="roundRect">
            <a:avLst>
              <a:gd name="adj" fmla="val 4138"/>
            </a:avLst>
          </a:prstGeom>
          <a:solidFill>
            <a:srgbClr val="130B24"/>
          </a:solidFill>
          <a:ln w="16510">
            <a:solidFill>
              <a:srgbClr val="8B5CF6"/>
            </a:solidFill>
            <a:prstDash val="solid"/>
          </a:ln>
        </p:spPr>
      </p:sp>
      <p:sp>
        <p:nvSpPr>
          <p:cNvPr id="18" name="Shape 16"/>
          <p:cNvSpPr/>
          <p:nvPr/>
        </p:nvSpPr>
        <p:spPr>
          <a:xfrm>
            <a:off x="3547872" y="1737360"/>
            <a:ext cx="1005840" cy="274320"/>
          </a:xfrm>
          <a:prstGeom prst="roundRect">
            <a:avLst>
              <a:gd name="adj" fmla="val 20000"/>
            </a:avLst>
          </a:prstGeom>
          <a:solidFill>
            <a:srgbClr val="8B5CF6"/>
          </a:solidFill>
          <a:ln w="12700">
            <a:solidFill>
              <a:srgbClr val="8B5CF6"/>
            </a:solidFill>
            <a:prstDash val="solid"/>
          </a:ln>
        </p:spPr>
      </p:sp>
      <p:sp>
        <p:nvSpPr>
          <p:cNvPr id="19" name="Text 17"/>
          <p:cNvSpPr/>
          <p:nvPr/>
        </p:nvSpPr>
        <p:spPr>
          <a:xfrm>
            <a:off x="3547872" y="1737360"/>
            <a:ext cx="1005840" cy="274320"/>
          </a:xfrm>
          <a:prstGeom prst="rect">
            <a:avLst/>
          </a:prstGeom>
          <a:noFill/>
          <a:ln/>
        </p:spPr>
        <p:txBody>
          <a:bodyPr wrap="square" rtlCol="0" anchor="ctr"/>
          <a:lstStyle/>
          <a:p>
            <a:pPr marL="0" indent="0" algn="ctr">
              <a:buNone/>
            </a:pPr>
            <a:r>
              <a:rPr lang="en-US" sz="950" b="1" dirty="0">
                <a:solidFill>
                  <a:srgbClr val="F8FAFC"/>
                </a:solidFill>
                <a:latin typeface="Segoe UI" pitchFamily="34" charset="0"/>
                <a:ea typeface="Segoe UI" pitchFamily="34" charset="-122"/>
                <a:cs typeface="Segoe UI" pitchFamily="34" charset="-120"/>
              </a:rPr>
              <a:t>STAGE 2</a:t>
            </a:r>
            <a:endParaRPr lang="en-US" sz="950" dirty="0"/>
          </a:p>
        </p:txBody>
      </p:sp>
      <p:sp>
        <p:nvSpPr>
          <p:cNvPr id="20" name="Text 18"/>
          <p:cNvSpPr/>
          <p:nvPr/>
        </p:nvSpPr>
        <p:spPr>
          <a:xfrm>
            <a:off x="3547872" y="2121408"/>
            <a:ext cx="2286000" cy="347472"/>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AI Test Generation</a:t>
            </a:r>
            <a:endParaRPr lang="en-US" sz="1500" dirty="0"/>
          </a:p>
        </p:txBody>
      </p:sp>
      <p:sp>
        <p:nvSpPr>
          <p:cNvPr id="21" name="Text 19"/>
          <p:cNvSpPr/>
          <p:nvPr/>
        </p:nvSpPr>
        <p:spPr>
          <a:xfrm>
            <a:off x="3547872" y="2468880"/>
            <a:ext cx="2286000" cy="256032"/>
          </a:xfrm>
          <a:prstGeom prst="rect">
            <a:avLst/>
          </a:prstGeom>
          <a:noFill/>
          <a:ln/>
        </p:spPr>
        <p:txBody>
          <a:bodyPr wrap="square" rtlCol="0" anchor="ctr"/>
          <a:lstStyle/>
          <a:p>
            <a:pPr marL="0" indent="0">
              <a:buNone/>
            </a:pPr>
            <a:r>
              <a:rPr lang="en-US" sz="1000" dirty="0">
                <a:solidFill>
                  <a:srgbClr val="C084FC"/>
                </a:solidFill>
                <a:latin typeface="Consolas" pitchFamily="34" charset="0"/>
                <a:ea typeface="Consolas" pitchFamily="34" charset="-122"/>
                <a:cs typeface="Consolas" pitchFamily="34" charset="-120"/>
              </a:rPr>
              <a:t>scripts/ai-generate-tests.ts</a:t>
            </a:r>
            <a:endParaRPr lang="en-US" sz="1000" dirty="0"/>
          </a:p>
        </p:txBody>
      </p:sp>
      <p:sp>
        <p:nvSpPr>
          <p:cNvPr id="22" name="Text 20"/>
          <p:cNvSpPr/>
          <p:nvPr/>
        </p:nvSpPr>
        <p:spPr>
          <a:xfrm>
            <a:off x="3547872" y="2880360"/>
            <a:ext cx="2286000" cy="2926080"/>
          </a:xfrm>
          <a:prstGeom prst="rect">
            <a:avLst/>
          </a:prstGeom>
          <a:noFill/>
          <a:ln/>
        </p:spPr>
        <p:txBody>
          <a:bodyPr wrap="square" rtlCol="0" anchor="t"/>
          <a:lstStyle/>
          <a:p>
            <a:pPr marL="0" indent="0">
              <a:buNone/>
            </a:pPr>
            <a:r>
              <a:rPr lang="en-US" sz="1080" dirty="0">
                <a:solidFill>
                  <a:srgbClr val="E2E8F0"/>
                </a:solidFill>
                <a:latin typeface="Segoe UI" pitchFamily="34" charset="0"/>
                <a:ea typeface="Segoe UI" pitchFamily="34" charset="-122"/>
                <a:cs typeface="Segoe UI" pitchFamily="34" charset="-120"/>
              </a:rPr>
              <a:t>• Inspects Express routes &amp; data models</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Generates Vitest + Supertest integration suite</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Covers auth, 400/404s, deduplication &amp; CSV escaping</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Writes server/tests/vertex-generated.test.ts</a:t>
            </a:r>
            <a:endParaRPr lang="en-US" sz="1080" dirty="0"/>
          </a:p>
        </p:txBody>
      </p:sp>
      <p:sp>
        <p:nvSpPr>
          <p:cNvPr id="23" name="Shape 21"/>
          <p:cNvSpPr/>
          <p:nvPr/>
        </p:nvSpPr>
        <p:spPr>
          <a:xfrm>
            <a:off x="6181344" y="1554480"/>
            <a:ext cx="2651760" cy="4480560"/>
          </a:xfrm>
          <a:prstGeom prst="roundRect">
            <a:avLst>
              <a:gd name="adj" fmla="val 4138"/>
            </a:avLst>
          </a:prstGeom>
          <a:solidFill>
            <a:srgbClr val="130B24"/>
          </a:solidFill>
          <a:ln w="16510">
            <a:solidFill>
              <a:srgbClr val="8B5CF6"/>
            </a:solidFill>
            <a:prstDash val="solid"/>
          </a:ln>
        </p:spPr>
      </p:sp>
      <p:sp>
        <p:nvSpPr>
          <p:cNvPr id="24" name="Shape 22"/>
          <p:cNvSpPr/>
          <p:nvPr/>
        </p:nvSpPr>
        <p:spPr>
          <a:xfrm>
            <a:off x="6364224" y="1737360"/>
            <a:ext cx="1005840" cy="274320"/>
          </a:xfrm>
          <a:prstGeom prst="roundRect">
            <a:avLst>
              <a:gd name="adj" fmla="val 20000"/>
            </a:avLst>
          </a:prstGeom>
          <a:solidFill>
            <a:srgbClr val="8B5CF6"/>
          </a:solidFill>
          <a:ln w="12700">
            <a:solidFill>
              <a:srgbClr val="8B5CF6"/>
            </a:solidFill>
            <a:prstDash val="solid"/>
          </a:ln>
        </p:spPr>
      </p:sp>
      <p:sp>
        <p:nvSpPr>
          <p:cNvPr id="25" name="Text 23"/>
          <p:cNvSpPr/>
          <p:nvPr/>
        </p:nvSpPr>
        <p:spPr>
          <a:xfrm>
            <a:off x="6364224" y="1737360"/>
            <a:ext cx="1005840" cy="274320"/>
          </a:xfrm>
          <a:prstGeom prst="rect">
            <a:avLst/>
          </a:prstGeom>
          <a:noFill/>
          <a:ln/>
        </p:spPr>
        <p:txBody>
          <a:bodyPr wrap="square" rtlCol="0" anchor="ctr"/>
          <a:lstStyle/>
          <a:p>
            <a:pPr marL="0" indent="0" algn="ctr">
              <a:buNone/>
            </a:pPr>
            <a:r>
              <a:rPr lang="en-US" sz="950" b="1" dirty="0">
                <a:solidFill>
                  <a:srgbClr val="F8FAFC"/>
                </a:solidFill>
                <a:latin typeface="Segoe UI" pitchFamily="34" charset="0"/>
                <a:ea typeface="Segoe UI" pitchFamily="34" charset="-122"/>
                <a:cs typeface="Segoe UI" pitchFamily="34" charset="-120"/>
              </a:rPr>
              <a:t>STAGE 3</a:t>
            </a:r>
            <a:endParaRPr lang="en-US" sz="950" dirty="0"/>
          </a:p>
        </p:txBody>
      </p:sp>
      <p:sp>
        <p:nvSpPr>
          <p:cNvPr id="26" name="Text 24"/>
          <p:cNvSpPr/>
          <p:nvPr/>
        </p:nvSpPr>
        <p:spPr>
          <a:xfrm>
            <a:off x="6364224" y="2121408"/>
            <a:ext cx="2286000" cy="347472"/>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Identify Problems</a:t>
            </a:r>
            <a:endParaRPr lang="en-US" sz="1500" dirty="0"/>
          </a:p>
        </p:txBody>
      </p:sp>
      <p:sp>
        <p:nvSpPr>
          <p:cNvPr id="27" name="Text 25"/>
          <p:cNvSpPr/>
          <p:nvPr/>
        </p:nvSpPr>
        <p:spPr>
          <a:xfrm>
            <a:off x="6364224" y="2468880"/>
            <a:ext cx="2286000" cy="256032"/>
          </a:xfrm>
          <a:prstGeom prst="rect">
            <a:avLst/>
          </a:prstGeom>
          <a:noFill/>
          <a:ln/>
        </p:spPr>
        <p:txBody>
          <a:bodyPr wrap="square" rtlCol="0" anchor="ctr"/>
          <a:lstStyle/>
          <a:p>
            <a:pPr marL="0" indent="0">
              <a:buNone/>
            </a:pPr>
            <a:r>
              <a:rPr lang="en-US" sz="1000" dirty="0">
                <a:solidFill>
                  <a:srgbClr val="C084FC"/>
                </a:solidFill>
                <a:latin typeface="Consolas" pitchFamily="34" charset="0"/>
                <a:ea typeface="Consolas" pitchFamily="34" charset="-122"/>
                <a:cs typeface="Consolas" pitchFamily="34" charset="-120"/>
              </a:rPr>
              <a:t>scripts/ai-diagnose.ts</a:t>
            </a:r>
            <a:endParaRPr lang="en-US" sz="1000" dirty="0"/>
          </a:p>
        </p:txBody>
      </p:sp>
      <p:sp>
        <p:nvSpPr>
          <p:cNvPr id="28" name="Text 26"/>
          <p:cNvSpPr/>
          <p:nvPr/>
        </p:nvSpPr>
        <p:spPr>
          <a:xfrm>
            <a:off x="6364224" y="2880360"/>
            <a:ext cx="2286000" cy="2926080"/>
          </a:xfrm>
          <a:prstGeom prst="rect">
            <a:avLst/>
          </a:prstGeom>
          <a:noFill/>
          <a:ln/>
        </p:spPr>
        <p:txBody>
          <a:bodyPr wrap="square" rtlCol="0" anchor="t"/>
          <a:lstStyle/>
          <a:p>
            <a:pPr marL="0" indent="0">
              <a:buNone/>
            </a:pPr>
            <a:r>
              <a:rPr lang="en-US" sz="1080" dirty="0">
                <a:solidFill>
                  <a:srgbClr val="E2E8F0"/>
                </a:solidFill>
                <a:latin typeface="Segoe UI" pitchFamily="34" charset="0"/>
                <a:ea typeface="Segoe UI" pitchFamily="34" charset="-122"/>
                <a:cs typeface="Segoe UI" pitchFamily="34" charset="-120"/>
              </a:rPr>
              <a:t>• Runs all 19 unit &amp; integration tests + tsc/vite build</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If any step fails, sends stack trace to Vertex AI</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Pinpoints exact root cause &amp; code fix</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Saves reports/problem-diagnosis.md</a:t>
            </a:r>
            <a:endParaRPr lang="en-US" sz="1080" dirty="0"/>
          </a:p>
        </p:txBody>
      </p:sp>
      <p:sp>
        <p:nvSpPr>
          <p:cNvPr id="29" name="Shape 27"/>
          <p:cNvSpPr/>
          <p:nvPr/>
        </p:nvSpPr>
        <p:spPr>
          <a:xfrm>
            <a:off x="8997696" y="1554480"/>
            <a:ext cx="2651760" cy="4480560"/>
          </a:xfrm>
          <a:prstGeom prst="roundRect">
            <a:avLst>
              <a:gd name="adj" fmla="val 4138"/>
            </a:avLst>
          </a:prstGeom>
          <a:solidFill>
            <a:srgbClr val="130B24"/>
          </a:solidFill>
          <a:ln w="16510">
            <a:solidFill>
              <a:srgbClr val="8B5CF6"/>
            </a:solidFill>
            <a:prstDash val="solid"/>
          </a:ln>
        </p:spPr>
      </p:sp>
      <p:sp>
        <p:nvSpPr>
          <p:cNvPr id="30" name="Shape 28"/>
          <p:cNvSpPr/>
          <p:nvPr/>
        </p:nvSpPr>
        <p:spPr>
          <a:xfrm>
            <a:off x="9180576" y="1737360"/>
            <a:ext cx="1005840" cy="274320"/>
          </a:xfrm>
          <a:prstGeom prst="roundRect">
            <a:avLst>
              <a:gd name="adj" fmla="val 20000"/>
            </a:avLst>
          </a:prstGeom>
          <a:solidFill>
            <a:srgbClr val="8B5CF6"/>
          </a:solidFill>
          <a:ln w="12700">
            <a:solidFill>
              <a:srgbClr val="8B5CF6"/>
            </a:solidFill>
            <a:prstDash val="solid"/>
          </a:ln>
        </p:spPr>
      </p:sp>
      <p:sp>
        <p:nvSpPr>
          <p:cNvPr id="31" name="Text 29"/>
          <p:cNvSpPr/>
          <p:nvPr/>
        </p:nvSpPr>
        <p:spPr>
          <a:xfrm>
            <a:off x="9180576" y="1737360"/>
            <a:ext cx="1005840" cy="274320"/>
          </a:xfrm>
          <a:prstGeom prst="rect">
            <a:avLst/>
          </a:prstGeom>
          <a:noFill/>
          <a:ln/>
        </p:spPr>
        <p:txBody>
          <a:bodyPr wrap="square" rtlCol="0" anchor="ctr"/>
          <a:lstStyle/>
          <a:p>
            <a:pPr marL="0" indent="0" algn="ctr">
              <a:buNone/>
            </a:pPr>
            <a:r>
              <a:rPr lang="en-US" sz="950" b="1" dirty="0">
                <a:solidFill>
                  <a:srgbClr val="F8FAFC"/>
                </a:solidFill>
                <a:latin typeface="Segoe UI" pitchFamily="34" charset="0"/>
                <a:ea typeface="Segoe UI" pitchFamily="34" charset="-122"/>
                <a:cs typeface="Segoe UI" pitchFamily="34" charset="-120"/>
              </a:rPr>
              <a:t>STAGE 4</a:t>
            </a:r>
            <a:endParaRPr lang="en-US" sz="950" dirty="0"/>
          </a:p>
        </p:txBody>
      </p:sp>
      <p:sp>
        <p:nvSpPr>
          <p:cNvPr id="32" name="Text 30"/>
          <p:cNvSpPr/>
          <p:nvPr/>
        </p:nvSpPr>
        <p:spPr>
          <a:xfrm>
            <a:off x="9180576" y="2121408"/>
            <a:ext cx="2286000" cy="347472"/>
          </a:xfrm>
          <a:prstGeom prst="rect">
            <a:avLst/>
          </a:prstGeom>
          <a:noFill/>
          <a:ln/>
        </p:spPr>
        <p:txBody>
          <a:bodyPr wrap="square" rtlCol="0" anchor="ctr"/>
          <a:lstStyle/>
          <a:p>
            <a:pPr marL="0" indent="0">
              <a:buNone/>
            </a:pPr>
            <a:r>
              <a:rPr lang="en-US" sz="1500" b="1" dirty="0">
                <a:solidFill>
                  <a:srgbClr val="F8FAFC"/>
                </a:solidFill>
                <a:latin typeface="Segoe UI" pitchFamily="34" charset="0"/>
                <a:ea typeface="Segoe UI" pitchFamily="34" charset="-122"/>
                <a:cs typeface="Segoe UI" pitchFamily="34" charset="-120"/>
              </a:rPr>
              <a:t>Cloud Run Deploy</a:t>
            </a:r>
            <a:endParaRPr lang="en-US" sz="1500" dirty="0"/>
          </a:p>
        </p:txBody>
      </p:sp>
      <p:sp>
        <p:nvSpPr>
          <p:cNvPr id="33" name="Text 31"/>
          <p:cNvSpPr/>
          <p:nvPr/>
        </p:nvSpPr>
        <p:spPr>
          <a:xfrm>
            <a:off x="9180576" y="2468880"/>
            <a:ext cx="2286000" cy="256032"/>
          </a:xfrm>
          <a:prstGeom prst="rect">
            <a:avLst/>
          </a:prstGeom>
          <a:noFill/>
          <a:ln/>
        </p:spPr>
        <p:txBody>
          <a:bodyPr wrap="square" rtlCol="0" anchor="ctr"/>
          <a:lstStyle/>
          <a:p>
            <a:pPr marL="0" indent="0">
              <a:buNone/>
            </a:pPr>
            <a:r>
              <a:rPr lang="en-US" sz="1000" dirty="0">
                <a:solidFill>
                  <a:srgbClr val="C084FC"/>
                </a:solidFill>
                <a:latin typeface="Consolas" pitchFamily="34" charset="0"/>
                <a:ea typeface="Consolas" pitchFamily="34" charset="-122"/>
                <a:cs typeface="Consolas" pitchFamily="34" charset="-120"/>
              </a:rPr>
              <a:t>gcloud run deploy</a:t>
            </a:r>
            <a:endParaRPr lang="en-US" sz="1000" dirty="0"/>
          </a:p>
        </p:txBody>
      </p:sp>
      <p:sp>
        <p:nvSpPr>
          <p:cNvPr id="34" name="Text 32"/>
          <p:cNvSpPr/>
          <p:nvPr/>
        </p:nvSpPr>
        <p:spPr>
          <a:xfrm>
            <a:off x="9180576" y="2880360"/>
            <a:ext cx="2286000" cy="2926080"/>
          </a:xfrm>
          <a:prstGeom prst="rect">
            <a:avLst/>
          </a:prstGeom>
          <a:noFill/>
          <a:ln/>
        </p:spPr>
        <p:txBody>
          <a:bodyPr wrap="square" rtlCol="0" anchor="t"/>
          <a:lstStyle/>
          <a:p>
            <a:pPr marL="0" indent="0">
              <a:buNone/>
            </a:pPr>
            <a:r>
              <a:rPr lang="en-US" sz="1080" dirty="0">
                <a:solidFill>
                  <a:srgbClr val="E2E8F0"/>
                </a:solidFill>
                <a:latin typeface="Segoe UI" pitchFamily="34" charset="0"/>
                <a:ea typeface="Segoe UI" pitchFamily="34" charset="-122"/>
                <a:cs typeface="Segoe UI" pitchFamily="34" charset="-120"/>
              </a:rPr>
              <a:t>• Packages pre-built dist/ into slim Node 22 Alpine image</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Pushes to Google Artifact Registry</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Deploys serverless container to us-central1</a:t>
            </a:r>
            <a:endParaRPr lang="en-US" sz="1080" dirty="0"/>
          </a:p>
          <a:p>
            <a:pPr marL="0" indent="0">
              <a:buNone/>
            </a:pPr>
            <a:endParaRPr lang="en-US" sz="1080" dirty="0"/>
          </a:p>
          <a:p>
            <a:pPr marL="0" indent="0">
              <a:buNone/>
            </a:pPr>
            <a:r>
              <a:rPr lang="en-US" sz="1080" dirty="0">
                <a:solidFill>
                  <a:srgbClr val="E2E8F0"/>
                </a:solidFill>
                <a:latin typeface="Segoe UI" pitchFamily="34" charset="0"/>
                <a:ea typeface="Segoe UI" pitchFamily="34" charset="-122"/>
                <a:cs typeface="Segoe UI" pitchFamily="34" charset="-120"/>
              </a:rPr>
              <a:t>• Routes 100% traffic to live HTTPS URL</a:t>
            </a:r>
            <a:endParaRPr lang="en-US"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10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III • REAL PIPELINE OUTPUT</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When Vertex AI Blocked Our Deployment (And Caught Real Bugs!)</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Actual terminal output from our first live run of npm run ai:review on AICRM.</a:t>
            </a:r>
            <a:endParaRPr lang="en-US" sz="1250" dirty="0"/>
          </a:p>
        </p:txBody>
      </p:sp>
      <p:sp>
        <p:nvSpPr>
          <p:cNvPr id="11" name="Shape 9"/>
          <p:cNvSpPr/>
          <p:nvPr/>
        </p:nvSpPr>
        <p:spPr>
          <a:xfrm>
            <a:off x="548640" y="1508760"/>
            <a:ext cx="6675120" cy="4572000"/>
          </a:xfrm>
          <a:prstGeom prst="roundRect">
            <a:avLst>
              <a:gd name="adj" fmla="val 2000"/>
            </a:avLst>
          </a:prstGeom>
          <a:solidFill>
            <a:srgbClr val="06030D"/>
          </a:solidFill>
          <a:ln w="17780">
            <a:solidFill>
              <a:srgbClr val="F43F5E"/>
            </a:solidFill>
            <a:prstDash val="solid"/>
          </a:ln>
        </p:spPr>
      </p:sp>
      <p:sp>
        <p:nvSpPr>
          <p:cNvPr id="12" name="Text 10"/>
          <p:cNvSpPr/>
          <p:nvPr/>
        </p:nvSpPr>
        <p:spPr>
          <a:xfrm>
            <a:off x="777240" y="1664208"/>
            <a:ext cx="6217920" cy="292608"/>
          </a:xfrm>
          <a:prstGeom prst="rect">
            <a:avLst/>
          </a:prstGeom>
          <a:noFill/>
          <a:ln/>
        </p:spPr>
        <p:txBody>
          <a:bodyPr wrap="square" rtlCol="0" anchor="ctr"/>
          <a:lstStyle/>
          <a:p>
            <a:pPr marL="0" indent="0">
              <a:buNone/>
            </a:pPr>
            <a:r>
              <a:rPr lang="en-US" sz="1050" b="1" dirty="0">
                <a:solidFill>
                  <a:srgbClr val="C084FC"/>
                </a:solidFill>
                <a:latin typeface="Consolas" pitchFamily="34" charset="0"/>
                <a:ea typeface="Consolas" pitchFamily="34" charset="-122"/>
                <a:cs typeface="Consolas" pitchFamily="34" charset="-120"/>
              </a:rPr>
              <a:t>Terminal — npm run ai:review (gemini-3-flash-preview)</a:t>
            </a:r>
            <a:endParaRPr lang="en-US" sz="1050" dirty="0"/>
          </a:p>
        </p:txBody>
      </p:sp>
      <p:sp>
        <p:nvSpPr>
          <p:cNvPr id="13" name="Text 11"/>
          <p:cNvSpPr/>
          <p:nvPr/>
        </p:nvSpPr>
        <p:spPr>
          <a:xfrm>
            <a:off x="777240" y="2029968"/>
            <a:ext cx="6217920" cy="3840480"/>
          </a:xfrm>
          <a:prstGeom prst="rect">
            <a:avLst/>
          </a:prstGeom>
          <a:noFill/>
          <a:ln/>
        </p:spPr>
        <p:txBody>
          <a:bodyPr wrap="square" rtlCol="0" anchor="t"/>
          <a:lstStyle/>
          <a:p>
            <a:pPr marL="0" indent="0">
              <a:buNone/>
            </a:pPr>
            <a:r>
              <a:rPr lang="en-US" sz="1020" dirty="0">
                <a:solidFill>
                  <a:srgbClr val="E2E8F0"/>
                </a:solidFill>
                <a:latin typeface="Consolas" pitchFamily="34" charset="0"/>
                <a:ea typeface="Consolas" pitchFamily="34" charset="-122"/>
                <a:cs typeface="Consolas" pitchFamily="34" charset="-120"/>
              </a:rPr>
              <a:t>Connecting to Google Cloud Vertex AI (gen-lang-client-0251338670 / global)...</a:t>
            </a:r>
            <a:endParaRPr lang="en-US" sz="1020" dirty="0"/>
          </a:p>
          <a:p>
            <a:pPr marL="0" indent="0">
              <a:buNone/>
            </a:pP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Readiness Score: 62/100 | Status: BLOCKED</a:t>
            </a:r>
            <a:endParaRPr lang="en-US" sz="1020" dirty="0"/>
          </a:p>
          <a:p>
            <a:pPr marL="0" indent="0">
              <a:buNone/>
            </a:pP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Findings: 1 CRITICAL, 3 WARNING, 2 SUGGESTION</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[CRITICAL] (server/src/storage.ts)</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Data Loss via Concurrent Write Race Condition</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-&gt; Implement a mutex/lock or promise queue in ListStorage so</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concurrent enrichment requests do not overwrite lists.json.</a:t>
            </a:r>
            <a:endParaRPr lang="en-US" sz="1020" dirty="0"/>
          </a:p>
          <a:p>
            <a:pPr marL="0" indent="0">
              <a:buNone/>
            </a:pP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[WARNING] (server/src/gemini.ts)</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Specification Non-Compliance: Missing Search Grounding</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-&gt; SPEC.md specifies Gemini Search Grounding, but gemini.ts</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uses Google Places API (New) + Website Scraping.</a:t>
            </a:r>
            <a:endParaRPr lang="en-US" sz="1020" dirty="0"/>
          </a:p>
          <a:p>
            <a:pPr marL="0" indent="0">
              <a:buNone/>
            </a:pP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[WARNING] (server/src/app.ts)</a:t>
            </a: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  Hardcoded Default JWT Secret Fallback</a:t>
            </a:r>
            <a:endParaRPr lang="en-US" sz="1020" dirty="0"/>
          </a:p>
          <a:p>
            <a:pPr marL="0" indent="0">
              <a:buNone/>
            </a:pPr>
            <a:endParaRPr lang="en-US" sz="1020" dirty="0"/>
          </a:p>
          <a:p>
            <a:pPr marL="0" indent="0">
              <a:buNone/>
            </a:pPr>
            <a:r>
              <a:rPr lang="en-US" sz="1020" dirty="0">
                <a:solidFill>
                  <a:srgbClr val="E2E8F0"/>
                </a:solidFill>
                <a:latin typeface="Consolas" pitchFamily="34" charset="0"/>
                <a:ea typeface="Consolas" pitchFamily="34" charset="-122"/>
                <a:cs typeface="Consolas" pitchFamily="34" charset="-120"/>
              </a:rPr>
              <a:t>Deployment blocked due to CRITICAL code review findings.</a:t>
            </a:r>
            <a:endParaRPr lang="en-US" sz="1020" dirty="0"/>
          </a:p>
        </p:txBody>
      </p:sp>
      <p:sp>
        <p:nvSpPr>
          <p:cNvPr id="14" name="Shape 12"/>
          <p:cNvSpPr/>
          <p:nvPr/>
        </p:nvSpPr>
        <p:spPr>
          <a:xfrm>
            <a:off x="7452360" y="1508760"/>
            <a:ext cx="4187952" cy="2148840"/>
          </a:xfrm>
          <a:prstGeom prst="roundRect">
            <a:avLst>
              <a:gd name="adj" fmla="val 4255"/>
            </a:avLst>
          </a:prstGeom>
          <a:solidFill>
            <a:srgbClr val="130B24"/>
          </a:solidFill>
          <a:ln w="15240">
            <a:solidFill>
              <a:srgbClr val="8B5CF6"/>
            </a:solidFill>
            <a:prstDash val="solid"/>
          </a:ln>
        </p:spPr>
      </p:sp>
      <p:sp>
        <p:nvSpPr>
          <p:cNvPr id="15" name="Text 13"/>
          <p:cNvSpPr/>
          <p:nvPr/>
        </p:nvSpPr>
        <p:spPr>
          <a:xfrm>
            <a:off x="7680960" y="1691640"/>
            <a:ext cx="3749040" cy="320040"/>
          </a:xfrm>
          <a:prstGeom prst="rect">
            <a:avLst/>
          </a:prstGeom>
          <a:noFill/>
          <a:ln/>
        </p:spPr>
        <p:txBody>
          <a:bodyPr wrap="square" rtlCol="0" anchor="ctr"/>
          <a:lstStyle/>
          <a:p>
            <a:pPr marL="0" indent="0">
              <a:buNone/>
            </a:pPr>
            <a:r>
              <a:rPr lang="en-US" sz="1400" b="1" dirty="0">
                <a:solidFill>
                  <a:srgbClr val="F8FAFC"/>
                </a:solidFill>
                <a:latin typeface="Segoe UI" pitchFamily="34" charset="0"/>
                <a:ea typeface="Segoe UI" pitchFamily="34" charset="-122"/>
                <a:cs typeface="Segoe UI" pitchFamily="34" charset="-120"/>
              </a:rPr>
              <a:t>Why This Was a Huge Win</a:t>
            </a:r>
            <a:endParaRPr lang="en-US" sz="1400" dirty="0"/>
          </a:p>
        </p:txBody>
      </p:sp>
      <p:sp>
        <p:nvSpPr>
          <p:cNvPr id="16" name="Text 14"/>
          <p:cNvSpPr/>
          <p:nvPr/>
        </p:nvSpPr>
        <p:spPr>
          <a:xfrm>
            <a:off x="7680960" y="2084832"/>
            <a:ext cx="3749040" cy="141732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 Caught a real race condition when clicking "Enrich" on multiple leads simultaneously.</a:t>
            </a:r>
            <a:endParaRPr lang="en-US" sz="1100" dirty="0"/>
          </a:p>
          <a:p>
            <a:pPr marL="0" indent="0">
              <a:buNone/>
            </a:pPr>
            <a:r>
              <a:rPr lang="en-US" sz="1100" dirty="0">
                <a:solidFill>
                  <a:srgbClr val="E2E8F0"/>
                </a:solidFill>
                <a:latin typeface="Segoe UI" pitchFamily="34" charset="0"/>
                <a:ea typeface="Segoe UI" pitchFamily="34" charset="-122"/>
                <a:cs typeface="Segoe UI" pitchFamily="34" charset="-120"/>
              </a:rPr>
              <a:t>• Caught spec drift where code evolved faster than SPEC.md.</a:t>
            </a:r>
            <a:endParaRPr lang="en-US" sz="1100" dirty="0"/>
          </a:p>
          <a:p>
            <a:pPr marL="0" indent="0">
              <a:buNone/>
            </a:pPr>
            <a:r>
              <a:rPr lang="en-US" sz="1100" dirty="0">
                <a:solidFill>
                  <a:srgbClr val="E2E8F0"/>
                </a:solidFill>
                <a:latin typeface="Segoe UI" pitchFamily="34" charset="0"/>
                <a:ea typeface="Segoe UI" pitchFamily="34" charset="-122"/>
                <a:cs typeface="Segoe UI" pitchFamily="34" charset="-120"/>
              </a:rPr>
              <a:t>• Proved the AI quality gate actually stops bad releases!</a:t>
            </a:r>
            <a:endParaRPr lang="en-US" sz="1100" dirty="0"/>
          </a:p>
        </p:txBody>
      </p:sp>
      <p:sp>
        <p:nvSpPr>
          <p:cNvPr id="17" name="Shape 15"/>
          <p:cNvSpPr/>
          <p:nvPr/>
        </p:nvSpPr>
        <p:spPr>
          <a:xfrm>
            <a:off x="7452360" y="3886200"/>
            <a:ext cx="4187952" cy="2194560"/>
          </a:xfrm>
          <a:prstGeom prst="roundRect">
            <a:avLst>
              <a:gd name="adj" fmla="val 4167"/>
            </a:avLst>
          </a:prstGeom>
          <a:solidFill>
            <a:srgbClr val="1C1036"/>
          </a:solidFill>
          <a:ln w="15240">
            <a:solidFill>
              <a:srgbClr val="10B981"/>
            </a:solidFill>
            <a:prstDash val="solid"/>
          </a:ln>
        </p:spPr>
      </p:sp>
      <p:sp>
        <p:nvSpPr>
          <p:cNvPr id="18" name="Text 16"/>
          <p:cNvSpPr/>
          <p:nvPr/>
        </p:nvSpPr>
        <p:spPr>
          <a:xfrm>
            <a:off x="7680960" y="4069080"/>
            <a:ext cx="3749040" cy="320040"/>
          </a:xfrm>
          <a:prstGeom prst="rect">
            <a:avLst/>
          </a:prstGeom>
          <a:noFill/>
          <a:ln/>
        </p:spPr>
        <p:txBody>
          <a:bodyPr wrap="square" rtlCol="0" anchor="ctr"/>
          <a:lstStyle/>
          <a:p>
            <a:pPr marL="0" indent="0">
              <a:buNone/>
            </a:pPr>
            <a:r>
              <a:rPr lang="en-US" sz="1400" b="1" dirty="0">
                <a:solidFill>
                  <a:srgbClr val="10B981"/>
                </a:solidFill>
                <a:latin typeface="Segoe UI" pitchFamily="34" charset="0"/>
                <a:ea typeface="Segoe UI" pitchFamily="34" charset="-122"/>
                <a:cs typeface="Segoe UI" pitchFamily="34" charset="-120"/>
              </a:rPr>
              <a:t>Stage 2 Auto-Generated 10 Tests!</a:t>
            </a:r>
            <a:endParaRPr lang="en-US" sz="1400" dirty="0"/>
          </a:p>
        </p:txBody>
      </p:sp>
      <p:sp>
        <p:nvSpPr>
          <p:cNvPr id="19" name="Text 17"/>
          <p:cNvSpPr/>
          <p:nvPr/>
        </p:nvSpPr>
        <p:spPr>
          <a:xfrm>
            <a:off x="7680960" y="4462272"/>
            <a:ext cx="3749040" cy="1463040"/>
          </a:xfrm>
          <a:prstGeom prst="rect">
            <a:avLst/>
          </a:prstGeom>
          <a:noFill/>
          <a:ln/>
        </p:spPr>
        <p:txBody>
          <a:bodyPr wrap="square" rtlCol="0" anchor="ctr"/>
          <a:lstStyle/>
          <a:p>
            <a:pPr marL="0" indent="0">
              <a:buNone/>
            </a:pPr>
            <a:r>
              <a:rPr lang="en-US" sz="1100" dirty="0">
                <a:solidFill>
                  <a:srgbClr val="E2E8F0"/>
                </a:solidFill>
                <a:latin typeface="Segoe UI" pitchFamily="34" charset="0"/>
                <a:ea typeface="Segoe UI" pitchFamily="34" charset="-122"/>
                <a:cs typeface="Segoe UI" pitchFamily="34" charset="-120"/>
              </a:rPr>
              <a:t>• Vertex AI wrote server/tests/vertex-generated.test.ts</a:t>
            </a:r>
            <a:endParaRPr lang="en-US" sz="1100" dirty="0"/>
          </a:p>
          <a:p>
            <a:pPr marL="0" indent="0">
              <a:buNone/>
            </a:pPr>
            <a:r>
              <a:rPr lang="en-US" sz="1100" dirty="0">
                <a:solidFill>
                  <a:srgbClr val="E2E8F0"/>
                </a:solidFill>
                <a:latin typeface="Segoe UI" pitchFamily="34" charset="0"/>
                <a:ea typeface="Segoe UI" pitchFamily="34" charset="-122"/>
                <a:cs typeface="Segoe UI" pitchFamily="34" charset="-120"/>
              </a:rPr>
              <a:t>• 10 new Vitest + Supertest scenarios (malformed JWTs, 404s, case-insensitive duplicate prevention, CSV escaping)</a:t>
            </a:r>
            <a:endParaRPr lang="en-US" sz="1100" dirty="0"/>
          </a:p>
          <a:p>
            <a:pPr marL="0" indent="0">
              <a:buNone/>
            </a:pPr>
            <a:r>
              <a:rPr lang="en-US" sz="1100" dirty="0">
                <a:solidFill>
                  <a:srgbClr val="E2E8F0"/>
                </a:solidFill>
                <a:latin typeface="Segoe UI" pitchFamily="34" charset="0"/>
                <a:ea typeface="Segoe UI" pitchFamily="34" charset="-122"/>
                <a:cs typeface="Segoe UI" pitchFamily="34" charset="-120"/>
              </a:rPr>
              <a:t>• All 19 tests across 3 suites ran &amp; passed in 1.09s!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514"/>
        </a:solidFill>
        <a:effectLst/>
      </p:bgPr>
    </p:bg>
    <p:spTree>
      <p:nvGrpSpPr>
        <p:cNvPr id="1" name="">
          <a:extLst>
            <a:ext uri="{FF2B5EF4-FFF2-40B4-BE49-F238E27FC236}">
              <a16:creationId xmlns:a16="http://schemas.microsoft.com/office/drawing/2014/main" id="{4D1579A5-9884-C509-D280-691242C391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DBD3BCF-E9CA-0061-1F99-DA8E9D25A81C}"/>
              </a:ext>
            </a:extLst>
          </p:cNvPr>
          <p:cNvSpPr/>
          <p:nvPr/>
        </p:nvSpPr>
        <p:spPr>
          <a:xfrm>
            <a:off x="0" y="0"/>
            <a:ext cx="12192000" cy="73152"/>
          </a:xfrm>
          <a:prstGeom prst="rect">
            <a:avLst/>
          </a:prstGeom>
          <a:solidFill>
            <a:srgbClr val="8B5CF6"/>
          </a:solidFill>
          <a:ln w="12700">
            <a:solidFill>
              <a:srgbClr val="8B5CF6"/>
            </a:solidFill>
            <a:prstDash val="solid"/>
          </a:ln>
        </p:spPr>
      </p:sp>
      <p:sp>
        <p:nvSpPr>
          <p:cNvPr id="3" name="Shape 1">
            <a:extLst>
              <a:ext uri="{FF2B5EF4-FFF2-40B4-BE49-F238E27FC236}">
                <a16:creationId xmlns:a16="http://schemas.microsoft.com/office/drawing/2014/main" id="{01184CC6-640C-B8B9-364A-F139C7592821}"/>
              </a:ext>
            </a:extLst>
          </p:cNvPr>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a:extLst>
              <a:ext uri="{FF2B5EF4-FFF2-40B4-BE49-F238E27FC236}">
                <a16:creationId xmlns:a16="http://schemas.microsoft.com/office/drawing/2014/main" id="{6C31761F-86CB-12D2-2A15-84600988FEEE}"/>
              </a:ext>
            </a:extLst>
          </p:cNvPr>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a:extLst>
              <a:ext uri="{FF2B5EF4-FFF2-40B4-BE49-F238E27FC236}">
                <a16:creationId xmlns:a16="http://schemas.microsoft.com/office/drawing/2014/main" id="{8E2828B0-AB6C-04AF-3DA8-3899AE008949}"/>
              </a:ext>
            </a:extLst>
          </p:cNvPr>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a:extLst>
              <a:ext uri="{FF2B5EF4-FFF2-40B4-BE49-F238E27FC236}">
                <a16:creationId xmlns:a16="http://schemas.microsoft.com/office/drawing/2014/main" id="{55098D5F-7B58-1A40-F9D3-60E2209511AF}"/>
              </a:ext>
            </a:extLst>
          </p:cNvPr>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a:extLst>
              <a:ext uri="{FF2B5EF4-FFF2-40B4-BE49-F238E27FC236}">
                <a16:creationId xmlns:a16="http://schemas.microsoft.com/office/drawing/2014/main" id="{9F9CB120-A819-0D3A-47EA-5FE2B1BE1856}"/>
              </a:ext>
            </a:extLst>
          </p:cNvPr>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4 / 12</a:t>
            </a:r>
            <a:endParaRPr lang="en-US" sz="900" dirty="0"/>
          </a:p>
        </p:txBody>
      </p:sp>
      <p:sp>
        <p:nvSpPr>
          <p:cNvPr id="8" name="Text 6">
            <a:extLst>
              <a:ext uri="{FF2B5EF4-FFF2-40B4-BE49-F238E27FC236}">
                <a16:creationId xmlns:a16="http://schemas.microsoft.com/office/drawing/2014/main" id="{D3302637-DDD6-5A02-2F65-35B5CD3CEE15}"/>
              </a:ext>
            </a:extLst>
          </p:cNvPr>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 • THE APPLICATION WE BUILT</a:t>
            </a:r>
            <a:endParaRPr lang="en-US" sz="1000" dirty="0"/>
          </a:p>
        </p:txBody>
      </p:sp>
      <p:sp>
        <p:nvSpPr>
          <p:cNvPr id="9" name="Text 7">
            <a:extLst>
              <a:ext uri="{FF2B5EF4-FFF2-40B4-BE49-F238E27FC236}">
                <a16:creationId xmlns:a16="http://schemas.microsoft.com/office/drawing/2014/main" id="{C83DB95A-F8CE-FD91-5928-677044AC550E}"/>
              </a:ext>
            </a:extLst>
          </p:cNvPr>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Pause…</a:t>
            </a:r>
            <a:endParaRPr lang="en-US" sz="2500" dirty="0"/>
          </a:p>
        </p:txBody>
      </p:sp>
      <p:sp>
        <p:nvSpPr>
          <p:cNvPr id="11" name="Shape 9">
            <a:extLst>
              <a:ext uri="{FF2B5EF4-FFF2-40B4-BE49-F238E27FC236}">
                <a16:creationId xmlns:a16="http://schemas.microsoft.com/office/drawing/2014/main" id="{7FBF2C95-AD47-0832-0630-72452A27466D}"/>
              </a:ext>
            </a:extLst>
          </p:cNvPr>
          <p:cNvSpPr/>
          <p:nvPr/>
        </p:nvSpPr>
        <p:spPr>
          <a:xfrm>
            <a:off x="704556" y="1508760"/>
            <a:ext cx="11094720" cy="4572000"/>
          </a:xfrm>
          <a:prstGeom prst="roundRect">
            <a:avLst>
              <a:gd name="adj" fmla="val 2000"/>
            </a:avLst>
          </a:prstGeom>
          <a:solidFill>
            <a:srgbClr val="06030D"/>
          </a:solidFill>
          <a:ln w="19050">
            <a:solidFill>
              <a:srgbClr val="4C1D95"/>
            </a:solidFill>
            <a:prstDash val="solid"/>
          </a:ln>
        </p:spPr>
      </p:sp>
      <p:sp>
        <p:nvSpPr>
          <p:cNvPr id="26" name="TextBox 25">
            <a:extLst>
              <a:ext uri="{FF2B5EF4-FFF2-40B4-BE49-F238E27FC236}">
                <a16:creationId xmlns:a16="http://schemas.microsoft.com/office/drawing/2014/main" id="{496B98E0-3E2E-248F-D123-66E3C2DA3074}"/>
              </a:ext>
            </a:extLst>
          </p:cNvPr>
          <p:cNvSpPr txBox="1"/>
          <p:nvPr/>
        </p:nvSpPr>
        <p:spPr>
          <a:xfrm>
            <a:off x="838199" y="1901952"/>
            <a:ext cx="10961077" cy="923330"/>
          </a:xfrm>
          <a:prstGeom prst="rect">
            <a:avLst/>
          </a:prstGeom>
          <a:noFill/>
        </p:spPr>
        <p:txBody>
          <a:bodyPr wrap="square" rtlCol="0">
            <a:spAutoFit/>
          </a:bodyPr>
          <a:lstStyle/>
          <a:p>
            <a:r>
              <a:rPr lang="en-US" sz="5400" dirty="0">
                <a:solidFill>
                  <a:schemeClr val="bg1"/>
                </a:solidFill>
              </a:rPr>
              <a:t>Wanna See Vertex Run?</a:t>
            </a:r>
          </a:p>
        </p:txBody>
      </p:sp>
    </p:spTree>
    <p:extLst>
      <p:ext uri="{BB962C8B-B14F-4D97-AF65-F5344CB8AC3E}">
        <p14:creationId xmlns:p14="http://schemas.microsoft.com/office/powerpoint/2010/main" val="385100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11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ACT III • PRODUCTION DEPLOYMENT</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Making It Fast &amp; Shipping Live to Google Cloud Run</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How we cut pipeline latency from 3+ minutes down to seconds for live demos.</a:t>
            </a:r>
            <a:endParaRPr lang="en-US" sz="1250" dirty="0"/>
          </a:p>
        </p:txBody>
      </p:sp>
      <p:sp>
        <p:nvSpPr>
          <p:cNvPr id="11" name="Shape 9"/>
          <p:cNvSpPr/>
          <p:nvPr/>
        </p:nvSpPr>
        <p:spPr>
          <a:xfrm>
            <a:off x="548640" y="1554480"/>
            <a:ext cx="3566160" cy="2834640"/>
          </a:xfrm>
          <a:prstGeom prst="roundRect">
            <a:avLst>
              <a:gd name="adj" fmla="val 3871"/>
            </a:avLst>
          </a:prstGeom>
          <a:solidFill>
            <a:srgbClr val="130B24"/>
          </a:solidFill>
          <a:ln w="16510">
            <a:solidFill>
              <a:srgbClr val="A855F7"/>
            </a:solidFill>
            <a:prstDash val="solid"/>
          </a:ln>
        </p:spPr>
      </p:sp>
      <p:sp>
        <p:nvSpPr>
          <p:cNvPr id="12" name="Text 10"/>
          <p:cNvSpPr/>
          <p:nvPr/>
        </p:nvSpPr>
        <p:spPr>
          <a:xfrm>
            <a:off x="777240" y="1783080"/>
            <a:ext cx="3108960" cy="411480"/>
          </a:xfrm>
          <a:prstGeom prst="rect">
            <a:avLst/>
          </a:prstGeom>
          <a:noFill/>
          <a:ln/>
        </p:spPr>
        <p:txBody>
          <a:bodyPr wrap="square" rtlCol="0" anchor="ctr"/>
          <a:lstStyle/>
          <a:p>
            <a:pPr marL="0" indent="0">
              <a:buNone/>
            </a:pPr>
            <a:r>
              <a:rPr lang="en-US" sz="1800" b="1" dirty="0">
                <a:solidFill>
                  <a:srgbClr val="C084FC"/>
                </a:solidFill>
                <a:latin typeface="Segoe UI" pitchFamily="34" charset="0"/>
                <a:ea typeface="Segoe UI" pitchFamily="34" charset="-122"/>
                <a:cs typeface="Segoe UI" pitchFamily="34" charset="-120"/>
              </a:rPr>
              <a:t>5x Faster AI Calls</a:t>
            </a:r>
            <a:endParaRPr lang="en-US" sz="1800" dirty="0"/>
          </a:p>
        </p:txBody>
      </p:sp>
      <p:sp>
        <p:nvSpPr>
          <p:cNvPr id="13" name="Text 11"/>
          <p:cNvSpPr/>
          <p:nvPr/>
        </p:nvSpPr>
        <p:spPr>
          <a:xfrm>
            <a:off x="777240" y="2286000"/>
            <a:ext cx="3108960" cy="365760"/>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thinkingBudget: 0 on Gemini 3 Flash</a:t>
            </a:r>
            <a:endParaRPr lang="en-US" sz="1350" dirty="0"/>
          </a:p>
        </p:txBody>
      </p:sp>
      <p:sp>
        <p:nvSpPr>
          <p:cNvPr id="14" name="Text 12"/>
          <p:cNvSpPr/>
          <p:nvPr/>
        </p:nvSpPr>
        <p:spPr>
          <a:xfrm>
            <a:off x="777240" y="2743200"/>
            <a:ext cx="3108960" cy="1463040"/>
          </a:xfrm>
          <a:prstGeom prst="rect">
            <a:avLst/>
          </a:prstGeom>
          <a:noFill/>
          <a:ln/>
        </p:spPr>
        <p:txBody>
          <a:bodyPr wrap="square" rtlCol="0" anchor="ctr"/>
          <a:lstStyle/>
          <a:p>
            <a:pPr marL="0" indent="0">
              <a:buNone/>
            </a:pPr>
            <a:r>
              <a:rPr lang="en-US" sz="1120" dirty="0">
                <a:solidFill>
                  <a:srgbClr val="E2E8F0"/>
                </a:solidFill>
                <a:latin typeface="Segoe UI" pitchFamily="34" charset="0"/>
                <a:ea typeface="Segoe UI" pitchFamily="34" charset="-122"/>
                <a:cs typeface="Segoe UI" pitchFamily="34" charset="-120"/>
              </a:rPr>
              <a:t>Configured thinkingConfig: { thinkingBudget: 0 } in ai-review.ts &amp; ai-generate-tests.ts so structured JSON responses return in ~5 seconds.</a:t>
            </a:r>
            <a:endParaRPr lang="en-US" sz="1120" dirty="0"/>
          </a:p>
        </p:txBody>
      </p:sp>
      <p:sp>
        <p:nvSpPr>
          <p:cNvPr id="15" name="Shape 13"/>
          <p:cNvSpPr/>
          <p:nvPr/>
        </p:nvSpPr>
        <p:spPr>
          <a:xfrm>
            <a:off x="4297680" y="1554480"/>
            <a:ext cx="3566160" cy="2834640"/>
          </a:xfrm>
          <a:prstGeom prst="roundRect">
            <a:avLst>
              <a:gd name="adj" fmla="val 3871"/>
            </a:avLst>
          </a:prstGeom>
          <a:solidFill>
            <a:srgbClr val="130B24"/>
          </a:solidFill>
          <a:ln w="16510">
            <a:solidFill>
              <a:srgbClr val="A855F7"/>
            </a:solidFill>
            <a:prstDash val="solid"/>
          </a:ln>
        </p:spPr>
      </p:sp>
      <p:sp>
        <p:nvSpPr>
          <p:cNvPr id="16" name="Text 14"/>
          <p:cNvSpPr/>
          <p:nvPr/>
        </p:nvSpPr>
        <p:spPr>
          <a:xfrm>
            <a:off x="4526280" y="1783080"/>
            <a:ext cx="3108960" cy="411480"/>
          </a:xfrm>
          <a:prstGeom prst="rect">
            <a:avLst/>
          </a:prstGeom>
          <a:noFill/>
          <a:ln/>
        </p:spPr>
        <p:txBody>
          <a:bodyPr wrap="square" rtlCol="0" anchor="ctr"/>
          <a:lstStyle/>
          <a:p>
            <a:pPr marL="0" indent="0">
              <a:buNone/>
            </a:pPr>
            <a:r>
              <a:rPr lang="en-US" sz="1800" b="1" dirty="0">
                <a:solidFill>
                  <a:srgbClr val="C084FC"/>
                </a:solidFill>
                <a:latin typeface="Segoe UI" pitchFamily="34" charset="0"/>
                <a:ea typeface="Segoe UI" pitchFamily="34" charset="-122"/>
                <a:cs typeface="Segoe UI" pitchFamily="34" charset="-120"/>
              </a:rPr>
              <a:t>60s Faster Cloud Build</a:t>
            </a:r>
            <a:endParaRPr lang="en-US" sz="1800" dirty="0"/>
          </a:p>
        </p:txBody>
      </p:sp>
      <p:sp>
        <p:nvSpPr>
          <p:cNvPr id="17" name="Text 15"/>
          <p:cNvSpPr/>
          <p:nvPr/>
        </p:nvSpPr>
        <p:spPr>
          <a:xfrm>
            <a:off x="4526280" y="2286000"/>
            <a:ext cx="3108960" cy="365760"/>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Pre-Built dist/ Slim Dockerfile</a:t>
            </a:r>
            <a:endParaRPr lang="en-US" sz="1350" dirty="0"/>
          </a:p>
        </p:txBody>
      </p:sp>
      <p:sp>
        <p:nvSpPr>
          <p:cNvPr id="18" name="Text 16"/>
          <p:cNvSpPr/>
          <p:nvPr/>
        </p:nvSpPr>
        <p:spPr>
          <a:xfrm>
            <a:off x="4526280" y="2743200"/>
            <a:ext cx="3108960" cy="1463040"/>
          </a:xfrm>
          <a:prstGeom prst="rect">
            <a:avLst/>
          </a:prstGeom>
          <a:noFill/>
          <a:ln/>
        </p:spPr>
        <p:txBody>
          <a:bodyPr wrap="square" rtlCol="0" anchor="ctr"/>
          <a:lstStyle/>
          <a:p>
            <a:pPr marL="0" indent="0">
              <a:buNone/>
            </a:pPr>
            <a:r>
              <a:rPr lang="en-US" sz="1120" dirty="0">
                <a:solidFill>
                  <a:srgbClr val="E2E8F0"/>
                </a:solidFill>
                <a:latin typeface="Segoe UI" pitchFamily="34" charset="0"/>
                <a:ea typeface="Segoe UI" pitchFamily="34" charset="-122"/>
                <a:cs typeface="Segoe UI" pitchFamily="34" charset="-120"/>
              </a:rPr>
              <a:t>Instead of compiling TypeScript &amp; Vite twice (locally in Stage 3 and again in Cloud Build), Dockerfile packages the verified dist/ artifacts directly.</a:t>
            </a:r>
            <a:endParaRPr lang="en-US" sz="1120" dirty="0"/>
          </a:p>
        </p:txBody>
      </p:sp>
      <p:sp>
        <p:nvSpPr>
          <p:cNvPr id="19" name="Shape 17"/>
          <p:cNvSpPr/>
          <p:nvPr/>
        </p:nvSpPr>
        <p:spPr>
          <a:xfrm>
            <a:off x="8046720" y="1554480"/>
            <a:ext cx="3566160" cy="2834640"/>
          </a:xfrm>
          <a:prstGeom prst="roundRect">
            <a:avLst>
              <a:gd name="adj" fmla="val 3871"/>
            </a:avLst>
          </a:prstGeom>
          <a:solidFill>
            <a:srgbClr val="130B24"/>
          </a:solidFill>
          <a:ln w="16510">
            <a:solidFill>
              <a:srgbClr val="A855F7"/>
            </a:solidFill>
            <a:prstDash val="solid"/>
          </a:ln>
        </p:spPr>
      </p:sp>
      <p:sp>
        <p:nvSpPr>
          <p:cNvPr id="20" name="Text 18"/>
          <p:cNvSpPr/>
          <p:nvPr/>
        </p:nvSpPr>
        <p:spPr>
          <a:xfrm>
            <a:off x="8275320" y="1783080"/>
            <a:ext cx="3108960" cy="411480"/>
          </a:xfrm>
          <a:prstGeom prst="rect">
            <a:avLst/>
          </a:prstGeom>
          <a:noFill/>
          <a:ln/>
        </p:spPr>
        <p:txBody>
          <a:bodyPr wrap="square" rtlCol="0" anchor="ctr"/>
          <a:lstStyle/>
          <a:p>
            <a:pPr marL="0" indent="0">
              <a:buNone/>
            </a:pPr>
            <a:r>
              <a:rPr lang="en-US" sz="1800" b="1" dirty="0">
                <a:solidFill>
                  <a:srgbClr val="C084FC"/>
                </a:solidFill>
                <a:latin typeface="Segoe UI" pitchFamily="34" charset="0"/>
                <a:ea typeface="Segoe UI" pitchFamily="34" charset="-122"/>
                <a:cs typeface="Segoe UI" pitchFamily="34" charset="-120"/>
              </a:rPr>
              <a:t>HTTP 200 LIVE</a:t>
            </a:r>
            <a:endParaRPr lang="en-US" sz="1800" dirty="0"/>
          </a:p>
        </p:txBody>
      </p:sp>
      <p:sp>
        <p:nvSpPr>
          <p:cNvPr id="21" name="Text 19"/>
          <p:cNvSpPr/>
          <p:nvPr/>
        </p:nvSpPr>
        <p:spPr>
          <a:xfrm>
            <a:off x="8275320" y="2286000"/>
            <a:ext cx="3108960" cy="365760"/>
          </a:xfrm>
          <a:prstGeom prst="rect">
            <a:avLst/>
          </a:prstGeom>
          <a:noFill/>
          <a:ln/>
        </p:spPr>
        <p:txBody>
          <a:bodyPr wrap="square" rtlCol="0" anchor="ctr"/>
          <a:lstStyle/>
          <a:p>
            <a:pPr marL="0" indent="0">
              <a:buNone/>
            </a:pPr>
            <a:r>
              <a:rPr lang="en-US" sz="1350" b="1" dirty="0">
                <a:solidFill>
                  <a:srgbClr val="F8FAFC"/>
                </a:solidFill>
                <a:latin typeface="Segoe UI" pitchFamily="34" charset="0"/>
                <a:ea typeface="Segoe UI" pitchFamily="34" charset="-122"/>
                <a:cs typeface="Segoe UI" pitchFamily="34" charset="-120"/>
              </a:rPr>
              <a:t>Serverless Cloud Run in us-central1</a:t>
            </a:r>
            <a:endParaRPr lang="en-US" sz="1350" dirty="0"/>
          </a:p>
        </p:txBody>
      </p:sp>
      <p:sp>
        <p:nvSpPr>
          <p:cNvPr id="22" name="Text 20"/>
          <p:cNvSpPr/>
          <p:nvPr/>
        </p:nvSpPr>
        <p:spPr>
          <a:xfrm>
            <a:off x="8275320" y="2743200"/>
            <a:ext cx="3108960" cy="1463040"/>
          </a:xfrm>
          <a:prstGeom prst="rect">
            <a:avLst/>
          </a:prstGeom>
          <a:noFill/>
          <a:ln/>
        </p:spPr>
        <p:txBody>
          <a:bodyPr wrap="square" rtlCol="0" anchor="ctr"/>
          <a:lstStyle/>
          <a:p>
            <a:pPr marL="0" indent="0">
              <a:buNone/>
            </a:pPr>
            <a:r>
              <a:rPr lang="en-US" sz="1120" dirty="0">
                <a:solidFill>
                  <a:srgbClr val="E2E8F0"/>
                </a:solidFill>
                <a:latin typeface="Segoe UI" pitchFamily="34" charset="0"/>
                <a:ea typeface="Segoe UI" pitchFamily="34" charset="-122"/>
                <a:cs typeface="Segoe UI" pitchFamily="34" charset="-120"/>
              </a:rPr>
              <a:t>Revision aicrm-00001-5bn deployed with Vertex AI &amp; Google Places env vars attached—scaling automatically from 0 to N.</a:t>
            </a:r>
            <a:endParaRPr lang="en-US" sz="1120" dirty="0"/>
          </a:p>
        </p:txBody>
      </p:sp>
      <p:sp>
        <p:nvSpPr>
          <p:cNvPr id="23" name="Shape 21"/>
          <p:cNvSpPr/>
          <p:nvPr/>
        </p:nvSpPr>
        <p:spPr>
          <a:xfrm>
            <a:off x="548640" y="4709160"/>
            <a:ext cx="11091672" cy="1371600"/>
          </a:xfrm>
          <a:prstGeom prst="roundRect">
            <a:avLst>
              <a:gd name="adj" fmla="val 8000"/>
            </a:avLst>
          </a:prstGeom>
          <a:solidFill>
            <a:srgbClr val="1C1036"/>
          </a:solidFill>
          <a:ln w="19050">
            <a:solidFill>
              <a:srgbClr val="10B981"/>
            </a:solidFill>
            <a:prstDash val="solid"/>
          </a:ln>
        </p:spPr>
      </p:sp>
      <p:sp>
        <p:nvSpPr>
          <p:cNvPr id="24" name="Text 22"/>
          <p:cNvSpPr/>
          <p:nvPr/>
        </p:nvSpPr>
        <p:spPr>
          <a:xfrm>
            <a:off x="822960" y="4892040"/>
            <a:ext cx="10515600" cy="274320"/>
          </a:xfrm>
          <a:prstGeom prst="rect">
            <a:avLst/>
          </a:prstGeom>
          <a:noFill/>
          <a:ln/>
        </p:spPr>
        <p:txBody>
          <a:bodyPr wrap="square" rtlCol="0" anchor="ctr"/>
          <a:lstStyle/>
          <a:p>
            <a:pPr marL="0" indent="0">
              <a:buNone/>
            </a:pPr>
            <a:r>
              <a:rPr lang="en-US" sz="1000" b="1" kern="0" spc="150" dirty="0">
                <a:solidFill>
                  <a:srgbClr val="10B981"/>
                </a:solidFill>
                <a:latin typeface="Segoe UI" pitchFamily="34" charset="0"/>
                <a:ea typeface="Segoe UI" pitchFamily="34" charset="-122"/>
                <a:cs typeface="Segoe UI" pitchFamily="34" charset="-120"/>
              </a:rPr>
              <a:t>LIVE PRODUCTION CLOUD RUN ENDPOINT</a:t>
            </a:r>
            <a:endParaRPr lang="en-US" sz="1000" dirty="0"/>
          </a:p>
        </p:txBody>
      </p:sp>
      <p:sp>
        <p:nvSpPr>
          <p:cNvPr id="25" name="Text 23"/>
          <p:cNvSpPr/>
          <p:nvPr/>
        </p:nvSpPr>
        <p:spPr>
          <a:xfrm>
            <a:off x="822960" y="5212080"/>
            <a:ext cx="10515600" cy="411480"/>
          </a:xfrm>
          <a:prstGeom prst="rect">
            <a:avLst/>
          </a:prstGeom>
          <a:noFill/>
          <a:ln/>
        </p:spPr>
        <p:txBody>
          <a:bodyPr wrap="square" rtlCol="0" anchor="ctr"/>
          <a:lstStyle/>
          <a:p>
            <a:pPr marL="0" indent="0">
              <a:buNone/>
            </a:pPr>
            <a:r>
              <a:rPr lang="en-US" sz="2200" b="1" dirty="0">
                <a:solidFill>
                  <a:srgbClr val="F8FAFC"/>
                </a:solidFill>
                <a:latin typeface="Consolas" pitchFamily="34" charset="0"/>
                <a:ea typeface="Consolas" pitchFamily="34" charset="-122"/>
                <a:cs typeface="Consolas" pitchFamily="34" charset="-120"/>
              </a:rPr>
              <a:t>https://aicrm-513278137040.us-central1.run.app</a:t>
            </a:r>
            <a:endParaRPr lang="en-US" sz="2200" dirty="0"/>
          </a:p>
        </p:txBody>
      </p:sp>
      <p:sp>
        <p:nvSpPr>
          <p:cNvPr id="26" name="Text 24"/>
          <p:cNvSpPr/>
          <p:nvPr/>
        </p:nvSpPr>
        <p:spPr>
          <a:xfrm>
            <a:off x="822960" y="5669280"/>
            <a:ext cx="10515600" cy="274320"/>
          </a:xfrm>
          <a:prstGeom prst="rect">
            <a:avLst/>
          </a:prstGeom>
          <a:noFill/>
          <a:ln/>
        </p:spPr>
        <p:txBody>
          <a:bodyPr wrap="square" rtlCol="0" anchor="ctr"/>
          <a:lstStyle/>
          <a:p>
            <a:pPr marL="0" indent="0">
              <a:buNone/>
            </a:pPr>
            <a:r>
              <a:rPr lang="en-US" sz="1150" dirty="0">
                <a:solidFill>
                  <a:srgbClr val="C084FC"/>
                </a:solidFill>
                <a:latin typeface="Consolas" pitchFamily="34" charset="0"/>
                <a:ea typeface="Consolas" pitchFamily="34" charset="-122"/>
                <a:cs typeface="Consolas" pitchFamily="34" charset="-120"/>
              </a:rPr>
              <a:t>Command:  npm run vertex:deploy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90514"/>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marL="0" indent="0" algn="ctr">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marL="0" indent="0" algn="r">
              <a:buNone/>
            </a:pPr>
            <a:r>
              <a:rPr lang="en-US" sz="900" b="1" dirty="0">
                <a:solidFill>
                  <a:srgbClr val="C084FC"/>
                </a:solidFill>
                <a:latin typeface="Segoe UI" pitchFamily="34" charset="0"/>
                <a:ea typeface="Segoe UI" pitchFamily="34" charset="-122"/>
                <a:cs typeface="Segoe UI" pitchFamily="34" charset="-120"/>
              </a:rPr>
              <a:t>12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marL="0" indent="0">
              <a:buNone/>
            </a:pPr>
            <a:r>
              <a:rPr lang="en-US" sz="1000" b="1" kern="0" spc="200" dirty="0">
                <a:solidFill>
                  <a:srgbClr val="C084FC"/>
                </a:solidFill>
                <a:latin typeface="Segoe UI" pitchFamily="34" charset="0"/>
                <a:ea typeface="Segoe UI" pitchFamily="34" charset="-122"/>
                <a:cs typeface="Segoe UI" pitchFamily="34" charset="-120"/>
              </a:rPr>
              <a:t>WRAP-UP &amp; LIVE DEMO</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marL="0" indent="0">
              <a:buNone/>
            </a:pPr>
            <a:r>
              <a:rPr lang="en-US" sz="2500" b="1" dirty="0">
                <a:solidFill>
                  <a:srgbClr val="F8FAFC"/>
                </a:solidFill>
                <a:latin typeface="Segoe UI" pitchFamily="34" charset="0"/>
                <a:ea typeface="Segoe UI" pitchFamily="34" charset="-122"/>
                <a:cs typeface="Segoe UI" pitchFamily="34" charset="-120"/>
              </a:rPr>
              <a:t>Key Takeaways: Spec → Swarm → Software</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marL="0" indent="0">
              <a:buNone/>
            </a:pPr>
            <a:r>
              <a:rPr lang="en-US" sz="1250" dirty="0">
                <a:solidFill>
                  <a:srgbClr val="94A3B8"/>
                </a:solidFill>
                <a:latin typeface="Segoe UI" pitchFamily="34" charset="0"/>
                <a:ea typeface="Segoe UI" pitchFamily="34" charset="-122"/>
                <a:cs typeface="Segoe UI" pitchFamily="34" charset="-120"/>
              </a:rPr>
              <a:t>Five lessons you can apply to your next project tomorrow morning.</a:t>
            </a:r>
            <a:endParaRPr lang="en-US" sz="1250" dirty="0"/>
          </a:p>
        </p:txBody>
      </p:sp>
      <p:sp>
        <p:nvSpPr>
          <p:cNvPr id="11" name="Shape 9"/>
          <p:cNvSpPr/>
          <p:nvPr/>
        </p:nvSpPr>
        <p:spPr>
          <a:xfrm>
            <a:off x="548640" y="1508760"/>
            <a:ext cx="6217920" cy="4572000"/>
          </a:xfrm>
          <a:prstGeom prst="roundRect">
            <a:avLst>
              <a:gd name="adj" fmla="val 2400"/>
            </a:avLst>
          </a:prstGeom>
          <a:solidFill>
            <a:srgbClr val="130B24"/>
          </a:solidFill>
          <a:ln w="16510">
            <a:solidFill>
              <a:srgbClr val="8B5CF6"/>
            </a:solidFill>
            <a:prstDash val="solid"/>
          </a:ln>
        </p:spPr>
      </p:sp>
      <p:sp>
        <p:nvSpPr>
          <p:cNvPr id="12" name="Text 10"/>
          <p:cNvSpPr/>
          <p:nvPr/>
        </p:nvSpPr>
        <p:spPr>
          <a:xfrm>
            <a:off x="777240" y="1737360"/>
            <a:ext cx="5760720" cy="4114800"/>
          </a:xfrm>
          <a:prstGeom prst="rect">
            <a:avLst/>
          </a:prstGeom>
          <a:noFill/>
          <a:ln/>
        </p:spPr>
        <p:txBody>
          <a:bodyPr wrap="square" rtlCol="0" anchor="t"/>
          <a:lstStyle/>
          <a:p>
            <a:pPr marL="0" indent="0">
              <a:buNone/>
            </a:pPr>
            <a:r>
              <a:rPr lang="en-US" sz="1180" b="1" dirty="0">
                <a:solidFill>
                  <a:srgbClr val="C084FC"/>
                </a:solidFill>
                <a:latin typeface="Segoe UI" pitchFamily="34" charset="0"/>
                <a:ea typeface="Segoe UI" pitchFamily="34" charset="-122"/>
                <a:cs typeface="Segoe UI" pitchFamily="34" charset="-120"/>
              </a:rPr>
              <a:t>1. Treat SPEC.md as Executable Code
</a:t>
            </a:r>
            <a:r>
              <a:rPr lang="en-US" sz="1180" dirty="0">
                <a:solidFill>
                  <a:srgbClr val="E2E8F0"/>
                </a:solidFill>
                <a:latin typeface="Segoe UI" pitchFamily="34" charset="0"/>
                <a:ea typeface="Segoe UI" pitchFamily="34" charset="-122"/>
                <a:cs typeface="Segoe UI" pitchFamily="34" charset="-120"/>
              </a:rPr>
              <a:t>   Define exact schemas, routes &amp; invariants before launching agents.
</a:t>
            </a:r>
            <a:r>
              <a:rPr lang="en-US" sz="1180" b="1" dirty="0">
                <a:solidFill>
                  <a:srgbClr val="C084FC"/>
                </a:solidFill>
                <a:latin typeface="Segoe UI" pitchFamily="34" charset="0"/>
                <a:ea typeface="Segoe UI" pitchFamily="34" charset="-122"/>
                <a:cs typeface="Segoe UI" pitchFamily="34" charset="-120"/>
              </a:rPr>
              <a:t>2. Separate Roles, Share Pointers (Not Whole Files)
</a:t>
            </a:r>
            <a:r>
              <a:rPr lang="en-US" sz="1180" dirty="0">
                <a:solidFill>
                  <a:srgbClr val="E2E8F0"/>
                </a:solidFill>
                <a:latin typeface="Segoe UI" pitchFamily="34" charset="0"/>
                <a:ea typeface="Segoe UI" pitchFamily="34" charset="-122"/>
                <a:cs typeface="Segoe UI" pitchFamily="34" charset="-120"/>
              </a:rPr>
              <a:t>   PO → Architect → 1 Persistent Builder → 1 Final QA Gate.
</a:t>
            </a:r>
            <a:r>
              <a:rPr lang="en-US" sz="1180" b="1" dirty="0">
                <a:solidFill>
                  <a:srgbClr val="C084FC"/>
                </a:solidFill>
                <a:latin typeface="Segoe UI" pitchFamily="34" charset="0"/>
                <a:ea typeface="Segoe UI" pitchFamily="34" charset="-122"/>
                <a:cs typeface="Segoe UI" pitchFamily="34" charset="-120"/>
              </a:rPr>
              <a:t>3. Cap Scope &amp; Iteration Loops
</a:t>
            </a:r>
            <a:r>
              <a:rPr lang="en-US" sz="1180" dirty="0">
                <a:solidFill>
                  <a:srgbClr val="E2E8F0"/>
                </a:solidFill>
                <a:latin typeface="Segoe UI" pitchFamily="34" charset="0"/>
                <a:ea typeface="Segoe UI" pitchFamily="34" charset="-122"/>
                <a:cs typeface="Segoe UI" pitchFamily="34" charset="-120"/>
              </a:rPr>
              <a:t>   Max 4 WPs, Blocker-only QA failures, and max 2 fix iterations.
</a:t>
            </a:r>
            <a:r>
              <a:rPr lang="en-US" sz="1180" b="1" dirty="0">
                <a:solidFill>
                  <a:srgbClr val="C084FC"/>
                </a:solidFill>
                <a:latin typeface="Segoe UI" pitchFamily="34" charset="0"/>
                <a:ea typeface="Segoe UI" pitchFamily="34" charset="-122"/>
                <a:cs typeface="Segoe UI" pitchFamily="34" charset="-120"/>
              </a:rPr>
              <a:t>4. Know Your Vertex AI Auth &amp; Endpoints
</a:t>
            </a:r>
            <a:r>
              <a:rPr lang="en-US" sz="1180" dirty="0">
                <a:solidFill>
                  <a:srgbClr val="E2E8F0"/>
                </a:solidFill>
                <a:latin typeface="Segoe UI" pitchFamily="34" charset="0"/>
                <a:ea typeface="Segoe UI" pitchFamily="34" charset="-122"/>
                <a:cs typeface="Segoe UI" pitchFamily="34" charset="-120"/>
              </a:rPr>
              <a:t>   Use gcloud auth application-default login &amp; global / gemini-3-flash-preview.
</a:t>
            </a:r>
            <a:r>
              <a:rPr lang="en-US" sz="1180" b="1" dirty="0">
                <a:solidFill>
                  <a:srgbClr val="C084FC"/>
                </a:solidFill>
                <a:latin typeface="Segoe UI" pitchFamily="34" charset="0"/>
                <a:ea typeface="Segoe UI" pitchFamily="34" charset="-122"/>
                <a:cs typeface="Segoe UI" pitchFamily="34" charset="-120"/>
              </a:rPr>
              <a:t>5. Let Vertex AI Guard the Release Door
</a:t>
            </a:r>
            <a:r>
              <a:rPr lang="en-US" sz="1180" dirty="0">
                <a:solidFill>
                  <a:srgbClr val="E2E8F0"/>
                </a:solidFill>
                <a:latin typeface="Segoe UI" pitchFamily="34" charset="0"/>
                <a:ea typeface="Segoe UI" pitchFamily="34" charset="-122"/>
                <a:cs typeface="Segoe UI" pitchFamily="34" charset="-120"/>
              </a:rPr>
              <a:t>   Automated AI Code Review + Test Generation catches bugs before Cloud Run.</a:t>
            </a:r>
            <a:endParaRPr lang="en-US" sz="1180" dirty="0"/>
          </a:p>
        </p:txBody>
      </p:sp>
      <p:sp>
        <p:nvSpPr>
          <p:cNvPr id="13" name="Shape 11"/>
          <p:cNvSpPr/>
          <p:nvPr/>
        </p:nvSpPr>
        <p:spPr>
          <a:xfrm>
            <a:off x="6995160" y="1508760"/>
            <a:ext cx="4645152" cy="4572000"/>
          </a:xfrm>
          <a:prstGeom prst="roundRect">
            <a:avLst>
              <a:gd name="adj" fmla="val 2400"/>
            </a:avLst>
          </a:prstGeom>
          <a:solidFill>
            <a:srgbClr val="1C1036"/>
          </a:solidFill>
          <a:ln w="19050">
            <a:solidFill>
              <a:srgbClr val="A855F7"/>
            </a:solidFill>
            <a:prstDash val="solid"/>
          </a:ln>
        </p:spPr>
      </p:sp>
      <p:sp>
        <p:nvSpPr>
          <p:cNvPr id="14" name="Text 12"/>
          <p:cNvSpPr/>
          <p:nvPr/>
        </p:nvSpPr>
        <p:spPr>
          <a:xfrm>
            <a:off x="7269480" y="1737360"/>
            <a:ext cx="4114800" cy="365760"/>
          </a:xfrm>
          <a:prstGeom prst="rect">
            <a:avLst/>
          </a:prstGeom>
          <a:noFill/>
          <a:ln/>
        </p:spPr>
        <p:txBody>
          <a:bodyPr wrap="square" rtlCol="0" anchor="ctr"/>
          <a:lstStyle/>
          <a:p>
            <a:pPr marL="0" indent="0">
              <a:buNone/>
            </a:pPr>
            <a:r>
              <a:rPr lang="en-US" sz="1600" b="1" dirty="0">
                <a:solidFill>
                  <a:srgbClr val="F8FAFC"/>
                </a:solidFill>
                <a:latin typeface="Segoe UI" pitchFamily="34" charset="0"/>
                <a:ea typeface="Segoe UI" pitchFamily="34" charset="-122"/>
                <a:cs typeface="Segoe UI" pitchFamily="34" charset="-120"/>
              </a:rPr>
              <a:t>🎬  LIVE DEMO FLOW</a:t>
            </a:r>
            <a:endParaRPr lang="en-US" sz="1600" dirty="0"/>
          </a:p>
        </p:txBody>
      </p:sp>
      <p:sp>
        <p:nvSpPr>
          <p:cNvPr id="15" name="Text 13"/>
          <p:cNvSpPr/>
          <p:nvPr/>
        </p:nvSpPr>
        <p:spPr>
          <a:xfrm>
            <a:off x="7269480" y="2286000"/>
            <a:ext cx="4114800" cy="3474720"/>
          </a:xfrm>
          <a:prstGeom prst="rect">
            <a:avLst/>
          </a:prstGeom>
          <a:noFill/>
          <a:ln/>
        </p:spPr>
        <p:txBody>
          <a:bodyPr wrap="square" rtlCol="0" anchor="t"/>
          <a:lstStyle/>
          <a:p>
            <a:pPr marL="0" indent="0">
              <a:buNone/>
            </a:pPr>
            <a:r>
              <a:rPr lang="en-US" sz="1200" dirty="0">
                <a:solidFill>
                  <a:srgbClr val="E2E8F0"/>
                </a:solidFill>
                <a:latin typeface="Segoe UI" pitchFamily="34" charset="0"/>
                <a:ea typeface="Segoe UI" pitchFamily="34" charset="-122"/>
                <a:cs typeface="Segoe UI" pitchFamily="34" charset="-120"/>
              </a:rPr>
              <a:t>Step 1: Tour AICRM &amp; SPEC.md</a:t>
            </a:r>
            <a:endParaRPr lang="en-US" sz="1200" dirty="0"/>
          </a:p>
          <a:p>
            <a:pPr marL="0" indent="0">
              <a:buNone/>
            </a:pPr>
            <a:r>
              <a:rPr lang="en-US" sz="1200" dirty="0">
                <a:solidFill>
                  <a:srgbClr val="E2E8F0"/>
                </a:solidFill>
                <a:latin typeface="Segoe UI" pitchFamily="34" charset="0"/>
                <a:ea typeface="Segoe UI" pitchFamily="34" charset="-122"/>
                <a:cs typeface="Segoe UI" pitchFamily="34" charset="-120"/>
              </a:rPr>
              <a:t>Show Places search, website enrichment &amp; Gemini cold-call script generation.</a:t>
            </a:r>
            <a:endParaRPr lang="en-US" sz="1200" dirty="0"/>
          </a:p>
          <a:p>
            <a:pPr marL="0" indent="0">
              <a:buNone/>
            </a:pPr>
            <a:endParaRPr lang="en-US" sz="1200" dirty="0"/>
          </a:p>
          <a:p>
            <a:pPr marL="0" indent="0">
              <a:buNone/>
            </a:pPr>
            <a:r>
              <a:rPr lang="en-US" sz="1200" dirty="0">
                <a:solidFill>
                  <a:srgbClr val="E2E8F0"/>
                </a:solidFill>
                <a:latin typeface="Segoe UI" pitchFamily="34" charset="0"/>
                <a:ea typeface="Segoe UI" pitchFamily="34" charset="-122"/>
                <a:cs typeface="Segoe UI" pitchFamily="34" charset="-120"/>
              </a:rPr>
              <a:t>Step 2: Run "npm run vertex:deploy"</a:t>
            </a:r>
            <a:endParaRPr lang="en-US" sz="1200" dirty="0"/>
          </a:p>
          <a:p>
            <a:pPr marL="0" indent="0">
              <a:buNone/>
            </a:pPr>
            <a:r>
              <a:rPr lang="en-US" sz="1200" dirty="0">
                <a:solidFill>
                  <a:srgbClr val="E2E8F0"/>
                </a:solidFill>
                <a:latin typeface="Segoe UI" pitchFamily="34" charset="0"/>
                <a:ea typeface="Segoe UI" pitchFamily="34" charset="-122"/>
                <a:cs typeface="Segoe UI" pitchFamily="34" charset="-120"/>
              </a:rPr>
              <a:t>Watch Stage 1 (Vertex AI Code Review) catch the CRITICAL race condition &amp; spec drift and BLOCK the deploy!</a:t>
            </a:r>
            <a:endParaRPr lang="en-US" sz="1200" dirty="0"/>
          </a:p>
          <a:p>
            <a:pPr marL="0" indent="0">
              <a:buNone/>
            </a:pPr>
            <a:endParaRPr lang="en-US" sz="1200" dirty="0"/>
          </a:p>
          <a:p>
            <a:pPr marL="0" indent="0">
              <a:buNone/>
            </a:pPr>
            <a:r>
              <a:rPr lang="en-US" sz="1200" dirty="0">
                <a:solidFill>
                  <a:srgbClr val="E2E8F0"/>
                </a:solidFill>
                <a:latin typeface="Segoe UI" pitchFamily="34" charset="0"/>
                <a:ea typeface="Segoe UI" pitchFamily="34" charset="-122"/>
                <a:cs typeface="Segoe UI" pitchFamily="34" charset="-120"/>
              </a:rPr>
              <a:t>Step 3: Fix Issues Live &amp; Re-Deploy</a:t>
            </a:r>
            <a:endParaRPr lang="en-US" sz="1200" dirty="0"/>
          </a:p>
          <a:p>
            <a:pPr marL="0" indent="0">
              <a:buNone/>
            </a:pPr>
            <a:r>
              <a:rPr lang="en-US" sz="1200" dirty="0">
                <a:solidFill>
                  <a:srgbClr val="E2E8F0"/>
                </a:solidFill>
                <a:latin typeface="Segoe UI" pitchFamily="34" charset="0"/>
                <a:ea typeface="Segoe UI" pitchFamily="34" charset="-122"/>
                <a:cs typeface="Segoe UI" pitchFamily="34" charset="-120"/>
              </a:rPr>
              <a:t>Update SPEC.md &amp; storage.ts → Watch Stages 1–4 pass green (19/19 tests) → Live on Google Cloud Run!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989</TotalTime>
  <Words>3791</Words>
  <Application>Microsoft Office PowerPoint</Application>
  <PresentationFormat>Widescreen</PresentationFormat>
  <Paragraphs>333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Google Developer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 -&gt; Swarm -&gt; Software</dc:title>
  <dc:subject>Spec -&gt; Swarm -&gt; Software: Multi-Agent Swarms &amp; Vertex AI</dc:subject>
  <dc:creator>Google Developer Group Speaker</dc:creator>
  <cp:lastModifiedBy>Chris Perrin</cp:lastModifiedBy>
  <cp:revision>2</cp:revision>
  <dcterms:created xsi:type="dcterms:W3CDTF">2026-10-26T03:08:40Z</dcterms:created>
  <dcterms:modified xsi:type="dcterms:W3CDTF">2026-10-26T20:14:17Z</dcterms:modified>
</cp:coreProperties>
</file>