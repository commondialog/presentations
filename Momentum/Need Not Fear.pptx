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9" r:id="rId3"/>
    <p:sldId id="264" r:id="rId4"/>
    <p:sldId id="265" r:id="rId5"/>
    <p:sldId id="266" r:id="rId6"/>
    <p:sldId id="263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" id="{1383B67F-BFBE-CCBB-569E-85C69BEF416A}">
          <p14:sldIdLst>
            <p14:sldId id="256"/>
          </p14:sldIdLst>
        </p14:section>
        <p14:section name="Body" id="{A967DC08-DBA7-BCD2-E0AD-7534604744C5}">
          <p14:sldIdLst>
            <p14:sldId id="259"/>
            <p14:sldId id="264"/>
            <p14:sldId id="265"/>
            <p14:sldId id="266"/>
          </p14:sldIdLst>
        </p14:section>
        <p14:section name="Close" id="{25EF2C4A-2BD8-281D-54E0-6C4AF23BBDE9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100" y="1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35926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Layout: STORM_TITLE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Layout: STORM_CONTENT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1E4EA9-6012-DAEE-161C-48C277195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4EABEC-DFAC-B3BC-FCD2-24C92A3482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BDE190-F83F-1FE8-563C-5EB5F54F0D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Layout: STORM_CONTENT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523334-B1D5-89E4-0617-49FF0606CC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7770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0785B-A70A-3DED-5B0F-DFF35A8B2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145073-F0FA-768F-CC16-8CFE7C72F3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DC071D-097F-CDC4-6105-6E9F28392E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Layout: STORM_CONTENT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6FFC8E-84B3-BF30-0D8B-BECAC2BCB7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7210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D84A5-FE19-5EAC-0CC4-A62F3C518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F15ADB-B4DB-6253-D988-1BEFD840CC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B3B94B-049A-B984-CFD3-7973568C60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Layout: STORM_CONTENT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CDC0B9-71A3-1DF3-280D-F5B84AAEF8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4404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Layout: STORM_CLOSING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ORM_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005840"/>
            <a:ext cx="237744" cy="237744"/>
          </a:xfrm>
          <a:prstGeom prst="rect">
            <a:avLst/>
          </a:prstGeom>
          <a:solidFill>
            <a:srgbClr val="6B4FD8"/>
          </a:solidFill>
          <a:ln w="12700">
            <a:solidFill>
              <a:srgbClr val="6B4F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42416" y="1005840"/>
            <a:ext cx="237744" cy="237744"/>
          </a:xfrm>
          <a:prstGeom prst="rect">
            <a:avLst/>
          </a:prstGeom>
          <a:solidFill>
            <a:srgbClr val="6B4FD8">
              <a:alpha val="62000"/>
            </a:srgbClr>
          </a:solidFill>
          <a:ln w="12700">
            <a:solidFill>
              <a:srgbClr val="6B4F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53312" y="1005840"/>
            <a:ext cx="237744" cy="237744"/>
          </a:xfrm>
          <a:prstGeom prst="rect">
            <a:avLst/>
          </a:prstGeom>
          <a:solidFill>
            <a:srgbClr val="6B4FD8">
              <a:alpha val="36000"/>
            </a:srgbClr>
          </a:solidFill>
          <a:ln w="12700">
            <a:solidFill>
              <a:srgbClr val="6B4FD8"/>
            </a:solidFill>
            <a:prstDash val="solid"/>
          </a:ln>
        </p:spPr>
      </p:sp>
      <p:sp>
        <p:nvSpPr>
          <p:cNvPr id="5" name="Text 3"/>
          <p:cNvSpPr>
            <a:spLocks noGrp="1"/>
          </p:cNvSpPr>
          <p:nvPr>
            <p:ph type="body" idx="103" hasCustomPrompt="1"/>
          </p:nvPr>
        </p:nvSpPr>
        <p:spPr>
          <a:xfrm>
            <a:off x="731520" y="1737360"/>
            <a:ext cx="1069848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200" b="1" kern="0" spc="300" dirty="0">
                <a:solidFill>
                  <a:srgbClr val="A99AE8"/>
                </a:solidFill>
              </a:defRPr>
            </a:lvl1pPr>
          </a:lstStyle>
          <a:p>
            <a:pPr marL="0" indent="0" algn="l">
              <a:buNone/>
            </a:pPr>
            <a:r>
              <a:rPr lang="en-US" sz="1200" b="1" kern="0" spc="300" dirty="0">
                <a:solidFill>
                  <a:srgbClr val="A99AE8"/>
                </a:solidFill>
              </a:rPr>
              <a:t>Eyebrow / category</a:t>
            </a:r>
            <a:endParaRPr lang="en-US" sz="1200" dirty="0"/>
          </a:p>
        </p:txBody>
      </p:sp>
      <p:sp>
        <p:nvSpPr>
          <p:cNvPr id="6" name="Text 3"/>
          <p:cNvSpPr>
            <a:spLocks noGrp="1"/>
          </p:cNvSpPr>
          <p:nvPr>
            <p:ph type="title" idx="104" hasCustomPrompt="1"/>
          </p:nvPr>
        </p:nvSpPr>
        <p:spPr>
          <a:xfrm>
            <a:off x="731520" y="2240280"/>
            <a:ext cx="100584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r>
              <a:rPr lang="en-US" sz="4800" b="1" dirty="0">
                <a:solidFill>
                  <a:schemeClr val="bg1"/>
                </a:solidFill>
              </a:rPr>
              <a:t>Presentation title</a:t>
            </a:r>
            <a:endParaRPr lang="en-US" sz="4800" dirty="0"/>
          </a:p>
        </p:txBody>
      </p:sp>
      <p:sp>
        <p:nvSpPr>
          <p:cNvPr id="7" name="Text 3"/>
          <p:cNvSpPr>
            <a:spLocks noGrp="1"/>
          </p:cNvSpPr>
          <p:nvPr>
            <p:ph type="body" idx="105" hasCustomPrompt="1"/>
          </p:nvPr>
        </p:nvSpPr>
        <p:spPr>
          <a:xfrm>
            <a:off x="731520" y="3794760"/>
            <a:ext cx="86868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800" dirty="0">
                <a:solidFill>
                  <a:srgbClr val="A99AE8"/>
                </a:solidFill>
              </a:defRPr>
            </a:lvl1pPr>
          </a:lstStyle>
          <a:p>
            <a:pPr marL="0" indent="0" algn="l">
              <a:buNone/>
            </a:pPr>
            <a:r>
              <a:rPr lang="en-US" sz="1800" dirty="0">
                <a:solidFill>
                  <a:srgbClr val="A99AE8"/>
                </a:solidFill>
              </a:rPr>
              <a:t>Supporting subtitle or one-line premise</a:t>
            </a:r>
            <a:endParaRPr lang="en-US" sz="1800" dirty="0"/>
          </a:p>
        </p:txBody>
      </p:sp>
      <p:sp>
        <p:nvSpPr>
          <p:cNvPr id="8" name="Text 3"/>
          <p:cNvSpPr>
            <a:spLocks noGrp="1"/>
          </p:cNvSpPr>
          <p:nvPr>
            <p:ph type="body" idx="106" hasCustomPrompt="1"/>
          </p:nvPr>
        </p:nvSpPr>
        <p:spPr>
          <a:xfrm>
            <a:off x="731520" y="5760720"/>
            <a:ext cx="594360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3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r>
              <a:rPr lang="en-US" sz="1300" b="1" dirty="0">
                <a:solidFill>
                  <a:schemeClr val="bg1"/>
                </a:solidFill>
              </a:rPr>
              <a:t>Chris Perrin  |  Founder, Storm Software Group</a:t>
            </a:r>
            <a:endParaRPr lang="en-US" sz="1300" dirty="0"/>
          </a:p>
        </p:txBody>
      </p:sp>
      <p:sp>
        <p:nvSpPr>
          <p:cNvPr id="9" name="Text 3"/>
          <p:cNvSpPr txBox="1"/>
          <p:nvPr/>
        </p:nvSpPr>
        <p:spPr>
          <a:xfrm>
            <a:off x="6400800" y="57607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A99AE8"/>
                </a:solidFill>
              </a:rPr>
              <a:t>Vibe-code with passion. Deploy with discipline.</a:t>
            </a:r>
            <a:endParaRPr lang="en-US" sz="11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ORM_SEC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103120"/>
            <a:ext cx="237744" cy="237744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42416" y="2103120"/>
            <a:ext cx="237744" cy="237744"/>
          </a:xfrm>
          <a:prstGeom prst="rect">
            <a:avLst/>
          </a:prstGeom>
          <a:solidFill>
            <a:schemeClr val="bg1">
              <a:alpha val="62000"/>
            </a:schemeClr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53312" y="2103120"/>
            <a:ext cx="237744" cy="237744"/>
          </a:xfrm>
          <a:prstGeom prst="rect">
            <a:avLst/>
          </a:prstGeom>
          <a:solidFill>
            <a:schemeClr val="bg1">
              <a:alpha val="36000"/>
            </a:schemeClr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" name="Text 3"/>
          <p:cNvSpPr>
            <a:spLocks noGrp="1"/>
          </p:cNvSpPr>
          <p:nvPr>
            <p:ph type="body" idx="103" hasCustomPrompt="1"/>
          </p:nvPr>
        </p:nvSpPr>
        <p:spPr>
          <a:xfrm>
            <a:off x="731520" y="2743200"/>
            <a:ext cx="228600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400" b="1" kern="0" spc="300" dirty="0">
                <a:solidFill>
                  <a:srgbClr val="F2F2FA"/>
                </a:solidFill>
              </a:defRPr>
            </a:lvl1pPr>
          </a:lstStyle>
          <a:p>
            <a:pPr marL="0" indent="0" algn="l">
              <a:buNone/>
            </a:pPr>
            <a:r>
              <a:rPr lang="en-US" sz="1400" b="1" kern="0" spc="300" dirty="0">
                <a:solidFill>
                  <a:srgbClr val="F2F2FA"/>
                </a:solidFill>
              </a:rPr>
              <a:t>01</a:t>
            </a:r>
            <a:endParaRPr lang="en-US" sz="1400" dirty="0"/>
          </a:p>
        </p:txBody>
      </p:sp>
      <p:sp>
        <p:nvSpPr>
          <p:cNvPr id="6" name="Text 3"/>
          <p:cNvSpPr>
            <a:spLocks noGrp="1"/>
          </p:cNvSpPr>
          <p:nvPr>
            <p:ph type="title" idx="104" hasCustomPrompt="1"/>
          </p:nvPr>
        </p:nvSpPr>
        <p:spPr>
          <a:xfrm>
            <a:off x="731520" y="3200400"/>
            <a:ext cx="100584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Section title</a:t>
            </a:r>
            <a:endParaRPr lang="en-US" sz="4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ORM_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70464" y="658368"/>
            <a:ext cx="237744" cy="237744"/>
          </a:xfrm>
          <a:prstGeom prst="rect">
            <a:avLst/>
          </a:prstGeom>
          <a:solidFill>
            <a:srgbClr val="6B4FD8"/>
          </a:solidFill>
          <a:ln w="12700">
            <a:solidFill>
              <a:srgbClr val="6B4F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81360" y="658368"/>
            <a:ext cx="237744" cy="237744"/>
          </a:xfrm>
          <a:prstGeom prst="rect">
            <a:avLst/>
          </a:prstGeom>
          <a:solidFill>
            <a:srgbClr val="6B4FD8">
              <a:alpha val="62000"/>
            </a:srgbClr>
          </a:solidFill>
          <a:ln w="12700">
            <a:solidFill>
              <a:srgbClr val="6B4F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92256" y="658368"/>
            <a:ext cx="237744" cy="237744"/>
          </a:xfrm>
          <a:prstGeom prst="rect">
            <a:avLst/>
          </a:prstGeom>
          <a:solidFill>
            <a:srgbClr val="6B4FD8">
              <a:alpha val="36000"/>
            </a:srgbClr>
          </a:solidFill>
          <a:ln w="12700">
            <a:solidFill>
              <a:srgbClr val="6B4FD8"/>
            </a:solidFill>
            <a:prstDash val="solid"/>
          </a:ln>
        </p:spPr>
      </p:sp>
      <p:sp>
        <p:nvSpPr>
          <p:cNvPr id="5" name="Text 3"/>
          <p:cNvSpPr>
            <a:spLocks noGrp="1"/>
          </p:cNvSpPr>
          <p:nvPr>
            <p:ph type="title" idx="103" hasCustomPrompt="1"/>
          </p:nvPr>
        </p:nvSpPr>
        <p:spPr>
          <a:xfrm>
            <a:off x="731520" y="548640"/>
            <a:ext cx="95097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Slide title</a:t>
            </a:r>
            <a:endParaRPr lang="en-US" sz="3600" dirty="0"/>
          </a:p>
        </p:txBody>
      </p:sp>
      <p:sp>
        <p:nvSpPr>
          <p:cNvPr id="6" name="Text 3"/>
          <p:cNvSpPr>
            <a:spLocks noGrp="1"/>
          </p:cNvSpPr>
          <p:nvPr>
            <p:ph type="body" idx="104" hasCustomPrompt="1"/>
          </p:nvPr>
        </p:nvSpPr>
        <p:spPr>
          <a:xfrm>
            <a:off x="731520" y="1691640"/>
            <a:ext cx="10698480" cy="4297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800" dirty="0">
                <a:solidFill>
                  <a:srgbClr val="F2F2FA"/>
                </a:solidFill>
              </a:defRPr>
            </a:lvl1pPr>
          </a:lstStyle>
          <a:p>
            <a:pPr marL="0" indent="0" algn="l">
              <a:buNone/>
            </a:pPr>
            <a:r>
              <a:rPr lang="en-US" sz="1800" dirty="0">
                <a:solidFill>
                  <a:srgbClr val="F2F2FA"/>
                </a:solidFill>
              </a:rPr>
              <a:t>Body content</a:t>
            </a:r>
            <a:endParaRPr lang="en-US" sz="1800" dirty="0"/>
          </a:p>
        </p:txBody>
      </p:sp>
      <p:sp>
        <p:nvSpPr>
          <p:cNvPr id="7" name="Text 3"/>
          <p:cNvSpPr txBox="1"/>
          <p:nvPr/>
        </p:nvSpPr>
        <p:spPr>
          <a:xfrm>
            <a:off x="731520" y="63276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9AE8"/>
                </a:solidFill>
              </a:rPr>
              <a:t>PSI Online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276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A99AE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ORM_TWO_COLUM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70464" y="658368"/>
            <a:ext cx="237744" cy="237744"/>
          </a:xfrm>
          <a:prstGeom prst="rect">
            <a:avLst/>
          </a:prstGeom>
          <a:solidFill>
            <a:srgbClr val="6B4FD8"/>
          </a:solidFill>
          <a:ln w="12700">
            <a:solidFill>
              <a:srgbClr val="6B4F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81360" y="658368"/>
            <a:ext cx="237744" cy="237744"/>
          </a:xfrm>
          <a:prstGeom prst="rect">
            <a:avLst/>
          </a:prstGeom>
          <a:solidFill>
            <a:srgbClr val="6B4FD8">
              <a:alpha val="62000"/>
            </a:srgbClr>
          </a:solidFill>
          <a:ln w="12700">
            <a:solidFill>
              <a:srgbClr val="6B4F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92256" y="658368"/>
            <a:ext cx="237744" cy="237744"/>
          </a:xfrm>
          <a:prstGeom prst="rect">
            <a:avLst/>
          </a:prstGeom>
          <a:solidFill>
            <a:srgbClr val="6B4FD8">
              <a:alpha val="36000"/>
            </a:srgbClr>
          </a:solidFill>
          <a:ln w="12700">
            <a:solidFill>
              <a:srgbClr val="6B4FD8"/>
            </a:solidFill>
            <a:prstDash val="solid"/>
          </a:ln>
        </p:spPr>
      </p:sp>
      <p:sp>
        <p:nvSpPr>
          <p:cNvPr id="5" name="Text 3"/>
          <p:cNvSpPr>
            <a:spLocks noGrp="1"/>
          </p:cNvSpPr>
          <p:nvPr>
            <p:ph type="title" idx="103" hasCustomPrompt="1"/>
          </p:nvPr>
        </p:nvSpPr>
        <p:spPr>
          <a:xfrm>
            <a:off x="731520" y="548640"/>
            <a:ext cx="95097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Slide title</a:t>
            </a:r>
            <a:endParaRPr lang="en-US" sz="3600" dirty="0"/>
          </a:p>
        </p:txBody>
      </p:sp>
      <p:sp>
        <p:nvSpPr>
          <p:cNvPr id="6" name="Text 3"/>
          <p:cNvSpPr>
            <a:spLocks noGrp="1"/>
          </p:cNvSpPr>
          <p:nvPr>
            <p:ph type="body" idx="104" hasCustomPrompt="1"/>
          </p:nvPr>
        </p:nvSpPr>
        <p:spPr>
          <a:xfrm>
            <a:off x="731520" y="1691640"/>
            <a:ext cx="5120640" cy="4297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700" dirty="0">
                <a:solidFill>
                  <a:srgbClr val="F2F2FA"/>
                </a:solidFill>
              </a:defRPr>
            </a:lvl1pPr>
          </a:lstStyle>
          <a:p>
            <a:pPr marL="0" indent="0" algn="l">
              <a:buNone/>
            </a:pPr>
            <a:r>
              <a:rPr lang="en-US" sz="1700" dirty="0">
                <a:solidFill>
                  <a:srgbClr val="F2F2FA"/>
                </a:solidFill>
              </a:rPr>
              <a:t>Left column</a:t>
            </a:r>
            <a:endParaRPr lang="en-US" sz="1700" dirty="0"/>
          </a:p>
        </p:txBody>
      </p:sp>
      <p:sp>
        <p:nvSpPr>
          <p:cNvPr id="7" name="Text 3"/>
          <p:cNvSpPr>
            <a:spLocks noGrp="1"/>
          </p:cNvSpPr>
          <p:nvPr>
            <p:ph type="body" idx="105" hasCustomPrompt="1"/>
          </p:nvPr>
        </p:nvSpPr>
        <p:spPr>
          <a:xfrm>
            <a:off x="6309360" y="1691640"/>
            <a:ext cx="5120640" cy="4297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700" dirty="0">
                <a:solidFill>
                  <a:srgbClr val="F2F2FA"/>
                </a:solidFill>
              </a:defRPr>
            </a:lvl1pPr>
          </a:lstStyle>
          <a:p>
            <a:pPr marL="0" indent="0" algn="l">
              <a:buNone/>
            </a:pPr>
            <a:r>
              <a:rPr lang="en-US" sz="1700" dirty="0">
                <a:solidFill>
                  <a:srgbClr val="F2F2FA"/>
                </a:solidFill>
              </a:rPr>
              <a:t>Right column</a:t>
            </a:r>
            <a:endParaRPr lang="en-US" sz="1700" dirty="0"/>
          </a:p>
        </p:txBody>
      </p:sp>
      <p:sp>
        <p:nvSpPr>
          <p:cNvPr id="8" name="Text 3"/>
          <p:cNvSpPr txBox="1"/>
          <p:nvPr/>
        </p:nvSpPr>
        <p:spPr>
          <a:xfrm>
            <a:off x="731520" y="63276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9AE8"/>
                </a:solidFill>
              </a:rPr>
              <a:t>Storm Software Group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276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A99AE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ORM_STATEM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097280"/>
            <a:ext cx="237744" cy="237744"/>
          </a:xfrm>
          <a:prstGeom prst="rect">
            <a:avLst/>
          </a:prstGeom>
          <a:solidFill>
            <a:srgbClr val="6B4FD8"/>
          </a:solidFill>
          <a:ln w="12700">
            <a:solidFill>
              <a:srgbClr val="6B4F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42416" y="1097280"/>
            <a:ext cx="237744" cy="237744"/>
          </a:xfrm>
          <a:prstGeom prst="rect">
            <a:avLst/>
          </a:prstGeom>
          <a:solidFill>
            <a:srgbClr val="6B4FD8">
              <a:alpha val="62000"/>
            </a:srgbClr>
          </a:solidFill>
          <a:ln w="12700">
            <a:solidFill>
              <a:srgbClr val="6B4F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53312" y="1097280"/>
            <a:ext cx="237744" cy="237744"/>
          </a:xfrm>
          <a:prstGeom prst="rect">
            <a:avLst/>
          </a:prstGeom>
          <a:solidFill>
            <a:srgbClr val="6B4FD8">
              <a:alpha val="36000"/>
            </a:srgbClr>
          </a:solidFill>
          <a:ln w="12700">
            <a:solidFill>
              <a:srgbClr val="6B4FD8"/>
            </a:solidFill>
            <a:prstDash val="solid"/>
          </a:ln>
        </p:spPr>
      </p:sp>
      <p:sp>
        <p:nvSpPr>
          <p:cNvPr id="5" name="Text 3"/>
          <p:cNvSpPr>
            <a:spLocks noGrp="1"/>
          </p:cNvSpPr>
          <p:nvPr>
            <p:ph type="title" idx="103" hasCustomPrompt="1"/>
          </p:nvPr>
        </p:nvSpPr>
        <p:spPr>
          <a:xfrm>
            <a:off x="731520" y="2103120"/>
            <a:ext cx="1042416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8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r>
              <a:rPr lang="en-US" sz="8000" b="1" dirty="0">
                <a:solidFill>
                  <a:schemeClr val="bg1"/>
                </a:solidFill>
              </a:rPr>
              <a:t>00%</a:t>
            </a:r>
            <a:endParaRPr lang="en-US" sz="8000" dirty="0"/>
          </a:p>
        </p:txBody>
      </p:sp>
      <p:sp>
        <p:nvSpPr>
          <p:cNvPr id="6" name="Text 3"/>
          <p:cNvSpPr>
            <a:spLocks noGrp="1"/>
          </p:cNvSpPr>
          <p:nvPr>
            <p:ph type="body" idx="104" hasCustomPrompt="1"/>
          </p:nvPr>
        </p:nvSpPr>
        <p:spPr>
          <a:xfrm>
            <a:off x="731520" y="3977640"/>
            <a:ext cx="89611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000" dirty="0">
                <a:solidFill>
                  <a:srgbClr val="A99AE8"/>
                </a:solidFill>
              </a:defRPr>
            </a:lvl1pPr>
          </a:lstStyle>
          <a:p>
            <a:pPr marL="0" indent="0" algn="l">
              <a:buNone/>
            </a:pPr>
            <a:r>
              <a:rPr lang="en-US" sz="2000" dirty="0">
                <a:solidFill>
                  <a:srgbClr val="A99AE8"/>
                </a:solidFill>
              </a:rPr>
              <a:t>What the number means</a:t>
            </a:r>
            <a:endParaRPr lang="en-US" sz="2000" dirty="0"/>
          </a:p>
        </p:txBody>
      </p:sp>
      <p:sp>
        <p:nvSpPr>
          <p:cNvPr id="7" name="Text 3"/>
          <p:cNvSpPr>
            <a:spLocks noGrp="1"/>
          </p:cNvSpPr>
          <p:nvPr>
            <p:ph type="body" idx="105" hasCustomPrompt="1"/>
          </p:nvPr>
        </p:nvSpPr>
        <p:spPr>
          <a:xfrm>
            <a:off x="731520" y="594360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000" i="1" dirty="0">
                <a:solidFill>
                  <a:srgbClr val="A99AE8"/>
                </a:solidFill>
              </a:defRPr>
            </a:lvl1pPr>
          </a:lstStyle>
          <a:p>
            <a:pPr marL="0" indent="0" algn="l">
              <a:buNone/>
            </a:pPr>
            <a:r>
              <a:rPr lang="en-US" sz="1000" i="1" dirty="0">
                <a:solidFill>
                  <a:srgbClr val="A99AE8"/>
                </a:solidFill>
              </a:rPr>
              <a:t>Source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ORM_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286000"/>
            <a:ext cx="237744" cy="237744"/>
          </a:xfrm>
          <a:prstGeom prst="rect">
            <a:avLst/>
          </a:prstGeom>
          <a:solidFill>
            <a:srgbClr val="6B4FD8"/>
          </a:solidFill>
          <a:ln w="12700">
            <a:solidFill>
              <a:srgbClr val="6B4F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42416" y="2286000"/>
            <a:ext cx="237744" cy="237744"/>
          </a:xfrm>
          <a:prstGeom prst="rect">
            <a:avLst/>
          </a:prstGeom>
          <a:solidFill>
            <a:srgbClr val="6B4FD8">
              <a:alpha val="62000"/>
            </a:srgbClr>
          </a:solidFill>
          <a:ln w="12700">
            <a:solidFill>
              <a:srgbClr val="6B4F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53312" y="2286000"/>
            <a:ext cx="237744" cy="237744"/>
          </a:xfrm>
          <a:prstGeom prst="rect">
            <a:avLst/>
          </a:prstGeom>
          <a:solidFill>
            <a:srgbClr val="6B4FD8">
              <a:alpha val="36000"/>
            </a:srgbClr>
          </a:solidFill>
          <a:ln w="12700">
            <a:solidFill>
              <a:srgbClr val="6B4FD8"/>
            </a:solidFill>
            <a:prstDash val="solid"/>
          </a:ln>
        </p:spPr>
      </p:sp>
      <p:sp>
        <p:nvSpPr>
          <p:cNvPr id="5" name="Text 3"/>
          <p:cNvSpPr>
            <a:spLocks noGrp="1"/>
          </p:cNvSpPr>
          <p:nvPr>
            <p:ph type="title" idx="103" hasCustomPrompt="1"/>
          </p:nvPr>
        </p:nvSpPr>
        <p:spPr>
          <a:xfrm>
            <a:off x="731520" y="2926080"/>
            <a:ext cx="1005840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r>
              <a:rPr lang="en-US" sz="4400" b="1" dirty="0">
                <a:solidFill>
                  <a:schemeClr val="bg1"/>
                </a:solidFill>
              </a:rPr>
              <a:t>Thank you</a:t>
            </a:r>
            <a:endParaRPr lang="en-US" sz="4400" dirty="0"/>
          </a:p>
        </p:txBody>
      </p:sp>
      <p:sp>
        <p:nvSpPr>
          <p:cNvPr id="6" name="Text 3"/>
          <p:cNvSpPr>
            <a:spLocks noGrp="1"/>
          </p:cNvSpPr>
          <p:nvPr>
            <p:ph type="body" idx="104" hasCustomPrompt="1"/>
          </p:nvPr>
        </p:nvSpPr>
        <p:spPr>
          <a:xfrm>
            <a:off x="731520" y="4023360"/>
            <a:ext cx="82296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600" dirty="0">
                <a:solidFill>
                  <a:srgbClr val="A99AE8"/>
                </a:solidFill>
              </a:defRPr>
            </a:lvl1pPr>
          </a:lstStyle>
          <a:p>
            <a:pPr marL="0" indent="0" algn="l">
              <a:buNone/>
            </a:pPr>
            <a:r>
              <a:rPr lang="en-US" sz="1600" dirty="0">
                <a:solidFill>
                  <a:srgbClr val="A99AE8"/>
                </a:solidFill>
              </a:rPr>
              <a:t>Contact details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731520" y="5852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chemeClr val="bg1"/>
                </a:solidFill>
              </a:rPr>
              <a:t>Vibe-code with passion. Deploy with discipline.</a:t>
            </a:r>
            <a:endParaRPr lang="en-US" sz="1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276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A99AE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body" idx="103" hasCustomPrompt="1"/>
          </p:nvPr>
        </p:nvSpPr>
        <p:spPr>
          <a:xfrm>
            <a:off x="731520" y="17373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A99AE8"/>
                </a:solidFill>
              </a:rPr>
              <a:t>Momentum 2026</a:t>
            </a:r>
            <a:endParaRPr lang="en-US" sz="1200" dirty="0"/>
          </a:p>
        </p:txBody>
      </p:sp>
      <p:sp>
        <p:nvSpPr>
          <p:cNvPr id="3" name="Text 3"/>
          <p:cNvSpPr>
            <a:spLocks noGrp="1"/>
          </p:cNvSpPr>
          <p:nvPr>
            <p:ph type="title" idx="104" hasCustomPrompt="1"/>
          </p:nvPr>
        </p:nvSpPr>
        <p:spPr>
          <a:xfrm>
            <a:off x="731520" y="224028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800" b="1" dirty="0">
                <a:solidFill>
                  <a:schemeClr val="bg1"/>
                </a:solidFill>
              </a:rPr>
              <a:t>Developers Don't Need Fear an Agentic Future</a:t>
            </a:r>
            <a:endParaRPr lang="en-US" sz="4800" dirty="0"/>
          </a:p>
        </p:txBody>
      </p:sp>
      <p:sp>
        <p:nvSpPr>
          <p:cNvPr id="4" name="Text 3"/>
          <p:cNvSpPr>
            <a:spLocks noGrp="1"/>
          </p:cNvSpPr>
          <p:nvPr>
            <p:ph type="body" idx="105" hasCustomPrompt="1"/>
          </p:nvPr>
        </p:nvSpPr>
        <p:spPr>
          <a:xfrm>
            <a:off x="731520" y="379476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A99AE8"/>
                </a:solidFill>
              </a:rPr>
              <a:t>Change will happen.  Doom </a:t>
            </a:r>
            <a:r>
              <a:rPr lang="en-US" dirty="0"/>
              <a:t>will not.</a:t>
            </a:r>
            <a:endParaRPr lang="en-US" sz="1800" dirty="0"/>
          </a:p>
        </p:txBody>
      </p:sp>
      <p:sp>
        <p:nvSpPr>
          <p:cNvPr id="5" name="Text 3"/>
          <p:cNvSpPr>
            <a:spLocks noGrp="1"/>
          </p:cNvSpPr>
          <p:nvPr>
            <p:ph type="body" idx="106" hasCustomPrompt="1"/>
          </p:nvPr>
        </p:nvSpPr>
        <p:spPr>
          <a:xfrm>
            <a:off x="731520" y="576072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chemeClr val="bg1"/>
                </a:solidFill>
              </a:rPr>
              <a:t>Chris Perrin  |  Founder, PSI Online</a:t>
            </a:r>
            <a:endParaRPr lang="en-US" sz="13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A8153A-8AFC-4E1D-709C-E56E4FDBC7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136" y="3063240"/>
            <a:ext cx="4626864" cy="252374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731520" y="54864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Fear Sells</a:t>
            </a:r>
            <a:endParaRPr lang="en-US" sz="3600" dirty="0"/>
          </a:p>
        </p:txBody>
      </p:sp>
      <p:sp>
        <p:nvSpPr>
          <p:cNvPr id="3" name="Text 3"/>
          <p:cNvSpPr>
            <a:spLocks noGrp="1"/>
          </p:cNvSpPr>
          <p:nvPr>
            <p:ph type="body" idx="104" hasCustomPrompt="1"/>
          </p:nvPr>
        </p:nvSpPr>
        <p:spPr>
          <a:xfrm>
            <a:off x="731520" y="1691640"/>
            <a:ext cx="1069848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spcAft>
                <a:spcPts val="1800"/>
              </a:spcAft>
              <a:buSzPct val="100000"/>
              <a:buChar char="•"/>
            </a:pPr>
            <a:r>
              <a:rPr lang="en-US" sz="3600" dirty="0">
                <a:solidFill>
                  <a:srgbClr val="F2F2FA"/>
                </a:solidFill>
              </a:rPr>
              <a:t>We are </a:t>
            </a:r>
            <a:r>
              <a:rPr lang="en-US" sz="3600" b="1" dirty="0">
                <a:solidFill>
                  <a:srgbClr val="F2F2FA"/>
                </a:solidFill>
              </a:rPr>
              <a:t>biologically</a:t>
            </a:r>
            <a:r>
              <a:rPr lang="en-US" sz="3600" dirty="0">
                <a:solidFill>
                  <a:srgbClr val="F2F2FA"/>
                </a:solidFill>
              </a:rPr>
              <a:t> </a:t>
            </a:r>
            <a:r>
              <a:rPr lang="en-US" sz="3600" b="1" dirty="0">
                <a:solidFill>
                  <a:srgbClr val="F2F2FA"/>
                </a:solidFill>
              </a:rPr>
              <a:t>hardwired</a:t>
            </a:r>
            <a:r>
              <a:rPr lang="en-US" sz="3600" dirty="0">
                <a:solidFill>
                  <a:srgbClr val="F2F2FA"/>
                </a:solidFill>
              </a:rPr>
              <a:t> to be afraid</a:t>
            </a:r>
            <a:endParaRPr lang="en-US" sz="3600" dirty="0"/>
          </a:p>
          <a:p>
            <a:pPr marL="228600" indent="-228600" algn="l">
              <a:spcAft>
                <a:spcPts val="1800"/>
              </a:spcAft>
              <a:buSzPct val="100000"/>
              <a:buChar char="•"/>
            </a:pPr>
            <a:r>
              <a:rPr lang="en-US" sz="3600" dirty="0"/>
              <a:t>We are </a:t>
            </a:r>
            <a:r>
              <a:rPr lang="en-US" sz="3600" b="1" dirty="0"/>
              <a:t>neurologically hardwired</a:t>
            </a:r>
            <a:r>
              <a:rPr lang="en-US" sz="3600" dirty="0"/>
              <a:t> to be afraid</a:t>
            </a:r>
          </a:p>
          <a:p>
            <a:pPr marL="228600" indent="-228600" algn="l">
              <a:spcAft>
                <a:spcPts val="1800"/>
              </a:spcAft>
              <a:buSzPct val="100000"/>
              <a:buChar char="•"/>
            </a:pPr>
            <a:r>
              <a:rPr lang="en-US" sz="3600" dirty="0"/>
              <a:t>Fear = clicks = $$$</a:t>
            </a:r>
          </a:p>
          <a:p>
            <a:pPr marL="228600" indent="-228600" algn="l">
              <a:spcAft>
                <a:spcPts val="1800"/>
              </a:spcAft>
              <a:buSzPct val="100000"/>
              <a:buChar char="•"/>
            </a:pPr>
            <a:r>
              <a:rPr lang="en-US" sz="3600" dirty="0"/>
              <a:t>Before fear, follow profits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276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A99AE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1F8ABC-F6C8-61AE-A0C3-1DE94C3F2E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4135" y="3073205"/>
            <a:ext cx="5656345" cy="308527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F17FB-0FCF-9761-BDCC-7E05A5309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>
            <a:extLst>
              <a:ext uri="{FF2B5EF4-FFF2-40B4-BE49-F238E27FC236}">
                <a16:creationId xmlns:a16="http://schemas.microsoft.com/office/drawing/2014/main" id="{F1BCB518-724A-158A-03DE-C6A60556B6DD}"/>
              </a:ext>
            </a:extLst>
          </p:cNvPr>
          <p:cNvSpPr>
            <a:spLocks noGrp="1"/>
          </p:cNvSpPr>
          <p:nvPr>
            <p:ph type="title" idx="103" hasCustomPrompt="1"/>
          </p:nvPr>
        </p:nvSpPr>
        <p:spPr>
          <a:xfrm>
            <a:off x="731520" y="54864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Don’t Be Afraid For Your Job</a:t>
            </a:r>
            <a:endParaRPr lang="en-US" sz="3600" dirty="0"/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7B9BE36C-674D-32F4-1AAD-890B627B9C8F}"/>
              </a:ext>
            </a:extLst>
          </p:cNvPr>
          <p:cNvSpPr>
            <a:spLocks noGrp="1"/>
          </p:cNvSpPr>
          <p:nvPr>
            <p:ph type="body" idx="104" hasCustomPrompt="1"/>
          </p:nvPr>
        </p:nvSpPr>
        <p:spPr>
          <a:xfrm>
            <a:off x="731520" y="1691640"/>
            <a:ext cx="1069848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spcAft>
                <a:spcPts val="1800"/>
              </a:spcAft>
              <a:buSzPct val="100000"/>
              <a:buChar char="•"/>
            </a:pPr>
            <a:r>
              <a:rPr lang="en-US" sz="3600" dirty="0"/>
              <a:t>Change is inevitable</a:t>
            </a:r>
          </a:p>
          <a:p>
            <a:pPr marL="228600" indent="-228600" algn="l">
              <a:spcAft>
                <a:spcPts val="1800"/>
              </a:spcAft>
              <a:buSzPct val="100000"/>
              <a:buChar char="•"/>
            </a:pPr>
            <a:r>
              <a:rPr lang="en-US" sz="3600" dirty="0"/>
              <a:t>Layoffs are inevitable </a:t>
            </a:r>
            <a:br>
              <a:rPr lang="en-US" sz="3600" dirty="0"/>
            </a:br>
            <a:r>
              <a:rPr lang="en-US" sz="3600" dirty="0"/>
              <a:t>(I said agentic </a:t>
            </a:r>
            <a:r>
              <a:rPr lang="en-US" sz="3600" i="1" dirty="0"/>
              <a:t>future</a:t>
            </a:r>
            <a:r>
              <a:rPr lang="en-US" sz="3600" dirty="0"/>
              <a:t>)</a:t>
            </a:r>
          </a:p>
          <a:p>
            <a:pPr marL="228600" indent="-228600" algn="l">
              <a:spcAft>
                <a:spcPts val="1800"/>
              </a:spcAft>
              <a:buSzPct val="100000"/>
              <a:buChar char="•"/>
            </a:pPr>
            <a:r>
              <a:rPr lang="en-US" sz="3600" dirty="0">
                <a:solidFill>
                  <a:srgbClr val="F2F2FA"/>
                </a:solidFill>
              </a:rPr>
              <a:t>The economy will recover</a:t>
            </a:r>
            <a:endParaRPr lang="en-US" sz="3600" dirty="0"/>
          </a:p>
          <a:p>
            <a:pPr marL="228600" indent="-228600" algn="l">
              <a:spcAft>
                <a:spcPts val="1800"/>
              </a:spcAft>
              <a:buSzPct val="100000"/>
              <a:buChar char="•"/>
            </a:pPr>
            <a:r>
              <a:rPr lang="en-US" sz="3600" dirty="0">
                <a:solidFill>
                  <a:srgbClr val="F2F2FA"/>
                </a:solidFill>
              </a:rPr>
              <a:t>AI is both more and </a:t>
            </a:r>
            <a:br>
              <a:rPr lang="en-US" sz="3600" dirty="0">
                <a:solidFill>
                  <a:srgbClr val="F2F2FA"/>
                </a:solidFill>
              </a:rPr>
            </a:br>
            <a:r>
              <a:rPr lang="en-US" sz="3600" dirty="0">
                <a:solidFill>
                  <a:srgbClr val="F2F2FA"/>
                </a:solidFill>
              </a:rPr>
              <a:t>less than we thought</a:t>
            </a:r>
            <a:endParaRPr lang="en-US" sz="36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04F34CE0-6C05-3E58-F06A-A05874F2E92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55680" y="63276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A99AE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E5F0BB-7907-68E6-6599-F01B272897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8076" y="2769225"/>
            <a:ext cx="5903508" cy="3220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23606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26A53F-AC66-A84B-7BBE-7C6C33A1C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>
            <a:extLst>
              <a:ext uri="{FF2B5EF4-FFF2-40B4-BE49-F238E27FC236}">
                <a16:creationId xmlns:a16="http://schemas.microsoft.com/office/drawing/2014/main" id="{DB687523-6A87-1D9A-0F14-68174EABA3E7}"/>
              </a:ext>
            </a:extLst>
          </p:cNvPr>
          <p:cNvSpPr>
            <a:spLocks noGrp="1"/>
          </p:cNvSpPr>
          <p:nvPr>
            <p:ph type="title" idx="103" hasCustomPrompt="1"/>
          </p:nvPr>
        </p:nvSpPr>
        <p:spPr>
          <a:xfrm>
            <a:off x="731520" y="54864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Don’t Be Afraid of Terminators</a:t>
            </a:r>
            <a:endParaRPr lang="en-US" sz="3600" dirty="0"/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87760326-2915-786A-D448-7C70B0F19071}"/>
              </a:ext>
            </a:extLst>
          </p:cNvPr>
          <p:cNvSpPr>
            <a:spLocks noGrp="1"/>
          </p:cNvSpPr>
          <p:nvPr>
            <p:ph type="body" idx="104" hasCustomPrompt="1"/>
          </p:nvPr>
        </p:nvSpPr>
        <p:spPr>
          <a:xfrm>
            <a:off x="731520" y="1691640"/>
            <a:ext cx="1069848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spcAft>
                <a:spcPts val="1800"/>
              </a:spcAft>
              <a:buSzPct val="100000"/>
              <a:buChar char="•"/>
            </a:pPr>
            <a:r>
              <a:rPr lang="en-US" sz="4000" dirty="0">
                <a:solidFill>
                  <a:srgbClr val="F2F2FA"/>
                </a:solidFill>
              </a:rPr>
              <a:t>GenAI won’t unalive us</a:t>
            </a:r>
            <a:endParaRPr lang="en-US" sz="4000" dirty="0"/>
          </a:p>
          <a:p>
            <a:pPr marL="228600" indent="-228600" algn="l">
              <a:spcAft>
                <a:spcPts val="1800"/>
              </a:spcAft>
              <a:buSzPct val="100000"/>
              <a:buChar char="•"/>
            </a:pPr>
            <a:r>
              <a:rPr lang="en-US" sz="4000" dirty="0">
                <a:solidFill>
                  <a:srgbClr val="F2F2FA"/>
                </a:solidFill>
              </a:rPr>
              <a:t>SI could (I guess…)</a:t>
            </a:r>
            <a:endParaRPr lang="en-US" sz="4000" dirty="0"/>
          </a:p>
          <a:p>
            <a:pPr marL="228600" indent="-228600" algn="l">
              <a:spcAft>
                <a:spcPts val="1800"/>
              </a:spcAft>
              <a:buSzPct val="100000"/>
              <a:buChar char="•"/>
            </a:pPr>
            <a:r>
              <a:rPr lang="en-US" sz="4000" dirty="0">
                <a:solidFill>
                  <a:srgbClr val="F2F2FA"/>
                </a:solidFill>
              </a:rPr>
              <a:t>Why? How?</a:t>
            </a:r>
            <a:endParaRPr lang="en-US" sz="40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E2311D97-4E17-553B-E462-8C1C7146B2D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55680" y="63276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A99AE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368A04-95AF-966C-0009-053F7F370F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4239" y="1904999"/>
            <a:ext cx="5849776" cy="3190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2786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177EC-D281-62E1-D4D2-D9F0E3464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>
            <a:extLst>
              <a:ext uri="{FF2B5EF4-FFF2-40B4-BE49-F238E27FC236}">
                <a16:creationId xmlns:a16="http://schemas.microsoft.com/office/drawing/2014/main" id="{7E4A367B-E4B0-8983-08A7-B2D18B1CC481}"/>
              </a:ext>
            </a:extLst>
          </p:cNvPr>
          <p:cNvSpPr>
            <a:spLocks noGrp="1"/>
          </p:cNvSpPr>
          <p:nvPr>
            <p:ph type="title" idx="103" hasCustomPrompt="1"/>
          </p:nvPr>
        </p:nvSpPr>
        <p:spPr>
          <a:xfrm>
            <a:off x="731520" y="54864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The Future is Ours</a:t>
            </a:r>
            <a:endParaRPr lang="en-US" sz="3600" dirty="0"/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10DFC307-1CDA-7C06-C8C7-3590A35726B8}"/>
              </a:ext>
            </a:extLst>
          </p:cNvPr>
          <p:cNvSpPr>
            <a:spLocks noGrp="1"/>
          </p:cNvSpPr>
          <p:nvPr>
            <p:ph type="body" idx="104" hasCustomPrompt="1"/>
          </p:nvPr>
        </p:nvSpPr>
        <p:spPr>
          <a:xfrm>
            <a:off x="746760" y="1439593"/>
            <a:ext cx="1069848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spcAft>
                <a:spcPts val="1800"/>
              </a:spcAft>
              <a:buSzPct val="100000"/>
              <a:buChar char="•"/>
            </a:pPr>
            <a:r>
              <a:rPr lang="en-US" sz="2800" dirty="0">
                <a:solidFill>
                  <a:srgbClr val="F2F2FA"/>
                </a:solidFill>
              </a:rPr>
              <a:t>WE own the future</a:t>
            </a:r>
            <a:endParaRPr lang="en-US" sz="2800" dirty="0"/>
          </a:p>
          <a:p>
            <a:pPr marL="228600" indent="-228600" algn="l">
              <a:spcAft>
                <a:spcPts val="1800"/>
              </a:spcAft>
              <a:buSzPct val="100000"/>
              <a:buChar char="•"/>
            </a:pPr>
            <a:r>
              <a:rPr lang="en-US" sz="2800" dirty="0"/>
              <a:t>Pause, reflect</a:t>
            </a:r>
          </a:p>
          <a:p>
            <a:pPr marL="228600" indent="-228600" algn="l">
              <a:spcAft>
                <a:spcPts val="1800"/>
              </a:spcAft>
              <a:buSzPct val="100000"/>
              <a:buChar char="•"/>
            </a:pPr>
            <a:r>
              <a:rPr lang="en-US" sz="2800" dirty="0">
                <a:solidFill>
                  <a:srgbClr val="F2F2FA"/>
                </a:solidFill>
              </a:rPr>
              <a:t>Build</a:t>
            </a:r>
            <a:endParaRPr lang="en-US" sz="2800" dirty="0"/>
          </a:p>
          <a:p>
            <a:pPr marL="228600" indent="-228600" algn="l">
              <a:spcAft>
                <a:spcPts val="1800"/>
              </a:spcAft>
              <a:buSzPct val="100000"/>
              <a:buChar char="•"/>
            </a:pPr>
            <a:r>
              <a:rPr lang="en-US" sz="2800" dirty="0">
                <a:solidFill>
                  <a:srgbClr val="F2F2FA"/>
                </a:solidFill>
              </a:rPr>
              <a:t>Demand safety</a:t>
            </a:r>
          </a:p>
          <a:p>
            <a:pPr marL="228600" indent="-228600" algn="l">
              <a:spcAft>
                <a:spcPts val="1800"/>
              </a:spcAft>
              <a:buSzPct val="100000"/>
              <a:buChar char="•"/>
            </a:pPr>
            <a:r>
              <a:rPr lang="en-US" sz="2800" dirty="0"/>
              <a:t>Don’t like them build robots </a:t>
            </a:r>
            <a:br>
              <a:rPr lang="en-US" sz="2800" dirty="0"/>
            </a:br>
            <a:r>
              <a:rPr lang="en-US" sz="2800" dirty="0"/>
              <a:t>with red eyes</a:t>
            </a:r>
          </a:p>
          <a:p>
            <a:pPr marL="228600" indent="-228600" algn="l">
              <a:spcAft>
                <a:spcPts val="1800"/>
              </a:spcAft>
              <a:buSzPct val="100000"/>
              <a:buChar char="•"/>
            </a:pPr>
            <a:r>
              <a:rPr lang="en-US" sz="2800" dirty="0"/>
              <a:t>Choose to be better</a:t>
            </a:r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88C90FC4-CAA9-BA8D-D332-C0725E023AD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55680" y="63276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A99AE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3B8384-A1C3-DB2E-9B77-F226BF95C4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4007" y="1821883"/>
            <a:ext cx="5892761" cy="3214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2704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731520" y="292608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dirty="0"/>
              <a:t>Fear leads to anger.</a:t>
            </a:r>
            <a:br>
              <a:rPr lang="en-US" dirty="0"/>
            </a:br>
            <a:r>
              <a:rPr lang="en-US" dirty="0"/>
              <a:t>Anger leads to hate.</a:t>
            </a:r>
            <a:br>
              <a:rPr lang="en-US" dirty="0"/>
            </a:br>
            <a:r>
              <a:rPr lang="en-US" dirty="0"/>
              <a:t>Hate leads to suffering.</a:t>
            </a:r>
            <a:br>
              <a:rPr lang="en-US" dirty="0"/>
            </a:br>
            <a:r>
              <a:rPr lang="en-US" dirty="0"/>
              <a:t>                           -- Chris Perrin </a:t>
            </a:r>
            <a:r>
              <a:rPr lang="en-US" sz="2800" dirty="0"/>
              <a:t>(probably)</a:t>
            </a:r>
          </a:p>
        </p:txBody>
      </p:sp>
      <p:sp>
        <p:nvSpPr>
          <p:cNvPr id="3" name="Text 3"/>
          <p:cNvSpPr>
            <a:spLocks noGrp="1"/>
          </p:cNvSpPr>
          <p:nvPr>
            <p:ph type="body" idx="104" hasCustomPrompt="1"/>
          </p:nvPr>
        </p:nvSpPr>
        <p:spPr>
          <a:xfrm>
            <a:off x="731520" y="402336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600" dirty="0">
              <a:solidFill>
                <a:srgbClr val="A99AE8"/>
              </a:solidFill>
            </a:endParaRPr>
          </a:p>
          <a:p>
            <a:pPr marL="0" indent="0" algn="l">
              <a:buNone/>
            </a:pPr>
            <a:endParaRPr lang="en-US" dirty="0"/>
          </a:p>
          <a:p>
            <a:pPr marL="0" indent="0" algn="l">
              <a:buNone/>
            </a:pPr>
            <a:endParaRPr lang="en-US" sz="1600" dirty="0">
              <a:solidFill>
                <a:srgbClr val="A99AE8"/>
              </a:solidFill>
            </a:endParaRPr>
          </a:p>
          <a:p>
            <a:pPr marL="0" indent="0" algn="l">
              <a:buNone/>
            </a:pPr>
            <a:endParaRPr lang="en-US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A99AE8"/>
                </a:solidFill>
              </a:rPr>
              <a:t>Chris Perrin  |  Founder, Storm Software Group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A99AE8"/>
                </a:solidFill>
              </a:rPr>
              <a:t>https://stormsoftwaregroup.com/contacts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B8BA98-8CCB-5320-D77A-B01DCA92EC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8444" y="1554480"/>
            <a:ext cx="3299077" cy="324832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torm Software Group Dark">
  <a:themeElements>
    <a:clrScheme name="Storm Software Group Dark">
      <a:dk1>
        <a:srgbClr val="000000"/>
      </a:dk1>
      <a:lt1>
        <a:srgbClr val="FFFFFF"/>
      </a:lt1>
      <a:dk2>
        <a:srgbClr val="1C0A63"/>
      </a:dk2>
      <a:lt2>
        <a:srgbClr val="F2F2FA"/>
      </a:lt2>
      <a:accent1>
        <a:srgbClr val="381D92"/>
      </a:accent1>
      <a:accent2>
        <a:srgbClr val="1C0A63"/>
      </a:accent2>
      <a:accent3>
        <a:srgbClr val="A99AE8"/>
      </a:accent3>
      <a:accent4>
        <a:srgbClr val="6B4FD8"/>
      </a:accent4>
      <a:accent5>
        <a:srgbClr val="0B0620"/>
      </a:accent5>
      <a:accent6>
        <a:srgbClr val="F2F2FA"/>
      </a:accent6>
      <a:hlink>
        <a:srgbClr val="A99AE8"/>
      </a:hlink>
      <a:folHlink>
        <a:srgbClr val="6B4FD8"/>
      </a:folHlink>
    </a:clrScheme>
    <a:fontScheme name="Storm Software Group Dark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209</Words>
  <Application>Microsoft Office PowerPoint</Application>
  <PresentationFormat>Widescreen</PresentationFormat>
  <Paragraphs>48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Storm Software Group Dark</vt:lpstr>
      <vt:lpstr>Developers Don't Need Fear an Agentic Future</vt:lpstr>
      <vt:lpstr>Fear Sells</vt:lpstr>
      <vt:lpstr>Don’t Be Afraid For Your Job</vt:lpstr>
      <vt:lpstr>Don’t Be Afraid of Terminators</vt:lpstr>
      <vt:lpstr>The Future is Ours</vt:lpstr>
      <vt:lpstr>Fear leads to anger. Anger leads to hate. Hate leads to suffering.                            -- Chris Perrin (probably)</vt:lpstr>
    </vt:vector>
  </TitlesOfParts>
  <Company>Storm Software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Storm Software Group Template</dc:title>
  <dc:subject>Storm Software Group presentation template</dc:subject>
  <dc:creator>Chris Perrin</dc:creator>
  <cp:lastModifiedBy>Chris Perrin</cp:lastModifiedBy>
  <cp:revision>5</cp:revision>
  <dcterms:created xsi:type="dcterms:W3CDTF">2026-10-09T01:25:33Z</dcterms:created>
  <dcterms:modified xsi:type="dcterms:W3CDTF">2026-10-09T02:31:27Z</dcterms:modified>
</cp:coreProperties>
</file>